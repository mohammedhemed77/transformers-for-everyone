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95" r:id="rId5"/>
    <p:sldId id="259" r:id="rId6"/>
    <p:sldId id="261" r:id="rId7"/>
    <p:sldId id="263" r:id="rId8"/>
    <p:sldId id="299" r:id="rId9"/>
    <p:sldId id="287" r:id="rId10"/>
    <p:sldId id="285" r:id="rId11"/>
    <p:sldId id="294" r:id="rId12"/>
    <p:sldId id="276" r:id="rId13"/>
    <p:sldId id="286" r:id="rId14"/>
    <p:sldId id="315" r:id="rId15"/>
    <p:sldId id="262" r:id="rId16"/>
    <p:sldId id="264" r:id="rId17"/>
    <p:sldId id="265" r:id="rId18"/>
    <p:sldId id="266" r:id="rId19"/>
    <p:sldId id="275" r:id="rId20"/>
    <p:sldId id="267" r:id="rId21"/>
    <p:sldId id="268" r:id="rId22"/>
    <p:sldId id="274" r:id="rId23"/>
    <p:sldId id="269" r:id="rId24"/>
    <p:sldId id="303" r:id="rId25"/>
    <p:sldId id="304" r:id="rId26"/>
    <p:sldId id="305" r:id="rId27"/>
    <p:sldId id="306" r:id="rId28"/>
    <p:sldId id="270" r:id="rId29"/>
    <p:sldId id="297" r:id="rId30"/>
    <p:sldId id="298" r:id="rId31"/>
    <p:sldId id="278" r:id="rId32"/>
    <p:sldId id="271" r:id="rId33"/>
    <p:sldId id="272" r:id="rId34"/>
    <p:sldId id="273" r:id="rId35"/>
    <p:sldId id="277" r:id="rId36"/>
    <p:sldId id="279" r:id="rId37"/>
    <p:sldId id="301" r:id="rId38"/>
    <p:sldId id="280" r:id="rId39"/>
    <p:sldId id="281" r:id="rId40"/>
    <p:sldId id="282" r:id="rId41"/>
    <p:sldId id="283" r:id="rId42"/>
    <p:sldId id="284" r:id="rId43"/>
    <p:sldId id="288" r:id="rId44"/>
    <p:sldId id="307" r:id="rId45"/>
    <p:sldId id="289" r:id="rId46"/>
    <p:sldId id="296" r:id="rId47"/>
    <p:sldId id="292" r:id="rId48"/>
    <p:sldId id="300"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A66D85-6531-44AE-A385-71D2F143D1AD}" v="23" dt="2026-09-20T20:12:59.8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36" autoAdjust="0"/>
    <p:restoredTop sz="94660"/>
  </p:normalViewPr>
  <p:slideViewPr>
    <p:cSldViewPr snapToGrid="0">
      <p:cViewPr varScale="1">
        <p:scale>
          <a:sx n="78" d="100"/>
          <a:sy n="78" d="100"/>
        </p:scale>
        <p:origin x="73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sayed hemed" userId="e569cc8ba1648315" providerId="LiveId" clId="{96AEAB23-0FEE-4E59-AAC8-CD0724E46B8D}"/>
    <pc:docChg chg="undo custSel modSld">
      <pc:chgData name="mohammed sayed hemed" userId="e569cc8ba1648315" providerId="LiveId" clId="{96AEAB23-0FEE-4E59-AAC8-CD0724E46B8D}" dt="2026-09-20T20:19:16.286" v="2183" actId="20577"/>
      <pc:docMkLst>
        <pc:docMk/>
      </pc:docMkLst>
      <pc:sldChg chg="addSp delSp modSp mod setBg">
        <pc:chgData name="mohammed sayed hemed" userId="e569cc8ba1648315" providerId="LiveId" clId="{96AEAB23-0FEE-4E59-AAC8-CD0724E46B8D}" dt="2026-09-20T17:15:53.624" v="93" actId="20577"/>
        <pc:sldMkLst>
          <pc:docMk/>
          <pc:sldMk cId="387617001" sldId="257"/>
        </pc:sldMkLst>
        <pc:spChg chg="add del mod">
          <ac:chgData name="mohammed sayed hemed" userId="e569cc8ba1648315" providerId="LiveId" clId="{96AEAB23-0FEE-4E59-AAC8-CD0724E46B8D}" dt="2026-09-20T17:12:51.787" v="11" actId="26606"/>
          <ac:spMkLst>
            <pc:docMk/>
            <pc:sldMk cId="387617001" sldId="257"/>
            <ac:spMk id="2" creationId="{2392B52F-7BE9-DF92-6EE1-10DA970D9586}"/>
          </ac:spMkLst>
        </pc:spChg>
        <pc:spChg chg="del">
          <ac:chgData name="mohammed sayed hemed" userId="e569cc8ba1648315" providerId="LiveId" clId="{96AEAB23-0FEE-4E59-AAC8-CD0724E46B8D}" dt="2026-09-20T17:12:19.183" v="0" actId="931"/>
          <ac:spMkLst>
            <pc:docMk/>
            <pc:sldMk cId="387617001" sldId="257"/>
            <ac:spMk id="3" creationId="{9CE7EB27-9E26-8494-D42C-C49EFF7386F4}"/>
          </ac:spMkLst>
        </pc:spChg>
        <pc:spChg chg="add del">
          <ac:chgData name="mohammed sayed hemed" userId="e569cc8ba1648315" providerId="LiveId" clId="{96AEAB23-0FEE-4E59-AAC8-CD0724E46B8D}" dt="2026-09-20T17:12:44.552" v="6" actId="26606"/>
          <ac:spMkLst>
            <pc:docMk/>
            <pc:sldMk cId="387617001" sldId="257"/>
            <ac:spMk id="7" creationId="{3AFE8227-C443-417B-BA91-520EB1EF4559}"/>
          </ac:spMkLst>
        </pc:spChg>
        <pc:spChg chg="add del">
          <ac:chgData name="mohammed sayed hemed" userId="e569cc8ba1648315" providerId="LiveId" clId="{96AEAB23-0FEE-4E59-AAC8-CD0724E46B8D}" dt="2026-09-20T17:12:44.552" v="6" actId="26606"/>
          <ac:spMkLst>
            <pc:docMk/>
            <pc:sldMk cId="387617001" sldId="257"/>
            <ac:spMk id="8" creationId="{2392B52F-7BE9-DF92-6EE1-10DA970D9586}"/>
          </ac:spMkLst>
        </pc:spChg>
        <pc:spChg chg="add del">
          <ac:chgData name="mohammed sayed hemed" userId="e569cc8ba1648315" providerId="LiveId" clId="{96AEAB23-0FEE-4E59-AAC8-CD0724E46B8D}" dt="2026-09-20T17:12:33.586" v="2" actId="26606"/>
          <ac:spMkLst>
            <pc:docMk/>
            <pc:sldMk cId="387617001" sldId="257"/>
            <ac:spMk id="9" creationId="{692ECA37-F5CE-5CE9-3BFB-A08C549125FD}"/>
          </ac:spMkLst>
        </pc:spChg>
        <pc:spChg chg="add del">
          <ac:chgData name="mohammed sayed hemed" userId="e569cc8ba1648315" providerId="LiveId" clId="{96AEAB23-0FEE-4E59-AAC8-CD0724E46B8D}" dt="2026-09-20T17:12:44.552" v="6" actId="26606"/>
          <ac:spMkLst>
            <pc:docMk/>
            <pc:sldMk cId="387617001" sldId="257"/>
            <ac:spMk id="10" creationId="{692ECA37-F5CE-5CE9-3BFB-A08C549125FD}"/>
          </ac:spMkLst>
        </pc:spChg>
        <pc:spChg chg="add del">
          <ac:chgData name="mohammed sayed hemed" userId="e569cc8ba1648315" providerId="LiveId" clId="{96AEAB23-0FEE-4E59-AAC8-CD0724E46B8D}" dt="2026-09-20T17:12:44.552" v="6" actId="26606"/>
          <ac:spMkLst>
            <pc:docMk/>
            <pc:sldMk cId="387617001" sldId="257"/>
            <ac:spMk id="11" creationId="{907741FC-B544-4A6E-B831-6789D042333D}"/>
          </ac:spMkLst>
        </pc:spChg>
        <pc:spChg chg="add del">
          <ac:chgData name="mohammed sayed hemed" userId="e569cc8ba1648315" providerId="LiveId" clId="{96AEAB23-0FEE-4E59-AAC8-CD0724E46B8D}" dt="2026-09-20T17:12:33.586" v="2" actId="26606"/>
          <ac:spMkLst>
            <pc:docMk/>
            <pc:sldMk cId="387617001" sldId="257"/>
            <ac:spMk id="12" creationId="{3AFE8227-C443-417B-BA91-520EB1EF4559}"/>
          </ac:spMkLst>
        </pc:spChg>
        <pc:spChg chg="add del">
          <ac:chgData name="mohammed sayed hemed" userId="e569cc8ba1648315" providerId="LiveId" clId="{96AEAB23-0FEE-4E59-AAC8-CD0724E46B8D}" dt="2026-09-20T17:12:44.552" v="6" actId="26606"/>
          <ac:spMkLst>
            <pc:docMk/>
            <pc:sldMk cId="387617001" sldId="257"/>
            <ac:spMk id="13" creationId="{3F0BE7ED-7814-4273-B18A-F26CC0380380}"/>
          </ac:spMkLst>
        </pc:spChg>
        <pc:spChg chg="add del">
          <ac:chgData name="mohammed sayed hemed" userId="e569cc8ba1648315" providerId="LiveId" clId="{96AEAB23-0FEE-4E59-AAC8-CD0724E46B8D}" dt="2026-09-20T17:12:33.586" v="2" actId="26606"/>
          <ac:spMkLst>
            <pc:docMk/>
            <pc:sldMk cId="387617001" sldId="257"/>
            <ac:spMk id="14" creationId="{907741FC-B544-4A6E-B831-6789D042333D}"/>
          </ac:spMkLst>
        </pc:spChg>
        <pc:spChg chg="add del">
          <ac:chgData name="mohammed sayed hemed" userId="e569cc8ba1648315" providerId="LiveId" clId="{96AEAB23-0FEE-4E59-AAC8-CD0724E46B8D}" dt="2026-09-20T17:12:47.513" v="8" actId="26606"/>
          <ac:spMkLst>
            <pc:docMk/>
            <pc:sldMk cId="387617001" sldId="257"/>
            <ac:spMk id="15" creationId="{42A4FC2C-047E-45A5-965D-8E1E3BF09BC6}"/>
          </ac:spMkLst>
        </pc:spChg>
        <pc:spChg chg="add del">
          <ac:chgData name="mohammed sayed hemed" userId="e569cc8ba1648315" providerId="LiveId" clId="{96AEAB23-0FEE-4E59-AAC8-CD0724E46B8D}" dt="2026-09-20T17:12:33.586" v="2" actId="26606"/>
          <ac:spMkLst>
            <pc:docMk/>
            <pc:sldMk cId="387617001" sldId="257"/>
            <ac:spMk id="16" creationId="{3F0BE7ED-7814-4273-B18A-F26CC0380380}"/>
          </ac:spMkLst>
        </pc:spChg>
        <pc:spChg chg="add del">
          <ac:chgData name="mohammed sayed hemed" userId="e569cc8ba1648315" providerId="LiveId" clId="{96AEAB23-0FEE-4E59-AAC8-CD0724E46B8D}" dt="2026-09-20T17:15:49.697" v="90" actId="26606"/>
          <ac:spMkLst>
            <pc:docMk/>
            <pc:sldMk cId="387617001" sldId="257"/>
            <ac:spMk id="17" creationId="{327D73B4-9F5C-4A64-A179-51B9500CB8B5}"/>
          </ac:spMkLst>
        </pc:spChg>
        <pc:spChg chg="add del">
          <ac:chgData name="mohammed sayed hemed" userId="e569cc8ba1648315" providerId="LiveId" clId="{96AEAB23-0FEE-4E59-AAC8-CD0724E46B8D}" dt="2026-09-20T17:15:49.697" v="90" actId="26606"/>
          <ac:spMkLst>
            <pc:docMk/>
            <pc:sldMk cId="387617001" sldId="257"/>
            <ac:spMk id="18" creationId="{1453BF6C-B012-48B7-B4E8-6D7AC7C27D02}"/>
          </ac:spMkLst>
        </pc:spChg>
        <pc:spChg chg="add mod">
          <ac:chgData name="mohammed sayed hemed" userId="e569cc8ba1648315" providerId="LiveId" clId="{96AEAB23-0FEE-4E59-AAC8-CD0724E46B8D}" dt="2026-09-20T17:15:53.624" v="93" actId="20577"/>
          <ac:spMkLst>
            <pc:docMk/>
            <pc:sldMk cId="387617001" sldId="257"/>
            <ac:spMk id="19" creationId="{2392B52F-7BE9-DF92-6EE1-10DA970D9586}"/>
          </ac:spMkLst>
        </pc:spChg>
        <pc:spChg chg="add del">
          <ac:chgData name="mohammed sayed hemed" userId="e569cc8ba1648315" providerId="LiveId" clId="{96AEAB23-0FEE-4E59-AAC8-CD0724E46B8D}" dt="2026-09-20T17:15:49.697" v="90" actId="26606"/>
          <ac:spMkLst>
            <pc:docMk/>
            <pc:sldMk cId="387617001" sldId="257"/>
            <ac:spMk id="20" creationId="{E3020543-B24B-4EC4-8FFC-8DD88EEA91A8}"/>
          </ac:spMkLst>
        </pc:spChg>
        <pc:spChg chg="add del">
          <ac:chgData name="mohammed sayed hemed" userId="e569cc8ba1648315" providerId="LiveId" clId="{96AEAB23-0FEE-4E59-AAC8-CD0724E46B8D}" dt="2026-09-20T17:15:49.697" v="90" actId="26606"/>
          <ac:spMkLst>
            <pc:docMk/>
            <pc:sldMk cId="387617001" sldId="257"/>
            <ac:spMk id="21" creationId="{C1F06963-6374-4B48-844F-071A9BAAAE02}"/>
          </ac:spMkLst>
        </pc:spChg>
        <pc:spChg chg="add del">
          <ac:chgData name="mohammed sayed hemed" userId="e569cc8ba1648315" providerId="LiveId" clId="{96AEAB23-0FEE-4E59-AAC8-CD0724E46B8D}" dt="2026-09-20T17:15:49.697" v="90" actId="26606"/>
          <ac:spMkLst>
            <pc:docMk/>
            <pc:sldMk cId="387617001" sldId="257"/>
            <ac:spMk id="23" creationId="{6CB927A4-E432-4310-9CD5-E89FF5063179}"/>
          </ac:spMkLst>
        </pc:spChg>
        <pc:spChg chg="add del">
          <ac:chgData name="mohammed sayed hemed" userId="e569cc8ba1648315" providerId="LiveId" clId="{96AEAB23-0FEE-4E59-AAC8-CD0724E46B8D}" dt="2026-09-20T17:15:49.697" v="90" actId="26606"/>
          <ac:spMkLst>
            <pc:docMk/>
            <pc:sldMk cId="387617001" sldId="257"/>
            <ac:spMk id="24" creationId="{169B93C1-1DD2-7833-D14F-ABDDEFEAE6B3}"/>
          </ac:spMkLst>
        </pc:spChg>
        <pc:spChg chg="add">
          <ac:chgData name="mohammed sayed hemed" userId="e569cc8ba1648315" providerId="LiveId" clId="{96AEAB23-0FEE-4E59-AAC8-CD0724E46B8D}" dt="2026-09-20T17:15:49.697" v="90" actId="26606"/>
          <ac:spMkLst>
            <pc:docMk/>
            <pc:sldMk cId="387617001" sldId="257"/>
            <ac:spMk id="29" creationId="{665DBBEF-238B-476B-96AB-8AAC3224ECEA}"/>
          </ac:spMkLst>
        </pc:spChg>
        <pc:spChg chg="add">
          <ac:chgData name="mohammed sayed hemed" userId="e569cc8ba1648315" providerId="LiveId" clId="{96AEAB23-0FEE-4E59-AAC8-CD0724E46B8D}" dt="2026-09-20T17:15:49.697" v="90" actId="26606"/>
          <ac:spMkLst>
            <pc:docMk/>
            <pc:sldMk cId="387617001" sldId="257"/>
            <ac:spMk id="31" creationId="{3FCFB1DE-0B7E-48CC-BA90-B2AB0889F9D6}"/>
          </ac:spMkLst>
        </pc:spChg>
        <pc:picChg chg="add mod ord">
          <ac:chgData name="mohammed sayed hemed" userId="e569cc8ba1648315" providerId="LiveId" clId="{96AEAB23-0FEE-4E59-AAC8-CD0724E46B8D}" dt="2026-09-20T17:15:49.697" v="90" actId="26606"/>
          <ac:picMkLst>
            <pc:docMk/>
            <pc:sldMk cId="387617001" sldId="257"/>
            <ac:picMk id="5" creationId="{F545286A-C183-651F-98DB-603279202057}"/>
          </ac:picMkLst>
        </pc:picChg>
        <pc:cxnChg chg="add">
          <ac:chgData name="mohammed sayed hemed" userId="e569cc8ba1648315" providerId="LiveId" clId="{96AEAB23-0FEE-4E59-AAC8-CD0724E46B8D}" dt="2026-09-20T17:12:51.787" v="11" actId="26606"/>
          <ac:cxnSpMkLst>
            <pc:docMk/>
            <pc:sldMk cId="387617001" sldId="257"/>
            <ac:cxnSpMk id="22" creationId="{C49DA8F6-BCC1-4447-B54C-57856834B94B}"/>
          </ac:cxnSpMkLst>
        </pc:cxnChg>
      </pc:sldChg>
      <pc:sldChg chg="addSp modSp mod setBg">
        <pc:chgData name="mohammed sayed hemed" userId="e569cc8ba1648315" providerId="LiveId" clId="{96AEAB23-0FEE-4E59-AAC8-CD0724E46B8D}" dt="2026-09-20T17:27:11.302" v="721" actId="255"/>
        <pc:sldMkLst>
          <pc:docMk/>
          <pc:sldMk cId="3192008668" sldId="258"/>
        </pc:sldMkLst>
        <pc:spChg chg="mod">
          <ac:chgData name="mohammed sayed hemed" userId="e569cc8ba1648315" providerId="LiveId" clId="{96AEAB23-0FEE-4E59-AAC8-CD0724E46B8D}" dt="2026-09-20T17:18:52.424" v="387" actId="26606"/>
          <ac:spMkLst>
            <pc:docMk/>
            <pc:sldMk cId="3192008668" sldId="258"/>
            <ac:spMk id="2" creationId="{50B8BD61-09A0-D83C-7807-A2083804FE68}"/>
          </ac:spMkLst>
        </pc:spChg>
        <pc:spChg chg="mod">
          <ac:chgData name="mohammed sayed hemed" userId="e569cc8ba1648315" providerId="LiveId" clId="{96AEAB23-0FEE-4E59-AAC8-CD0724E46B8D}" dt="2026-09-20T17:27:11.302" v="721" actId="255"/>
          <ac:spMkLst>
            <pc:docMk/>
            <pc:sldMk cId="3192008668" sldId="258"/>
            <ac:spMk id="3" creationId="{9D9858BF-B1E9-3063-957D-E0EDFC522C05}"/>
          </ac:spMkLst>
        </pc:spChg>
        <pc:spChg chg="add">
          <ac:chgData name="mohammed sayed hemed" userId="e569cc8ba1648315" providerId="LiveId" clId="{96AEAB23-0FEE-4E59-AAC8-CD0724E46B8D}" dt="2026-09-20T17:18:52.424" v="387" actId="26606"/>
          <ac:spMkLst>
            <pc:docMk/>
            <pc:sldMk cId="3192008668" sldId="258"/>
            <ac:spMk id="8" creationId="{327D73B4-9F5C-4A64-A179-51B9500CB8B5}"/>
          </ac:spMkLst>
        </pc:spChg>
        <pc:spChg chg="add">
          <ac:chgData name="mohammed sayed hemed" userId="e569cc8ba1648315" providerId="LiveId" clId="{96AEAB23-0FEE-4E59-AAC8-CD0724E46B8D}" dt="2026-09-20T17:18:52.424" v="387" actId="26606"/>
          <ac:spMkLst>
            <pc:docMk/>
            <pc:sldMk cId="3192008668" sldId="258"/>
            <ac:spMk id="10" creationId="{C1F06963-6374-4B48-844F-071A9BAAAE02}"/>
          </ac:spMkLst>
        </pc:spChg>
        <pc:spChg chg="add">
          <ac:chgData name="mohammed sayed hemed" userId="e569cc8ba1648315" providerId="LiveId" clId="{96AEAB23-0FEE-4E59-AAC8-CD0724E46B8D}" dt="2026-09-20T17:18:52.424" v="387" actId="26606"/>
          <ac:spMkLst>
            <pc:docMk/>
            <pc:sldMk cId="3192008668" sldId="258"/>
            <ac:spMk id="12" creationId="{6CB927A4-E432-4310-9CD5-E89FF5063179}"/>
          </ac:spMkLst>
        </pc:spChg>
        <pc:spChg chg="add">
          <ac:chgData name="mohammed sayed hemed" userId="e569cc8ba1648315" providerId="LiveId" clId="{96AEAB23-0FEE-4E59-AAC8-CD0724E46B8D}" dt="2026-09-20T17:18:52.424" v="387" actId="26606"/>
          <ac:spMkLst>
            <pc:docMk/>
            <pc:sldMk cId="3192008668" sldId="258"/>
            <ac:spMk id="14" creationId="{1453BF6C-B012-48B7-B4E8-6D7AC7C27D02}"/>
          </ac:spMkLst>
        </pc:spChg>
        <pc:spChg chg="add">
          <ac:chgData name="mohammed sayed hemed" userId="e569cc8ba1648315" providerId="LiveId" clId="{96AEAB23-0FEE-4E59-AAC8-CD0724E46B8D}" dt="2026-09-20T17:18:52.424" v="387" actId="26606"/>
          <ac:spMkLst>
            <pc:docMk/>
            <pc:sldMk cId="3192008668" sldId="258"/>
            <ac:spMk id="16" creationId="{E3020543-B24B-4EC4-8FFC-8DD88EEA91A8}"/>
          </ac:spMkLst>
        </pc:spChg>
        <pc:cxnChg chg="add">
          <ac:chgData name="mohammed sayed hemed" userId="e569cc8ba1648315" providerId="LiveId" clId="{96AEAB23-0FEE-4E59-AAC8-CD0724E46B8D}" dt="2026-09-20T17:18:52.424" v="387" actId="26606"/>
          <ac:cxnSpMkLst>
            <pc:docMk/>
            <pc:sldMk cId="3192008668" sldId="258"/>
            <ac:cxnSpMk id="18" creationId="{C49DA8F6-BCC1-4447-B54C-57856834B94B}"/>
          </ac:cxnSpMkLst>
        </pc:cxnChg>
      </pc:sldChg>
      <pc:sldChg chg="addSp modSp mod setBg">
        <pc:chgData name="mohammed sayed hemed" userId="e569cc8ba1648315" providerId="LiveId" clId="{96AEAB23-0FEE-4E59-AAC8-CD0724E46B8D}" dt="2026-09-20T17:27:23.105" v="722" actId="255"/>
        <pc:sldMkLst>
          <pc:docMk/>
          <pc:sldMk cId="926394634" sldId="259"/>
        </pc:sldMkLst>
        <pc:spChg chg="mod">
          <ac:chgData name="mohammed sayed hemed" userId="e569cc8ba1648315" providerId="LiveId" clId="{96AEAB23-0FEE-4E59-AAC8-CD0724E46B8D}" dt="2026-09-20T17:23:48.983" v="538" actId="20577"/>
          <ac:spMkLst>
            <pc:docMk/>
            <pc:sldMk cId="926394634" sldId="259"/>
            <ac:spMk id="2" creationId="{0F5AA2BC-C855-8F26-7AD2-8AF3B64CF079}"/>
          </ac:spMkLst>
        </pc:spChg>
        <pc:spChg chg="mod">
          <ac:chgData name="mohammed sayed hemed" userId="e569cc8ba1648315" providerId="LiveId" clId="{96AEAB23-0FEE-4E59-AAC8-CD0724E46B8D}" dt="2026-09-20T17:27:23.105" v="722" actId="255"/>
          <ac:spMkLst>
            <pc:docMk/>
            <pc:sldMk cId="926394634" sldId="259"/>
            <ac:spMk id="3" creationId="{7CDC596B-25A6-B60A-F888-392BFDC22C14}"/>
          </ac:spMkLst>
        </pc:spChg>
        <pc:spChg chg="add">
          <ac:chgData name="mohammed sayed hemed" userId="e569cc8ba1648315" providerId="LiveId" clId="{96AEAB23-0FEE-4E59-AAC8-CD0724E46B8D}" dt="2026-09-20T17:22:12.982" v="525" actId="26606"/>
          <ac:spMkLst>
            <pc:docMk/>
            <pc:sldMk cId="926394634" sldId="259"/>
            <ac:spMk id="8" creationId="{327D73B4-9F5C-4A64-A179-51B9500CB8B5}"/>
          </ac:spMkLst>
        </pc:spChg>
        <pc:spChg chg="add">
          <ac:chgData name="mohammed sayed hemed" userId="e569cc8ba1648315" providerId="LiveId" clId="{96AEAB23-0FEE-4E59-AAC8-CD0724E46B8D}" dt="2026-09-20T17:22:12.982" v="525" actId="26606"/>
          <ac:spMkLst>
            <pc:docMk/>
            <pc:sldMk cId="926394634" sldId="259"/>
            <ac:spMk id="10" creationId="{C1F06963-6374-4B48-844F-071A9BAAAE02}"/>
          </ac:spMkLst>
        </pc:spChg>
        <pc:spChg chg="add">
          <ac:chgData name="mohammed sayed hemed" userId="e569cc8ba1648315" providerId="LiveId" clId="{96AEAB23-0FEE-4E59-AAC8-CD0724E46B8D}" dt="2026-09-20T17:22:12.982" v="525" actId="26606"/>
          <ac:spMkLst>
            <pc:docMk/>
            <pc:sldMk cId="926394634" sldId="259"/>
            <ac:spMk id="12" creationId="{6CB927A4-E432-4310-9CD5-E89FF5063179}"/>
          </ac:spMkLst>
        </pc:spChg>
        <pc:spChg chg="add">
          <ac:chgData name="mohammed sayed hemed" userId="e569cc8ba1648315" providerId="LiveId" clId="{96AEAB23-0FEE-4E59-AAC8-CD0724E46B8D}" dt="2026-09-20T17:22:12.982" v="525" actId="26606"/>
          <ac:spMkLst>
            <pc:docMk/>
            <pc:sldMk cId="926394634" sldId="259"/>
            <ac:spMk id="14" creationId="{1453BF6C-B012-48B7-B4E8-6D7AC7C27D02}"/>
          </ac:spMkLst>
        </pc:spChg>
        <pc:spChg chg="add">
          <ac:chgData name="mohammed sayed hemed" userId="e569cc8ba1648315" providerId="LiveId" clId="{96AEAB23-0FEE-4E59-AAC8-CD0724E46B8D}" dt="2026-09-20T17:22:12.982" v="525" actId="26606"/>
          <ac:spMkLst>
            <pc:docMk/>
            <pc:sldMk cId="926394634" sldId="259"/>
            <ac:spMk id="16" creationId="{E3020543-B24B-4EC4-8FFC-8DD88EEA91A8}"/>
          </ac:spMkLst>
        </pc:spChg>
        <pc:cxnChg chg="add">
          <ac:chgData name="mohammed sayed hemed" userId="e569cc8ba1648315" providerId="LiveId" clId="{96AEAB23-0FEE-4E59-AAC8-CD0724E46B8D}" dt="2026-09-20T17:22:12.982" v="525" actId="26606"/>
          <ac:cxnSpMkLst>
            <pc:docMk/>
            <pc:sldMk cId="926394634" sldId="259"/>
            <ac:cxnSpMk id="18" creationId="{C49DA8F6-BCC1-4447-B54C-57856834B94B}"/>
          </ac:cxnSpMkLst>
        </pc:cxnChg>
      </pc:sldChg>
      <pc:sldChg chg="modSp mod">
        <pc:chgData name="mohammed sayed hemed" userId="e569cc8ba1648315" providerId="LiveId" clId="{96AEAB23-0FEE-4E59-AAC8-CD0724E46B8D}" dt="2026-09-20T17:26:46.781" v="719" actId="20577"/>
        <pc:sldMkLst>
          <pc:docMk/>
          <pc:sldMk cId="3748884284" sldId="260"/>
        </pc:sldMkLst>
        <pc:spChg chg="mod">
          <ac:chgData name="mohammed sayed hemed" userId="e569cc8ba1648315" providerId="LiveId" clId="{96AEAB23-0FEE-4E59-AAC8-CD0724E46B8D}" dt="2026-09-20T17:26:12.584" v="701" actId="20577"/>
          <ac:spMkLst>
            <pc:docMk/>
            <pc:sldMk cId="3748884284" sldId="260"/>
            <ac:spMk id="2" creationId="{9ACF8E38-447B-BCC7-8AC4-7AAF48CD1F90}"/>
          </ac:spMkLst>
        </pc:spChg>
        <pc:spChg chg="mod">
          <ac:chgData name="mohammed sayed hemed" userId="e569cc8ba1648315" providerId="LiveId" clId="{96AEAB23-0FEE-4E59-AAC8-CD0724E46B8D}" dt="2026-09-20T17:26:46.781" v="719" actId="20577"/>
          <ac:spMkLst>
            <pc:docMk/>
            <pc:sldMk cId="3748884284" sldId="260"/>
            <ac:spMk id="3" creationId="{35258443-B863-362F-9139-F611E3673386}"/>
          </ac:spMkLst>
        </pc:spChg>
      </pc:sldChg>
      <pc:sldChg chg="modSp mod">
        <pc:chgData name="mohammed sayed hemed" userId="e569cc8ba1648315" providerId="LiveId" clId="{96AEAB23-0FEE-4E59-AAC8-CD0724E46B8D}" dt="2026-09-20T19:37:30.983" v="1362" actId="20577"/>
        <pc:sldMkLst>
          <pc:docMk/>
          <pc:sldMk cId="2857310706" sldId="261"/>
        </pc:sldMkLst>
        <pc:spChg chg="mod">
          <ac:chgData name="mohammed sayed hemed" userId="e569cc8ba1648315" providerId="LiveId" clId="{96AEAB23-0FEE-4E59-AAC8-CD0724E46B8D}" dt="2026-09-20T19:32:27.818" v="783" actId="20577"/>
          <ac:spMkLst>
            <pc:docMk/>
            <pc:sldMk cId="2857310706" sldId="261"/>
            <ac:spMk id="2" creationId="{938D0F97-A16D-E35F-CDFF-04A3C8642D6C}"/>
          </ac:spMkLst>
        </pc:spChg>
        <pc:spChg chg="mod">
          <ac:chgData name="mohammed sayed hemed" userId="e569cc8ba1648315" providerId="LiveId" clId="{96AEAB23-0FEE-4E59-AAC8-CD0724E46B8D}" dt="2026-09-20T19:37:30.983" v="1362" actId="20577"/>
          <ac:spMkLst>
            <pc:docMk/>
            <pc:sldMk cId="2857310706" sldId="261"/>
            <ac:spMk id="3" creationId="{3C15DC65-61E6-AAC5-6E61-8A58E8AA8662}"/>
          </ac:spMkLst>
        </pc:spChg>
      </pc:sldChg>
      <pc:sldChg chg="modSp mod">
        <pc:chgData name="mohammed sayed hemed" userId="e569cc8ba1648315" providerId="LiveId" clId="{96AEAB23-0FEE-4E59-AAC8-CD0724E46B8D}" dt="2026-09-20T19:44:58.752" v="1365" actId="20577"/>
        <pc:sldMkLst>
          <pc:docMk/>
          <pc:sldMk cId="1837145612" sldId="262"/>
        </pc:sldMkLst>
        <pc:spChg chg="mod">
          <ac:chgData name="mohammed sayed hemed" userId="e569cc8ba1648315" providerId="LiveId" clId="{96AEAB23-0FEE-4E59-AAC8-CD0724E46B8D}" dt="2026-09-20T19:42:17.352" v="1363"/>
          <ac:spMkLst>
            <pc:docMk/>
            <pc:sldMk cId="1837145612" sldId="262"/>
            <ac:spMk id="2" creationId="{BEB8C678-B1C3-9279-870F-4D4B9BFDE722}"/>
          </ac:spMkLst>
        </pc:spChg>
        <pc:spChg chg="mod">
          <ac:chgData name="mohammed sayed hemed" userId="e569cc8ba1648315" providerId="LiveId" clId="{96AEAB23-0FEE-4E59-AAC8-CD0724E46B8D}" dt="2026-09-20T19:44:58.752" v="1365" actId="20577"/>
          <ac:spMkLst>
            <pc:docMk/>
            <pc:sldMk cId="1837145612" sldId="262"/>
            <ac:spMk id="3" creationId="{7103A98D-A0F5-17EC-0D36-65B143403B77}"/>
          </ac:spMkLst>
        </pc:spChg>
      </pc:sldChg>
      <pc:sldChg chg="addSp delSp modSp mod setBg">
        <pc:chgData name="mohammed sayed hemed" userId="e569cc8ba1648315" providerId="LiveId" clId="{96AEAB23-0FEE-4E59-AAC8-CD0724E46B8D}" dt="2026-09-20T19:51:36.473" v="1440" actId="26606"/>
        <pc:sldMkLst>
          <pc:docMk/>
          <pc:sldMk cId="2160586625" sldId="263"/>
        </pc:sldMkLst>
        <pc:spChg chg="mod ord">
          <ac:chgData name="mohammed sayed hemed" userId="e569cc8ba1648315" providerId="LiveId" clId="{96AEAB23-0FEE-4E59-AAC8-CD0724E46B8D}" dt="2026-09-20T19:51:36.473" v="1440" actId="26606"/>
          <ac:spMkLst>
            <pc:docMk/>
            <pc:sldMk cId="2160586625" sldId="263"/>
            <ac:spMk id="2" creationId="{DF60163A-B4D1-AE39-34A1-4713963D4CCB}"/>
          </ac:spMkLst>
        </pc:spChg>
        <pc:spChg chg="del">
          <ac:chgData name="mohammed sayed hemed" userId="e569cc8ba1648315" providerId="LiveId" clId="{96AEAB23-0FEE-4E59-AAC8-CD0724E46B8D}" dt="2026-09-20T19:50:50.715" v="1432" actId="931"/>
          <ac:spMkLst>
            <pc:docMk/>
            <pc:sldMk cId="2160586625" sldId="263"/>
            <ac:spMk id="3" creationId="{62A76265-02B3-D854-E8BD-FA10E0B76EC7}"/>
          </ac:spMkLst>
        </pc:spChg>
        <pc:spChg chg="add del">
          <ac:chgData name="mohammed sayed hemed" userId="e569cc8ba1648315" providerId="LiveId" clId="{96AEAB23-0FEE-4E59-AAC8-CD0724E46B8D}" dt="2026-09-20T19:51:36.473" v="1440" actId="26606"/>
          <ac:spMkLst>
            <pc:docMk/>
            <pc:sldMk cId="2160586625" sldId="263"/>
            <ac:spMk id="9" creationId="{A92E3948-9FCC-D2C4-A72A-6B11394EF3C3}"/>
          </ac:spMkLst>
        </pc:spChg>
        <pc:spChg chg="add del">
          <ac:chgData name="mohammed sayed hemed" userId="e569cc8ba1648315" providerId="LiveId" clId="{96AEAB23-0FEE-4E59-AAC8-CD0724E46B8D}" dt="2026-09-20T19:51:01.691" v="1434" actId="26606"/>
          <ac:spMkLst>
            <pc:docMk/>
            <pc:sldMk cId="2160586625" sldId="263"/>
            <ac:spMk id="10" creationId="{37C89E4B-3C9F-44B9-8B86-D9E3D112D8EC}"/>
          </ac:spMkLst>
        </pc:spChg>
        <pc:spChg chg="add del">
          <ac:chgData name="mohammed sayed hemed" userId="e569cc8ba1648315" providerId="LiveId" clId="{96AEAB23-0FEE-4E59-AAC8-CD0724E46B8D}" dt="2026-09-20T19:51:21.019" v="1436" actId="26606"/>
          <ac:spMkLst>
            <pc:docMk/>
            <pc:sldMk cId="2160586625" sldId="263"/>
            <ac:spMk id="16" creationId="{7B1AB9FE-36F5-4FD1-9850-DB5C5AD4828F}"/>
          </ac:spMkLst>
        </pc:spChg>
        <pc:spChg chg="add del">
          <ac:chgData name="mohammed sayed hemed" userId="e569cc8ba1648315" providerId="LiveId" clId="{96AEAB23-0FEE-4E59-AAC8-CD0724E46B8D}" dt="2026-09-20T19:51:21.019" v="1436" actId="26606"/>
          <ac:spMkLst>
            <pc:docMk/>
            <pc:sldMk cId="2160586625" sldId="263"/>
            <ac:spMk id="17" creationId="{F489C2E0-4895-4B72-85EA-7EE9FAFFDC7E}"/>
          </ac:spMkLst>
        </pc:spChg>
        <pc:spChg chg="add del">
          <ac:chgData name="mohammed sayed hemed" userId="e569cc8ba1648315" providerId="LiveId" clId="{96AEAB23-0FEE-4E59-AAC8-CD0724E46B8D}" dt="2026-09-20T19:51:36.473" v="1440" actId="26606"/>
          <ac:spMkLst>
            <pc:docMk/>
            <pc:sldMk cId="2160586625" sldId="263"/>
            <ac:spMk id="19" creationId="{F13C74B1-5B17-4795-BED0-7140497B445A}"/>
          </ac:spMkLst>
        </pc:spChg>
        <pc:spChg chg="add del">
          <ac:chgData name="mohammed sayed hemed" userId="e569cc8ba1648315" providerId="LiveId" clId="{96AEAB23-0FEE-4E59-AAC8-CD0724E46B8D}" dt="2026-09-20T19:51:36.473" v="1440" actId="26606"/>
          <ac:spMkLst>
            <pc:docMk/>
            <pc:sldMk cId="2160586625" sldId="263"/>
            <ac:spMk id="20" creationId="{D4974D33-8DC5-464E-8C6D-BE58F0669C17}"/>
          </ac:spMkLst>
        </pc:spChg>
        <pc:picChg chg="add del mod ord">
          <ac:chgData name="mohammed sayed hemed" userId="e569cc8ba1648315" providerId="LiveId" clId="{96AEAB23-0FEE-4E59-AAC8-CD0724E46B8D}" dt="2026-09-20T19:51:36.473" v="1440" actId="26606"/>
          <ac:picMkLst>
            <pc:docMk/>
            <pc:sldMk cId="2160586625" sldId="263"/>
            <ac:picMk id="5" creationId="{08C380EB-A580-384B-A4A7-B28E007CF117}"/>
          </ac:picMkLst>
        </pc:picChg>
        <pc:cxnChg chg="add del">
          <ac:chgData name="mohammed sayed hemed" userId="e569cc8ba1648315" providerId="LiveId" clId="{96AEAB23-0FEE-4E59-AAC8-CD0724E46B8D}" dt="2026-09-20T19:51:01.691" v="1434" actId="26606"/>
          <ac:cxnSpMkLst>
            <pc:docMk/>
            <pc:sldMk cId="2160586625" sldId="263"/>
            <ac:cxnSpMk id="12" creationId="{AA2EAA10-076F-46BD-8F0F-B9A2FB77A85C}"/>
          </ac:cxnSpMkLst>
        </pc:cxnChg>
        <pc:cxnChg chg="add del">
          <ac:chgData name="mohammed sayed hemed" userId="e569cc8ba1648315" providerId="LiveId" clId="{96AEAB23-0FEE-4E59-AAC8-CD0724E46B8D}" dt="2026-09-20T19:51:01.691" v="1434" actId="26606"/>
          <ac:cxnSpMkLst>
            <pc:docMk/>
            <pc:sldMk cId="2160586625" sldId="263"/>
            <ac:cxnSpMk id="14" creationId="{D891E407-403B-4764-86C9-33A56D3BCAA3}"/>
          </ac:cxnSpMkLst>
        </pc:cxnChg>
      </pc:sldChg>
      <pc:sldChg chg="addSp delSp modSp mod">
        <pc:chgData name="mohammed sayed hemed" userId="e569cc8ba1648315" providerId="LiveId" clId="{96AEAB23-0FEE-4E59-AAC8-CD0724E46B8D}" dt="2026-09-20T19:56:27.670" v="1472" actId="14100"/>
        <pc:sldMkLst>
          <pc:docMk/>
          <pc:sldMk cId="2774803192" sldId="264"/>
        </pc:sldMkLst>
        <pc:spChg chg="mod">
          <ac:chgData name="mohammed sayed hemed" userId="e569cc8ba1648315" providerId="LiveId" clId="{96AEAB23-0FEE-4E59-AAC8-CD0724E46B8D}" dt="2026-09-20T19:55:17.240" v="1463" actId="14100"/>
          <ac:spMkLst>
            <pc:docMk/>
            <pc:sldMk cId="2774803192" sldId="264"/>
            <ac:spMk id="2" creationId="{98C45C48-C610-6CB4-761D-2A46880F2CC8}"/>
          </ac:spMkLst>
        </pc:spChg>
        <pc:spChg chg="del mod">
          <ac:chgData name="mohammed sayed hemed" userId="e569cc8ba1648315" providerId="LiveId" clId="{96AEAB23-0FEE-4E59-AAC8-CD0724E46B8D}" dt="2026-09-20T19:53:37.394" v="1448" actId="22"/>
          <ac:spMkLst>
            <pc:docMk/>
            <pc:sldMk cId="2774803192" sldId="264"/>
            <ac:spMk id="3" creationId="{F8D0AB6A-FA31-C60C-9CC3-26096A9B9430}"/>
          </ac:spMkLst>
        </pc:spChg>
        <pc:spChg chg="add del mod">
          <ac:chgData name="mohammed sayed hemed" userId="e569cc8ba1648315" providerId="LiveId" clId="{96AEAB23-0FEE-4E59-AAC8-CD0724E46B8D}" dt="2026-09-20T19:54:49.698" v="1453"/>
          <ac:spMkLst>
            <pc:docMk/>
            <pc:sldMk cId="2774803192" sldId="264"/>
            <ac:spMk id="6" creationId="{ADAC77F6-0FA5-9CB4-A3D4-286F5AE4EB75}"/>
          </ac:spMkLst>
        </pc:spChg>
        <pc:spChg chg="add del mod">
          <ac:chgData name="mohammed sayed hemed" userId="e569cc8ba1648315" providerId="LiveId" clId="{96AEAB23-0FEE-4E59-AAC8-CD0724E46B8D}" dt="2026-09-20T19:54:50.477" v="1456"/>
          <ac:spMkLst>
            <pc:docMk/>
            <pc:sldMk cId="2774803192" sldId="264"/>
            <ac:spMk id="7" creationId="{A5C19829-89F6-7268-6D38-DBD5D2FAD200}"/>
          </ac:spMkLst>
        </pc:spChg>
        <pc:spChg chg="add del mod">
          <ac:chgData name="mohammed sayed hemed" userId="e569cc8ba1648315" providerId="LiveId" clId="{96AEAB23-0FEE-4E59-AAC8-CD0724E46B8D}" dt="2026-09-20T19:54:51.129" v="1459"/>
          <ac:spMkLst>
            <pc:docMk/>
            <pc:sldMk cId="2774803192" sldId="264"/>
            <ac:spMk id="8" creationId="{DC6C5868-595B-79EE-B862-573F17A773A9}"/>
          </ac:spMkLst>
        </pc:spChg>
        <pc:spChg chg="add mod">
          <ac:chgData name="mohammed sayed hemed" userId="e569cc8ba1648315" providerId="LiveId" clId="{96AEAB23-0FEE-4E59-AAC8-CD0724E46B8D}" dt="2026-09-20T19:55:38.091" v="1468"/>
          <ac:spMkLst>
            <pc:docMk/>
            <pc:sldMk cId="2774803192" sldId="264"/>
            <ac:spMk id="9" creationId="{FA2F7ABE-1122-1E1F-7E0A-E5C0FF5BB42E}"/>
          </ac:spMkLst>
        </pc:spChg>
        <pc:picChg chg="add mod ord">
          <ac:chgData name="mohammed sayed hemed" userId="e569cc8ba1648315" providerId="LiveId" clId="{96AEAB23-0FEE-4E59-AAC8-CD0724E46B8D}" dt="2026-09-20T19:56:27.670" v="1472" actId="14100"/>
          <ac:picMkLst>
            <pc:docMk/>
            <pc:sldMk cId="2774803192" sldId="264"/>
            <ac:picMk id="5" creationId="{E81B0452-A9E6-EB8F-BD68-1095C7BB8063}"/>
          </ac:picMkLst>
        </pc:picChg>
      </pc:sldChg>
      <pc:sldChg chg="modSp mod">
        <pc:chgData name="mohammed sayed hemed" userId="e569cc8ba1648315" providerId="LiveId" clId="{96AEAB23-0FEE-4E59-AAC8-CD0724E46B8D}" dt="2026-09-20T19:59:03.576" v="1536" actId="20577"/>
        <pc:sldMkLst>
          <pc:docMk/>
          <pc:sldMk cId="2930016294" sldId="265"/>
        </pc:sldMkLst>
        <pc:spChg chg="mod">
          <ac:chgData name="mohammed sayed hemed" userId="e569cc8ba1648315" providerId="LiveId" clId="{96AEAB23-0FEE-4E59-AAC8-CD0724E46B8D}" dt="2026-09-20T19:59:03.576" v="1536" actId="20577"/>
          <ac:spMkLst>
            <pc:docMk/>
            <pc:sldMk cId="2930016294" sldId="265"/>
            <ac:spMk id="2" creationId="{4401981F-1C7A-7BD6-1E74-5BC786BD876F}"/>
          </ac:spMkLst>
        </pc:spChg>
        <pc:spChg chg="mod">
          <ac:chgData name="mohammed sayed hemed" userId="e569cc8ba1648315" providerId="LiveId" clId="{96AEAB23-0FEE-4E59-AAC8-CD0724E46B8D}" dt="2026-09-20T19:58:14.196" v="1527" actId="20577"/>
          <ac:spMkLst>
            <pc:docMk/>
            <pc:sldMk cId="2930016294" sldId="265"/>
            <ac:spMk id="3" creationId="{2E1CE2F2-ADE0-E423-0C37-9BA0E971018A}"/>
          </ac:spMkLst>
        </pc:spChg>
      </pc:sldChg>
      <pc:sldChg chg="modSp mod">
        <pc:chgData name="mohammed sayed hemed" userId="e569cc8ba1648315" providerId="LiveId" clId="{96AEAB23-0FEE-4E59-AAC8-CD0724E46B8D}" dt="2026-09-20T20:10:46.099" v="2154" actId="20577"/>
        <pc:sldMkLst>
          <pc:docMk/>
          <pc:sldMk cId="3932023246" sldId="266"/>
        </pc:sldMkLst>
        <pc:spChg chg="mod">
          <ac:chgData name="mohammed sayed hemed" userId="e569cc8ba1648315" providerId="LiveId" clId="{96AEAB23-0FEE-4E59-AAC8-CD0724E46B8D}" dt="2026-09-20T20:10:41.450" v="2153" actId="122"/>
          <ac:spMkLst>
            <pc:docMk/>
            <pc:sldMk cId="3932023246" sldId="266"/>
            <ac:spMk id="2" creationId="{E8542250-6DF7-4D83-F628-F8E89E9464D9}"/>
          </ac:spMkLst>
        </pc:spChg>
        <pc:spChg chg="mod">
          <ac:chgData name="mohammed sayed hemed" userId="e569cc8ba1648315" providerId="LiveId" clId="{96AEAB23-0FEE-4E59-AAC8-CD0724E46B8D}" dt="2026-09-20T20:10:46.099" v="2154" actId="20577"/>
          <ac:spMkLst>
            <pc:docMk/>
            <pc:sldMk cId="3932023246" sldId="266"/>
            <ac:spMk id="3" creationId="{2A1C317F-5B7B-1113-8D05-0321F705916B}"/>
          </ac:spMkLst>
        </pc:spChg>
      </pc:sldChg>
      <pc:sldChg chg="addSp delSp modSp mod setBg">
        <pc:chgData name="mohammed sayed hemed" userId="e569cc8ba1648315" providerId="LiveId" clId="{96AEAB23-0FEE-4E59-AAC8-CD0724E46B8D}" dt="2026-09-20T20:15:04.709" v="2180" actId="207"/>
        <pc:sldMkLst>
          <pc:docMk/>
          <pc:sldMk cId="665084436" sldId="267"/>
        </pc:sldMkLst>
        <pc:spChg chg="mod">
          <ac:chgData name="mohammed sayed hemed" userId="e569cc8ba1648315" providerId="LiveId" clId="{96AEAB23-0FEE-4E59-AAC8-CD0724E46B8D}" dt="2026-09-20T20:13:43.892" v="2172" actId="26606"/>
          <ac:spMkLst>
            <pc:docMk/>
            <pc:sldMk cId="665084436" sldId="267"/>
            <ac:spMk id="2" creationId="{3B830F7A-E283-7797-8276-BAAB89CDA524}"/>
          </ac:spMkLst>
        </pc:spChg>
        <pc:spChg chg="mod">
          <ac:chgData name="mohammed sayed hemed" userId="e569cc8ba1648315" providerId="LiveId" clId="{96AEAB23-0FEE-4E59-AAC8-CD0724E46B8D}" dt="2026-09-20T20:15:04.709" v="2180" actId="207"/>
          <ac:spMkLst>
            <pc:docMk/>
            <pc:sldMk cId="665084436" sldId="267"/>
            <ac:spMk id="3" creationId="{86A6435D-13AF-EC42-0542-75BCA2E91319}"/>
          </ac:spMkLst>
        </pc:spChg>
        <pc:spChg chg="add mod">
          <ac:chgData name="mohammed sayed hemed" userId="e569cc8ba1648315" providerId="LiveId" clId="{96AEAB23-0FEE-4E59-AAC8-CD0724E46B8D}" dt="2026-09-20T20:12:11.837" v="2160" actId="767"/>
          <ac:spMkLst>
            <pc:docMk/>
            <pc:sldMk cId="665084436" sldId="267"/>
            <ac:spMk id="4" creationId="{BC8E4E37-D4B1-9F2B-B1F7-DAFC8F54F926}"/>
          </ac:spMkLst>
        </pc:spChg>
        <pc:spChg chg="add del mod">
          <ac:chgData name="mohammed sayed hemed" userId="e569cc8ba1648315" providerId="LiveId" clId="{96AEAB23-0FEE-4E59-AAC8-CD0724E46B8D}" dt="2026-09-20T20:12:41.530" v="2164"/>
          <ac:spMkLst>
            <pc:docMk/>
            <pc:sldMk cId="665084436" sldId="267"/>
            <ac:spMk id="5" creationId="{246D7D6F-4716-6A8C-E49B-E3B45441F616}"/>
          </ac:spMkLst>
        </pc:spChg>
        <pc:picChg chg="add mod ord">
          <ac:chgData name="mohammed sayed hemed" userId="e569cc8ba1648315" providerId="LiveId" clId="{96AEAB23-0FEE-4E59-AAC8-CD0724E46B8D}" dt="2026-09-20T20:13:43.892" v="2172" actId="26606"/>
          <ac:picMkLst>
            <pc:docMk/>
            <pc:sldMk cId="665084436" sldId="267"/>
            <ac:picMk id="6" creationId="{44ADFA9B-32D3-F8DD-4C7D-EF8DC09A4B7C}"/>
          </ac:picMkLst>
        </pc:picChg>
        <pc:cxnChg chg="add del">
          <ac:chgData name="mohammed sayed hemed" userId="e569cc8ba1648315" providerId="LiveId" clId="{96AEAB23-0FEE-4E59-AAC8-CD0724E46B8D}" dt="2026-09-20T20:13:43.892" v="2172" actId="26606"/>
          <ac:cxnSpMkLst>
            <pc:docMk/>
            <pc:sldMk cId="665084436" sldId="267"/>
            <ac:cxnSpMk id="10" creationId="{1503BFE4-729B-D9D0-C17B-501E6AF1127A}"/>
          </ac:cxnSpMkLst>
        </pc:cxnChg>
        <pc:cxnChg chg="add">
          <ac:chgData name="mohammed sayed hemed" userId="e569cc8ba1648315" providerId="LiveId" clId="{96AEAB23-0FEE-4E59-AAC8-CD0724E46B8D}" dt="2026-09-20T20:13:43.892" v="2172" actId="26606"/>
          <ac:cxnSpMkLst>
            <pc:docMk/>
            <pc:sldMk cId="665084436" sldId="267"/>
            <ac:cxnSpMk id="15" creationId="{FC23E3B9-5ABF-58B3-E2B0-E9A5DAA90037}"/>
          </ac:cxnSpMkLst>
        </pc:cxnChg>
      </pc:sldChg>
      <pc:sldChg chg="addSp delSp modSp mod setBg">
        <pc:chgData name="mohammed sayed hemed" userId="e569cc8ba1648315" providerId="LiveId" clId="{96AEAB23-0FEE-4E59-AAC8-CD0724E46B8D}" dt="2026-09-20T20:11:41.684" v="2159" actId="26606"/>
        <pc:sldMkLst>
          <pc:docMk/>
          <pc:sldMk cId="3811835582" sldId="268"/>
        </pc:sldMkLst>
        <pc:spChg chg="del">
          <ac:chgData name="mohammed sayed hemed" userId="e569cc8ba1648315" providerId="LiveId" clId="{96AEAB23-0FEE-4E59-AAC8-CD0724E46B8D}" dt="2026-09-20T20:10:58.137" v="2155" actId="478"/>
          <ac:spMkLst>
            <pc:docMk/>
            <pc:sldMk cId="3811835582" sldId="268"/>
            <ac:spMk id="2" creationId="{B009C8E3-3C8E-0544-1F4B-B6F9EF837C90}"/>
          </ac:spMkLst>
        </pc:spChg>
        <pc:spChg chg="del mod">
          <ac:chgData name="mohammed sayed hemed" userId="e569cc8ba1648315" providerId="LiveId" clId="{96AEAB23-0FEE-4E59-AAC8-CD0724E46B8D}" dt="2026-09-20T20:11:32.444" v="2158" actId="22"/>
          <ac:spMkLst>
            <pc:docMk/>
            <pc:sldMk cId="3811835582" sldId="268"/>
            <ac:spMk id="3" creationId="{A8014624-2526-7E19-D79E-A1F7991C9267}"/>
          </ac:spMkLst>
        </pc:spChg>
        <pc:spChg chg="add">
          <ac:chgData name="mohammed sayed hemed" userId="e569cc8ba1648315" providerId="LiveId" clId="{96AEAB23-0FEE-4E59-AAC8-CD0724E46B8D}" dt="2026-09-20T20:11:41.684" v="2159" actId="26606"/>
          <ac:spMkLst>
            <pc:docMk/>
            <pc:sldMk cId="3811835582" sldId="268"/>
            <ac:spMk id="10" creationId="{AF2A46FC-A8BE-4771-BE51-D9123E91856E}"/>
          </ac:spMkLst>
        </pc:spChg>
        <pc:picChg chg="add mod ord">
          <ac:chgData name="mohammed sayed hemed" userId="e569cc8ba1648315" providerId="LiveId" clId="{96AEAB23-0FEE-4E59-AAC8-CD0724E46B8D}" dt="2026-09-20T20:11:41.684" v="2159" actId="26606"/>
          <ac:picMkLst>
            <pc:docMk/>
            <pc:sldMk cId="3811835582" sldId="268"/>
            <ac:picMk id="5" creationId="{D67E052E-9D1E-4EBE-F436-C7410450FD1C}"/>
          </ac:picMkLst>
        </pc:picChg>
      </pc:sldChg>
      <pc:sldChg chg="modSp mod">
        <pc:chgData name="mohammed sayed hemed" userId="e569cc8ba1648315" providerId="LiveId" clId="{96AEAB23-0FEE-4E59-AAC8-CD0724E46B8D}" dt="2026-09-20T20:19:16.286" v="2183" actId="20577"/>
        <pc:sldMkLst>
          <pc:docMk/>
          <pc:sldMk cId="1275731389" sldId="269"/>
        </pc:sldMkLst>
        <pc:spChg chg="mod">
          <ac:chgData name="mohammed sayed hemed" userId="e569cc8ba1648315" providerId="LiveId" clId="{96AEAB23-0FEE-4E59-AAC8-CD0724E46B8D}" dt="2026-09-20T20:19:16.286" v="2183" actId="20577"/>
          <ac:spMkLst>
            <pc:docMk/>
            <pc:sldMk cId="1275731389" sldId="269"/>
            <ac:spMk id="2" creationId="{2D0EBBA3-DAC0-7166-2137-E44B10A40ED9}"/>
          </ac:spMkLst>
        </pc:spChg>
        <pc:spChg chg="mod">
          <ac:chgData name="mohammed sayed hemed" userId="e569cc8ba1648315" providerId="LiveId" clId="{96AEAB23-0FEE-4E59-AAC8-CD0724E46B8D}" dt="2026-09-20T20:18:35.696" v="2181" actId="20577"/>
          <ac:spMkLst>
            <pc:docMk/>
            <pc:sldMk cId="1275731389" sldId="269"/>
            <ac:spMk id="3" creationId="{13375918-68C4-670A-C62F-ADFD27A45E2A}"/>
          </ac:spMkLst>
        </pc:spChg>
      </pc:sldChg>
    </pc:docChg>
  </pc:docChgLst>
</pc:chgInfo>
</file>

<file path=ppt/diagrams/_rels/data1.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9D46D2-44E9-4C50-B3C6-B159E56FADCC}" type="doc">
      <dgm:prSet loTypeId="urn:microsoft.com/office/officeart/2018/5/layout/IconLeafLabelList" loCatId="icon" qsTypeId="urn:microsoft.com/office/officeart/2005/8/quickstyle/simple1#36" qsCatId="simple" csTypeId="urn:microsoft.com/office/officeart/2018/5/colors/Iconchunking_neutralicon_colorful1" csCatId="colorful" phldr="1"/>
      <dgm:spPr/>
      <dgm:t>
        <a:bodyPr/>
        <a:lstStyle/>
        <a:p>
          <a:endParaRPr lang="en-US"/>
        </a:p>
      </dgm:t>
    </dgm:pt>
    <dgm:pt modelId="{FD2B03FD-B644-4B35-A436-B43F87F51592}">
      <dgm:prSet/>
      <dgm:spPr/>
      <dgm:t>
        <a:bodyPr/>
        <a:lstStyle/>
        <a:p>
          <a:pPr>
            <a:lnSpc>
              <a:spcPct val="100000"/>
            </a:lnSpc>
            <a:defRPr cap="all"/>
          </a:pPr>
          <a:r>
            <a:rPr lang="en-US" dirty="0"/>
            <a:t>The Transformer was initially designed for machine translation, and since then, it has become the default architecture for solving all AI tasks. Some tasks lend themselves to the Transformer’s encoder structure, while others are better suited for the decoder. Still, other tasks make use of both the Transformer’s encoder-decoder structure.</a:t>
          </a:r>
        </a:p>
      </dgm:t>
    </dgm:pt>
    <dgm:pt modelId="{102EEBEA-3BC6-41A6-9B97-3DC8149C1B8A}" type="sibTrans" cxnId="{3B406CFB-E8B2-4A04-9C86-EB307F9A4CBF}">
      <dgm:prSet/>
      <dgm:spPr/>
      <dgm:t>
        <a:bodyPr/>
        <a:lstStyle/>
        <a:p>
          <a:endParaRPr lang="en-US"/>
        </a:p>
      </dgm:t>
    </dgm:pt>
    <dgm:pt modelId="{38BCA12B-1202-42A3-8D67-74126378FFA9}" type="parTrans" cxnId="{3B406CFB-E8B2-4A04-9C86-EB307F9A4CBF}">
      <dgm:prSet/>
      <dgm:spPr/>
      <dgm:t>
        <a:bodyPr/>
        <a:lstStyle/>
        <a:p>
          <a:endParaRPr lang="en-US"/>
        </a:p>
      </dgm:t>
    </dgm:pt>
    <dgm:pt modelId="{7313F9F3-168A-41CD-80CD-F4A74262B5ED}">
      <dgm:prSet/>
      <dgm:spPr/>
      <dgm:t>
        <a:bodyPr/>
        <a:lstStyle/>
        <a:p>
          <a:pPr>
            <a:lnSpc>
              <a:spcPct val="100000"/>
            </a:lnSpc>
            <a:defRPr cap="all"/>
          </a:pPr>
          <a:r>
            <a:rPr lang="en-US" dirty="0"/>
            <a:t>Language models are at the heart of modern NLP. They’re designed to understand and generate human language by learning the statistical patterns and relationships between words or tokens in text.</a:t>
          </a:r>
        </a:p>
      </dgm:t>
    </dgm:pt>
    <dgm:pt modelId="{176EC5F6-DD93-488E-993D-3493C7EDA6C5}" type="sibTrans" cxnId="{00B523F5-9337-4AB9-8F3C-44EF53324E5A}">
      <dgm:prSet/>
      <dgm:spPr/>
      <dgm:t>
        <a:bodyPr/>
        <a:lstStyle/>
        <a:p>
          <a:endParaRPr lang="en-US"/>
        </a:p>
      </dgm:t>
    </dgm:pt>
    <dgm:pt modelId="{1D602E9B-16B7-43D2-B34F-AD2E190F06CE}" type="parTrans" cxnId="{00B523F5-9337-4AB9-8F3C-44EF53324E5A}">
      <dgm:prSet/>
      <dgm:spPr/>
      <dgm:t>
        <a:bodyPr/>
        <a:lstStyle/>
        <a:p>
          <a:endParaRPr lang="en-US"/>
        </a:p>
      </dgm:t>
    </dgm:pt>
    <dgm:pt modelId="{C615CC69-AEFE-42D2-B0F8-608F677392F1}" type="pres">
      <dgm:prSet presAssocID="{A39D46D2-44E9-4C50-B3C6-B159E56FADCC}" presName="root" presStyleCnt="0">
        <dgm:presLayoutVars>
          <dgm:dir/>
          <dgm:resizeHandles val="exact"/>
        </dgm:presLayoutVars>
      </dgm:prSet>
      <dgm:spPr/>
    </dgm:pt>
    <dgm:pt modelId="{F0BB4998-6787-4865-8D93-1DFF9E5FE13B}" type="pres">
      <dgm:prSet presAssocID="{7313F9F3-168A-41CD-80CD-F4A74262B5ED}" presName="compNode" presStyleCnt="0"/>
      <dgm:spPr/>
    </dgm:pt>
    <dgm:pt modelId="{C1FAA584-2AFC-4FB4-B5F8-1D889D123D2C}" type="pres">
      <dgm:prSet presAssocID="{7313F9F3-168A-41CD-80CD-F4A74262B5ED}" presName="iconBgRect" presStyleLbl="bgShp" presStyleIdx="0" presStyleCnt="2"/>
      <dgm:spPr>
        <a:prstGeom prst="ellipse">
          <a:avLst/>
        </a:prstGeom>
      </dgm:spPr>
    </dgm:pt>
    <dgm:pt modelId="{1FA854ED-1B31-47D9-9996-2ADF5A5F43D8}" type="pres">
      <dgm:prSet presAssocID="{7313F9F3-168A-41CD-80CD-F4A74262B5ED}"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ead with Gears"/>
        </a:ext>
      </dgm:extLst>
    </dgm:pt>
    <dgm:pt modelId="{5AA034D4-EC1C-4BBC-9648-F573670E06B0}" type="pres">
      <dgm:prSet presAssocID="{7313F9F3-168A-41CD-80CD-F4A74262B5ED}" presName="spaceRect" presStyleCnt="0"/>
      <dgm:spPr/>
    </dgm:pt>
    <dgm:pt modelId="{275D7401-FC81-4DE8-BAF1-B2485005FBD4}" type="pres">
      <dgm:prSet presAssocID="{7313F9F3-168A-41CD-80CD-F4A74262B5ED}" presName="textRect" presStyleLbl="revTx" presStyleIdx="0" presStyleCnt="2">
        <dgm:presLayoutVars>
          <dgm:chMax val="1"/>
          <dgm:chPref val="1"/>
        </dgm:presLayoutVars>
      </dgm:prSet>
      <dgm:spPr/>
    </dgm:pt>
    <dgm:pt modelId="{57E2E03E-4B50-49F1-B784-266983B6DAE9}" type="pres">
      <dgm:prSet presAssocID="{176EC5F6-DD93-488E-993D-3493C7EDA6C5}" presName="sibTrans" presStyleCnt="0"/>
      <dgm:spPr/>
    </dgm:pt>
    <dgm:pt modelId="{C6A191DD-7819-4705-93CF-28A7C7CCFEB7}" type="pres">
      <dgm:prSet presAssocID="{FD2B03FD-B644-4B35-A436-B43F87F51592}" presName="compNode" presStyleCnt="0"/>
      <dgm:spPr/>
    </dgm:pt>
    <dgm:pt modelId="{49D5FBED-1DFA-49EC-8725-5596AC93A325}" type="pres">
      <dgm:prSet presAssocID="{FD2B03FD-B644-4B35-A436-B43F87F51592}" presName="iconBgRect" presStyleLbl="bgShp" presStyleIdx="1" presStyleCnt="2"/>
      <dgm:spPr>
        <a:prstGeom prst="round2DiagRect">
          <a:avLst>
            <a:gd name="adj1" fmla="val 29727"/>
            <a:gd name="adj2" fmla="val 0"/>
          </a:avLst>
        </a:prstGeom>
      </dgm:spPr>
    </dgm:pt>
    <dgm:pt modelId="{07D509ED-E049-497D-BBB0-61D19C9CD7BB}" type="pres">
      <dgm:prSet presAssocID="{FD2B03FD-B644-4B35-A436-B43F87F51592}"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5ACAD5BB-2D9A-4C50-8DB8-E5D53FF7E7E3}" type="pres">
      <dgm:prSet presAssocID="{FD2B03FD-B644-4B35-A436-B43F87F51592}" presName="spaceRect" presStyleCnt="0"/>
      <dgm:spPr/>
    </dgm:pt>
    <dgm:pt modelId="{1A54A644-1339-4642-A1B1-F4BD17642A5E}" type="pres">
      <dgm:prSet presAssocID="{FD2B03FD-B644-4B35-A436-B43F87F51592}" presName="textRect" presStyleLbl="revTx" presStyleIdx="1" presStyleCnt="2">
        <dgm:presLayoutVars>
          <dgm:chMax val="1"/>
          <dgm:chPref val="1"/>
        </dgm:presLayoutVars>
      </dgm:prSet>
      <dgm:spPr/>
    </dgm:pt>
  </dgm:ptLst>
  <dgm:cxnLst>
    <dgm:cxn modelId="{958CE590-B630-402F-8E0A-6C19373DEC7A}" type="presOf" srcId="{7313F9F3-168A-41CD-80CD-F4A74262B5ED}" destId="{275D7401-FC81-4DE8-BAF1-B2485005FBD4}" srcOrd="0" destOrd="0" presId="urn:microsoft.com/office/officeart/2018/5/layout/IconLeafLabelList"/>
    <dgm:cxn modelId="{0DEB379D-B4B4-4547-BAD7-482D209092E5}" type="presOf" srcId="{FD2B03FD-B644-4B35-A436-B43F87F51592}" destId="{1A54A644-1339-4642-A1B1-F4BD17642A5E}" srcOrd="0" destOrd="0" presId="urn:microsoft.com/office/officeart/2018/5/layout/IconLeafLabelList"/>
    <dgm:cxn modelId="{3F88D9CE-9295-4D3D-801A-C51E654B5490}" type="presOf" srcId="{A39D46D2-44E9-4C50-B3C6-B159E56FADCC}" destId="{C615CC69-AEFE-42D2-B0F8-608F677392F1}" srcOrd="0" destOrd="0" presId="urn:microsoft.com/office/officeart/2018/5/layout/IconLeafLabelList"/>
    <dgm:cxn modelId="{00B523F5-9337-4AB9-8F3C-44EF53324E5A}" srcId="{A39D46D2-44E9-4C50-B3C6-B159E56FADCC}" destId="{7313F9F3-168A-41CD-80CD-F4A74262B5ED}" srcOrd="0" destOrd="0" parTransId="{1D602E9B-16B7-43D2-B34F-AD2E190F06CE}" sibTransId="{176EC5F6-DD93-488E-993D-3493C7EDA6C5}"/>
    <dgm:cxn modelId="{3B406CFB-E8B2-4A04-9C86-EB307F9A4CBF}" srcId="{A39D46D2-44E9-4C50-B3C6-B159E56FADCC}" destId="{FD2B03FD-B644-4B35-A436-B43F87F51592}" srcOrd="1" destOrd="0" parTransId="{38BCA12B-1202-42A3-8D67-74126378FFA9}" sibTransId="{102EEBEA-3BC6-41A6-9B97-3DC8149C1B8A}"/>
    <dgm:cxn modelId="{D98FDF88-7B32-456C-8EF4-DF0EE0737B4D}" type="presParOf" srcId="{C615CC69-AEFE-42D2-B0F8-608F677392F1}" destId="{F0BB4998-6787-4865-8D93-1DFF9E5FE13B}" srcOrd="0" destOrd="0" presId="urn:microsoft.com/office/officeart/2018/5/layout/IconLeafLabelList"/>
    <dgm:cxn modelId="{68228BDE-E3BA-4650-9E0F-6BBF92DE39B6}" type="presParOf" srcId="{F0BB4998-6787-4865-8D93-1DFF9E5FE13B}" destId="{C1FAA584-2AFC-4FB4-B5F8-1D889D123D2C}" srcOrd="0" destOrd="0" presId="urn:microsoft.com/office/officeart/2018/5/layout/IconLeafLabelList"/>
    <dgm:cxn modelId="{F4EA50CF-A2F8-4AD2-8F7C-E4FC3AA1E7DB}" type="presParOf" srcId="{F0BB4998-6787-4865-8D93-1DFF9E5FE13B}" destId="{1FA854ED-1B31-47D9-9996-2ADF5A5F43D8}" srcOrd="1" destOrd="0" presId="urn:microsoft.com/office/officeart/2018/5/layout/IconLeafLabelList"/>
    <dgm:cxn modelId="{A90201E8-8B3B-49D2-AD4D-DC9661179DE9}" type="presParOf" srcId="{F0BB4998-6787-4865-8D93-1DFF9E5FE13B}" destId="{5AA034D4-EC1C-4BBC-9648-F573670E06B0}" srcOrd="2" destOrd="0" presId="urn:microsoft.com/office/officeart/2018/5/layout/IconLeafLabelList"/>
    <dgm:cxn modelId="{43E42704-339A-47BB-9A1E-D35F7245731D}" type="presParOf" srcId="{F0BB4998-6787-4865-8D93-1DFF9E5FE13B}" destId="{275D7401-FC81-4DE8-BAF1-B2485005FBD4}" srcOrd="3" destOrd="0" presId="urn:microsoft.com/office/officeart/2018/5/layout/IconLeafLabelList"/>
    <dgm:cxn modelId="{33F31477-6241-4ED5-AFE5-06DDA06DCA5C}" type="presParOf" srcId="{C615CC69-AEFE-42D2-B0F8-608F677392F1}" destId="{57E2E03E-4B50-49F1-B784-266983B6DAE9}" srcOrd="1" destOrd="0" presId="urn:microsoft.com/office/officeart/2018/5/layout/IconLeafLabelList"/>
    <dgm:cxn modelId="{0936E940-FA10-426A-BFD2-179FEBC87066}" type="presParOf" srcId="{C615CC69-AEFE-42D2-B0F8-608F677392F1}" destId="{C6A191DD-7819-4705-93CF-28A7C7CCFEB7}" srcOrd="2" destOrd="0" presId="urn:microsoft.com/office/officeart/2018/5/layout/IconLeafLabelList"/>
    <dgm:cxn modelId="{5E49FCAD-18F0-48E9-9FB5-07138DE53DE0}" type="presParOf" srcId="{C6A191DD-7819-4705-93CF-28A7C7CCFEB7}" destId="{49D5FBED-1DFA-49EC-8725-5596AC93A325}" srcOrd="0" destOrd="0" presId="urn:microsoft.com/office/officeart/2018/5/layout/IconLeafLabelList"/>
    <dgm:cxn modelId="{8CEF2687-40C5-42F4-91DA-CC2A51062FAD}" type="presParOf" srcId="{C6A191DD-7819-4705-93CF-28A7C7CCFEB7}" destId="{07D509ED-E049-497D-BBB0-61D19C9CD7BB}" srcOrd="1" destOrd="0" presId="urn:microsoft.com/office/officeart/2018/5/layout/IconLeafLabelList"/>
    <dgm:cxn modelId="{7B251FBA-CB04-4786-9D01-9A8C5DFC70C7}" type="presParOf" srcId="{C6A191DD-7819-4705-93CF-28A7C7CCFEB7}" destId="{5ACAD5BB-2D9A-4C50-8DB8-E5D53FF7E7E3}" srcOrd="2" destOrd="0" presId="urn:microsoft.com/office/officeart/2018/5/layout/IconLeafLabelList"/>
    <dgm:cxn modelId="{853D5A94-6D68-4D06-A21E-C5D66C038E62}" type="presParOf" srcId="{C6A191DD-7819-4705-93CF-28A7C7CCFEB7}" destId="{1A54A644-1339-4642-A1B1-F4BD17642A5E}"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FAA584-2AFC-4FB4-B5F8-1D889D123D2C}">
      <dsp:nvSpPr>
        <dsp:cNvPr id="0" name=""/>
        <dsp:cNvSpPr/>
      </dsp:nvSpPr>
      <dsp:spPr>
        <a:xfrm>
          <a:off x="456164" y="754483"/>
          <a:ext cx="1338187" cy="133818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A854ED-1B31-47D9-9996-2ADF5A5F43D8}">
      <dsp:nvSpPr>
        <dsp:cNvPr id="0" name=""/>
        <dsp:cNvSpPr/>
      </dsp:nvSpPr>
      <dsp:spPr>
        <a:xfrm>
          <a:off x="741351" y="1039670"/>
          <a:ext cx="767812" cy="767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5D7401-FC81-4DE8-BAF1-B2485005FBD4}">
      <dsp:nvSpPr>
        <dsp:cNvPr id="0" name=""/>
        <dsp:cNvSpPr/>
      </dsp:nvSpPr>
      <dsp:spPr>
        <a:xfrm>
          <a:off x="28382" y="2509483"/>
          <a:ext cx="2193750" cy="2387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dirty="0"/>
            <a:t>Language models are at the heart of modern NLP. They’re designed to understand and generate human language by learning the statistical patterns and relationships between words or tokens in text.</a:t>
          </a:r>
        </a:p>
      </dsp:txBody>
      <dsp:txXfrm>
        <a:off x="28382" y="2509483"/>
        <a:ext cx="2193750" cy="2387988"/>
      </dsp:txXfrm>
    </dsp:sp>
    <dsp:sp modelId="{49D5FBED-1DFA-49EC-8725-5596AC93A325}">
      <dsp:nvSpPr>
        <dsp:cNvPr id="0" name=""/>
        <dsp:cNvSpPr/>
      </dsp:nvSpPr>
      <dsp:spPr>
        <a:xfrm>
          <a:off x="3033820" y="754483"/>
          <a:ext cx="1338187" cy="133818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D509ED-E049-497D-BBB0-61D19C9CD7BB}">
      <dsp:nvSpPr>
        <dsp:cNvPr id="0" name=""/>
        <dsp:cNvSpPr/>
      </dsp:nvSpPr>
      <dsp:spPr>
        <a:xfrm>
          <a:off x="3319007" y="1039670"/>
          <a:ext cx="767812" cy="767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54A644-1339-4642-A1B1-F4BD17642A5E}">
      <dsp:nvSpPr>
        <dsp:cNvPr id="0" name=""/>
        <dsp:cNvSpPr/>
      </dsp:nvSpPr>
      <dsp:spPr>
        <a:xfrm>
          <a:off x="2606039" y="2509483"/>
          <a:ext cx="2193750" cy="2387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dirty="0"/>
            <a:t>The Transformer was initially designed for machine translation, and since then, it has become the default architecture for solving all AI tasks. Some tasks lend themselves to the Transformer’s encoder structure, while others are better suited for the decoder. Still, other tasks make use of both the Transformer’s encoder-decoder structure.</a:t>
          </a:r>
        </a:p>
      </dsp:txBody>
      <dsp:txXfrm>
        <a:off x="2606039" y="2509483"/>
        <a:ext cx="2193750" cy="2387988"/>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3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6F137-BB37-2A1A-846A-9174A3E9A5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3044645-5CE0-5F05-CCAA-65A65D9050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7D868E2-7BFA-A078-489B-6B554CBD3F3B}"/>
              </a:ext>
            </a:extLst>
          </p:cNvPr>
          <p:cNvSpPr>
            <a:spLocks noGrp="1"/>
          </p:cNvSpPr>
          <p:nvPr>
            <p:ph type="dt" sz="half" idx="10"/>
          </p:nvPr>
        </p:nvSpPr>
        <p:spPr/>
        <p:txBody>
          <a:bodyPr/>
          <a:lstStyle/>
          <a:p>
            <a:fld id="{938D6EB7-E864-453D-9C89-DB6D3DE735E5}" type="datetimeFigureOut">
              <a:rPr lang="en-US" smtClean="0"/>
              <a:t>9/24/2026</a:t>
            </a:fld>
            <a:endParaRPr lang="en-US"/>
          </a:p>
        </p:txBody>
      </p:sp>
      <p:sp>
        <p:nvSpPr>
          <p:cNvPr id="5" name="Footer Placeholder 4">
            <a:extLst>
              <a:ext uri="{FF2B5EF4-FFF2-40B4-BE49-F238E27FC236}">
                <a16:creationId xmlns:a16="http://schemas.microsoft.com/office/drawing/2014/main" id="{665C60A2-348B-DBEF-F8DD-F5599A4B54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B5D87E-621A-2FA2-98A9-B1790D9AA73F}"/>
              </a:ext>
            </a:extLst>
          </p:cNvPr>
          <p:cNvSpPr>
            <a:spLocks noGrp="1"/>
          </p:cNvSpPr>
          <p:nvPr>
            <p:ph type="sldNum" sz="quarter" idx="12"/>
          </p:nvPr>
        </p:nvSpPr>
        <p:spPr/>
        <p:txBody>
          <a:bodyPr/>
          <a:lstStyle/>
          <a:p>
            <a:fld id="{BFDFC9F6-308E-4992-9054-1B44859AC27D}" type="slidenum">
              <a:rPr lang="en-US" smtClean="0"/>
              <a:t>‹#›</a:t>
            </a:fld>
            <a:endParaRPr lang="en-US"/>
          </a:p>
        </p:txBody>
      </p:sp>
    </p:spTree>
    <p:extLst>
      <p:ext uri="{BB962C8B-B14F-4D97-AF65-F5344CB8AC3E}">
        <p14:creationId xmlns:p14="http://schemas.microsoft.com/office/powerpoint/2010/main" val="2705897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E8B32-1AD2-38ED-0A7C-F3563771CE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914CA3-52C4-CE39-3A9B-8B2A3820C5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2A7BC1-5688-556B-C7E1-B1BAF2CB4579}"/>
              </a:ext>
            </a:extLst>
          </p:cNvPr>
          <p:cNvSpPr>
            <a:spLocks noGrp="1"/>
          </p:cNvSpPr>
          <p:nvPr>
            <p:ph type="dt" sz="half" idx="10"/>
          </p:nvPr>
        </p:nvSpPr>
        <p:spPr/>
        <p:txBody>
          <a:bodyPr/>
          <a:lstStyle/>
          <a:p>
            <a:fld id="{938D6EB7-E864-453D-9C89-DB6D3DE735E5}" type="datetimeFigureOut">
              <a:rPr lang="en-US" smtClean="0"/>
              <a:t>9/24/2026</a:t>
            </a:fld>
            <a:endParaRPr lang="en-US"/>
          </a:p>
        </p:txBody>
      </p:sp>
      <p:sp>
        <p:nvSpPr>
          <p:cNvPr id="5" name="Footer Placeholder 4">
            <a:extLst>
              <a:ext uri="{FF2B5EF4-FFF2-40B4-BE49-F238E27FC236}">
                <a16:creationId xmlns:a16="http://schemas.microsoft.com/office/drawing/2014/main" id="{7E39430A-29BA-1005-8C78-85FD5C1F05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CB6BE7-9330-B645-29F9-88518E9977DC}"/>
              </a:ext>
            </a:extLst>
          </p:cNvPr>
          <p:cNvSpPr>
            <a:spLocks noGrp="1"/>
          </p:cNvSpPr>
          <p:nvPr>
            <p:ph type="sldNum" sz="quarter" idx="12"/>
          </p:nvPr>
        </p:nvSpPr>
        <p:spPr/>
        <p:txBody>
          <a:bodyPr/>
          <a:lstStyle/>
          <a:p>
            <a:fld id="{BFDFC9F6-308E-4992-9054-1B44859AC27D}" type="slidenum">
              <a:rPr lang="en-US" smtClean="0"/>
              <a:t>‹#›</a:t>
            </a:fld>
            <a:endParaRPr lang="en-US"/>
          </a:p>
        </p:txBody>
      </p:sp>
    </p:spTree>
    <p:extLst>
      <p:ext uri="{BB962C8B-B14F-4D97-AF65-F5344CB8AC3E}">
        <p14:creationId xmlns:p14="http://schemas.microsoft.com/office/powerpoint/2010/main" val="4233651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CD1F9-9BF5-9C44-14E8-26C10ABC26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05F8231-8951-EEAE-4822-A2C7B34458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4A822D-242C-5FD0-3FBF-6267560AFED9}"/>
              </a:ext>
            </a:extLst>
          </p:cNvPr>
          <p:cNvSpPr>
            <a:spLocks noGrp="1"/>
          </p:cNvSpPr>
          <p:nvPr>
            <p:ph type="dt" sz="half" idx="10"/>
          </p:nvPr>
        </p:nvSpPr>
        <p:spPr/>
        <p:txBody>
          <a:bodyPr/>
          <a:lstStyle/>
          <a:p>
            <a:fld id="{938D6EB7-E864-453D-9C89-DB6D3DE735E5}" type="datetimeFigureOut">
              <a:rPr lang="en-US" smtClean="0"/>
              <a:t>9/24/2026</a:t>
            </a:fld>
            <a:endParaRPr lang="en-US"/>
          </a:p>
        </p:txBody>
      </p:sp>
      <p:sp>
        <p:nvSpPr>
          <p:cNvPr id="5" name="Footer Placeholder 4">
            <a:extLst>
              <a:ext uri="{FF2B5EF4-FFF2-40B4-BE49-F238E27FC236}">
                <a16:creationId xmlns:a16="http://schemas.microsoft.com/office/drawing/2014/main" id="{4CBB733A-CAA4-2E3E-E1B6-1DF6AAE131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7DA2A4-9BB6-8776-41B5-3BCEB29DC18F}"/>
              </a:ext>
            </a:extLst>
          </p:cNvPr>
          <p:cNvSpPr>
            <a:spLocks noGrp="1"/>
          </p:cNvSpPr>
          <p:nvPr>
            <p:ph type="sldNum" sz="quarter" idx="12"/>
          </p:nvPr>
        </p:nvSpPr>
        <p:spPr/>
        <p:txBody>
          <a:bodyPr/>
          <a:lstStyle/>
          <a:p>
            <a:fld id="{BFDFC9F6-308E-4992-9054-1B44859AC27D}" type="slidenum">
              <a:rPr lang="en-US" smtClean="0"/>
              <a:t>‹#›</a:t>
            </a:fld>
            <a:endParaRPr lang="en-US"/>
          </a:p>
        </p:txBody>
      </p:sp>
    </p:spTree>
    <p:extLst>
      <p:ext uri="{BB962C8B-B14F-4D97-AF65-F5344CB8AC3E}">
        <p14:creationId xmlns:p14="http://schemas.microsoft.com/office/powerpoint/2010/main" val="3486022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3AD0D-5956-94BA-66DE-6428DEE9D5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FF4555-D851-E5CB-1E6D-E932DE3D19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44BC3D-48E2-8513-097C-3ACAEEC955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D1FE9A6-01A9-7E4A-2282-B6C38BC01019}"/>
              </a:ext>
            </a:extLst>
          </p:cNvPr>
          <p:cNvSpPr>
            <a:spLocks noGrp="1"/>
          </p:cNvSpPr>
          <p:nvPr>
            <p:ph type="dt" sz="half" idx="10"/>
          </p:nvPr>
        </p:nvSpPr>
        <p:spPr/>
        <p:txBody>
          <a:bodyPr/>
          <a:lstStyle/>
          <a:p>
            <a:fld id="{938D6EB7-E864-453D-9C89-DB6D3DE735E5}" type="datetimeFigureOut">
              <a:rPr lang="en-US" smtClean="0"/>
              <a:t>9/24/2026</a:t>
            </a:fld>
            <a:endParaRPr lang="en-US"/>
          </a:p>
        </p:txBody>
      </p:sp>
      <p:sp>
        <p:nvSpPr>
          <p:cNvPr id="6" name="Footer Placeholder 5">
            <a:extLst>
              <a:ext uri="{FF2B5EF4-FFF2-40B4-BE49-F238E27FC236}">
                <a16:creationId xmlns:a16="http://schemas.microsoft.com/office/drawing/2014/main" id="{81FE83D2-F448-AAC5-A95E-0856E6A27D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6F4FB5-CD86-BF48-F51F-32FEB5A01C95}"/>
              </a:ext>
            </a:extLst>
          </p:cNvPr>
          <p:cNvSpPr>
            <a:spLocks noGrp="1"/>
          </p:cNvSpPr>
          <p:nvPr>
            <p:ph type="sldNum" sz="quarter" idx="12"/>
          </p:nvPr>
        </p:nvSpPr>
        <p:spPr/>
        <p:txBody>
          <a:bodyPr/>
          <a:lstStyle/>
          <a:p>
            <a:fld id="{BFDFC9F6-308E-4992-9054-1B44859AC27D}" type="slidenum">
              <a:rPr lang="en-US" smtClean="0"/>
              <a:t>‹#›</a:t>
            </a:fld>
            <a:endParaRPr lang="en-US"/>
          </a:p>
        </p:txBody>
      </p:sp>
    </p:spTree>
    <p:extLst>
      <p:ext uri="{BB962C8B-B14F-4D97-AF65-F5344CB8AC3E}">
        <p14:creationId xmlns:p14="http://schemas.microsoft.com/office/powerpoint/2010/main" val="340781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1A421-46DE-36FC-9F6E-0EE5B59F79A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1C1FAC-3F07-93D6-0CF3-FD2D0A6EB4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54927D-C97E-0E75-C4E7-E66BF38179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26D56CF-49FD-4CBA-7485-63B2EF614E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26B7BB-3ACD-588E-7EE1-9569F3E9A5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D999AD-722F-EC88-2292-2E534BB0F7BF}"/>
              </a:ext>
            </a:extLst>
          </p:cNvPr>
          <p:cNvSpPr>
            <a:spLocks noGrp="1"/>
          </p:cNvSpPr>
          <p:nvPr>
            <p:ph type="dt" sz="half" idx="10"/>
          </p:nvPr>
        </p:nvSpPr>
        <p:spPr/>
        <p:txBody>
          <a:bodyPr/>
          <a:lstStyle/>
          <a:p>
            <a:fld id="{938D6EB7-E864-453D-9C89-DB6D3DE735E5}" type="datetimeFigureOut">
              <a:rPr lang="en-US" smtClean="0"/>
              <a:t>9/24/2026</a:t>
            </a:fld>
            <a:endParaRPr lang="en-US"/>
          </a:p>
        </p:txBody>
      </p:sp>
      <p:sp>
        <p:nvSpPr>
          <p:cNvPr id="8" name="Footer Placeholder 7">
            <a:extLst>
              <a:ext uri="{FF2B5EF4-FFF2-40B4-BE49-F238E27FC236}">
                <a16:creationId xmlns:a16="http://schemas.microsoft.com/office/drawing/2014/main" id="{582DC072-5AAD-91A5-719E-EF1B0BE3C7F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6F96A7-0796-506A-0181-7DD600E885C5}"/>
              </a:ext>
            </a:extLst>
          </p:cNvPr>
          <p:cNvSpPr>
            <a:spLocks noGrp="1"/>
          </p:cNvSpPr>
          <p:nvPr>
            <p:ph type="sldNum" sz="quarter" idx="12"/>
          </p:nvPr>
        </p:nvSpPr>
        <p:spPr/>
        <p:txBody>
          <a:bodyPr/>
          <a:lstStyle/>
          <a:p>
            <a:fld id="{BFDFC9F6-308E-4992-9054-1B44859AC27D}" type="slidenum">
              <a:rPr lang="en-US" smtClean="0"/>
              <a:t>‹#›</a:t>
            </a:fld>
            <a:endParaRPr lang="en-US"/>
          </a:p>
        </p:txBody>
      </p:sp>
    </p:spTree>
    <p:extLst>
      <p:ext uri="{BB962C8B-B14F-4D97-AF65-F5344CB8AC3E}">
        <p14:creationId xmlns:p14="http://schemas.microsoft.com/office/powerpoint/2010/main" val="40967808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54235-237E-8904-5320-6BE0F1B4226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48D4BB-6C4A-048D-A665-EE582D8DB584}"/>
              </a:ext>
            </a:extLst>
          </p:cNvPr>
          <p:cNvSpPr>
            <a:spLocks noGrp="1"/>
          </p:cNvSpPr>
          <p:nvPr>
            <p:ph type="dt" sz="half" idx="10"/>
          </p:nvPr>
        </p:nvSpPr>
        <p:spPr/>
        <p:txBody>
          <a:bodyPr/>
          <a:lstStyle/>
          <a:p>
            <a:fld id="{938D6EB7-E864-453D-9C89-DB6D3DE735E5}" type="datetimeFigureOut">
              <a:rPr lang="en-US" smtClean="0"/>
              <a:t>9/24/2026</a:t>
            </a:fld>
            <a:endParaRPr lang="en-US"/>
          </a:p>
        </p:txBody>
      </p:sp>
      <p:sp>
        <p:nvSpPr>
          <p:cNvPr id="4" name="Footer Placeholder 3">
            <a:extLst>
              <a:ext uri="{FF2B5EF4-FFF2-40B4-BE49-F238E27FC236}">
                <a16:creationId xmlns:a16="http://schemas.microsoft.com/office/drawing/2014/main" id="{015BC780-C3CF-DE9E-82C3-48B7F84F2D9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D1E905-989E-5F47-515E-73FDA0EA57A2}"/>
              </a:ext>
            </a:extLst>
          </p:cNvPr>
          <p:cNvSpPr>
            <a:spLocks noGrp="1"/>
          </p:cNvSpPr>
          <p:nvPr>
            <p:ph type="sldNum" sz="quarter" idx="12"/>
          </p:nvPr>
        </p:nvSpPr>
        <p:spPr/>
        <p:txBody>
          <a:bodyPr/>
          <a:lstStyle/>
          <a:p>
            <a:fld id="{BFDFC9F6-308E-4992-9054-1B44859AC27D}" type="slidenum">
              <a:rPr lang="en-US" smtClean="0"/>
              <a:t>‹#›</a:t>
            </a:fld>
            <a:endParaRPr lang="en-US"/>
          </a:p>
        </p:txBody>
      </p:sp>
    </p:spTree>
    <p:extLst>
      <p:ext uri="{BB962C8B-B14F-4D97-AF65-F5344CB8AC3E}">
        <p14:creationId xmlns:p14="http://schemas.microsoft.com/office/powerpoint/2010/main" val="3501365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D2CC5B-7A8B-77CE-223B-9893247C3290}"/>
              </a:ext>
            </a:extLst>
          </p:cNvPr>
          <p:cNvSpPr>
            <a:spLocks noGrp="1"/>
          </p:cNvSpPr>
          <p:nvPr>
            <p:ph type="dt" sz="half" idx="10"/>
          </p:nvPr>
        </p:nvSpPr>
        <p:spPr/>
        <p:txBody>
          <a:bodyPr/>
          <a:lstStyle/>
          <a:p>
            <a:fld id="{938D6EB7-E864-453D-9C89-DB6D3DE735E5}" type="datetimeFigureOut">
              <a:rPr lang="en-US" smtClean="0"/>
              <a:t>9/24/2026</a:t>
            </a:fld>
            <a:endParaRPr lang="en-US"/>
          </a:p>
        </p:txBody>
      </p:sp>
      <p:sp>
        <p:nvSpPr>
          <p:cNvPr id="3" name="Footer Placeholder 2">
            <a:extLst>
              <a:ext uri="{FF2B5EF4-FFF2-40B4-BE49-F238E27FC236}">
                <a16:creationId xmlns:a16="http://schemas.microsoft.com/office/drawing/2014/main" id="{A4C00E18-C394-EE80-EDF0-7E523347084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2A1B4C-5F7F-0391-C435-EADBC999E88C}"/>
              </a:ext>
            </a:extLst>
          </p:cNvPr>
          <p:cNvSpPr>
            <a:spLocks noGrp="1"/>
          </p:cNvSpPr>
          <p:nvPr>
            <p:ph type="sldNum" sz="quarter" idx="12"/>
          </p:nvPr>
        </p:nvSpPr>
        <p:spPr/>
        <p:txBody>
          <a:bodyPr/>
          <a:lstStyle/>
          <a:p>
            <a:fld id="{BFDFC9F6-308E-4992-9054-1B44859AC27D}" type="slidenum">
              <a:rPr lang="en-US" smtClean="0"/>
              <a:t>‹#›</a:t>
            </a:fld>
            <a:endParaRPr lang="en-US"/>
          </a:p>
        </p:txBody>
      </p:sp>
    </p:spTree>
    <p:extLst>
      <p:ext uri="{BB962C8B-B14F-4D97-AF65-F5344CB8AC3E}">
        <p14:creationId xmlns:p14="http://schemas.microsoft.com/office/powerpoint/2010/main" val="4284339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7F7F5-36B6-B0E7-D71B-858CC5264D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A5B0E9E-5597-3494-36FE-61029F3DFC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F635F8-5257-BCB8-5631-C7A27C3178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394FCC-404E-2BAA-6074-B01C24639CE5}"/>
              </a:ext>
            </a:extLst>
          </p:cNvPr>
          <p:cNvSpPr>
            <a:spLocks noGrp="1"/>
          </p:cNvSpPr>
          <p:nvPr>
            <p:ph type="dt" sz="half" idx="10"/>
          </p:nvPr>
        </p:nvSpPr>
        <p:spPr/>
        <p:txBody>
          <a:bodyPr/>
          <a:lstStyle/>
          <a:p>
            <a:fld id="{938D6EB7-E864-453D-9C89-DB6D3DE735E5}" type="datetimeFigureOut">
              <a:rPr lang="en-US" smtClean="0"/>
              <a:t>9/24/2026</a:t>
            </a:fld>
            <a:endParaRPr lang="en-US"/>
          </a:p>
        </p:txBody>
      </p:sp>
      <p:sp>
        <p:nvSpPr>
          <p:cNvPr id="6" name="Footer Placeholder 5">
            <a:extLst>
              <a:ext uri="{FF2B5EF4-FFF2-40B4-BE49-F238E27FC236}">
                <a16:creationId xmlns:a16="http://schemas.microsoft.com/office/drawing/2014/main" id="{41E4582F-60B8-3A8C-4C54-D013489FF8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C5F3C2-30E0-96A0-903D-8858B9B4B257}"/>
              </a:ext>
            </a:extLst>
          </p:cNvPr>
          <p:cNvSpPr>
            <a:spLocks noGrp="1"/>
          </p:cNvSpPr>
          <p:nvPr>
            <p:ph type="sldNum" sz="quarter" idx="12"/>
          </p:nvPr>
        </p:nvSpPr>
        <p:spPr/>
        <p:txBody>
          <a:bodyPr/>
          <a:lstStyle/>
          <a:p>
            <a:fld id="{BFDFC9F6-308E-4992-9054-1B44859AC27D}" type="slidenum">
              <a:rPr lang="en-US" smtClean="0"/>
              <a:t>‹#›</a:t>
            </a:fld>
            <a:endParaRPr lang="en-US"/>
          </a:p>
        </p:txBody>
      </p:sp>
    </p:spTree>
    <p:extLst>
      <p:ext uri="{BB962C8B-B14F-4D97-AF65-F5344CB8AC3E}">
        <p14:creationId xmlns:p14="http://schemas.microsoft.com/office/powerpoint/2010/main" val="3425578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AFF96-BADC-AEF0-ACE1-534DBADA56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E969C4-9293-F12D-E9D8-FDCE746860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2521386-9041-1721-552A-8248E412C6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52712C-74EC-453D-6E91-4DEBAB3C9DCB}"/>
              </a:ext>
            </a:extLst>
          </p:cNvPr>
          <p:cNvSpPr>
            <a:spLocks noGrp="1"/>
          </p:cNvSpPr>
          <p:nvPr>
            <p:ph type="dt" sz="half" idx="10"/>
          </p:nvPr>
        </p:nvSpPr>
        <p:spPr/>
        <p:txBody>
          <a:bodyPr/>
          <a:lstStyle/>
          <a:p>
            <a:fld id="{938D6EB7-E864-453D-9C89-DB6D3DE735E5}" type="datetimeFigureOut">
              <a:rPr lang="en-US" smtClean="0"/>
              <a:t>9/24/2026</a:t>
            </a:fld>
            <a:endParaRPr lang="en-US"/>
          </a:p>
        </p:txBody>
      </p:sp>
      <p:sp>
        <p:nvSpPr>
          <p:cNvPr id="6" name="Footer Placeholder 5">
            <a:extLst>
              <a:ext uri="{FF2B5EF4-FFF2-40B4-BE49-F238E27FC236}">
                <a16:creationId xmlns:a16="http://schemas.microsoft.com/office/drawing/2014/main" id="{B50060EB-81FE-F417-0191-10694205CE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8A49D5-3F5D-5D57-517E-0423C0222151}"/>
              </a:ext>
            </a:extLst>
          </p:cNvPr>
          <p:cNvSpPr>
            <a:spLocks noGrp="1"/>
          </p:cNvSpPr>
          <p:nvPr>
            <p:ph type="sldNum" sz="quarter" idx="12"/>
          </p:nvPr>
        </p:nvSpPr>
        <p:spPr/>
        <p:txBody>
          <a:bodyPr/>
          <a:lstStyle/>
          <a:p>
            <a:fld id="{BFDFC9F6-308E-4992-9054-1B44859AC27D}" type="slidenum">
              <a:rPr lang="en-US" smtClean="0"/>
              <a:t>‹#›</a:t>
            </a:fld>
            <a:endParaRPr lang="en-US"/>
          </a:p>
        </p:txBody>
      </p:sp>
    </p:spTree>
    <p:extLst>
      <p:ext uri="{BB962C8B-B14F-4D97-AF65-F5344CB8AC3E}">
        <p14:creationId xmlns:p14="http://schemas.microsoft.com/office/powerpoint/2010/main" val="2680091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760A2-FB69-D5D8-6274-37FABA22BC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2ADDB71-56EB-A846-9605-5F97A85422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2AD85B-16A7-89A8-49DC-BF396D011FC6}"/>
              </a:ext>
            </a:extLst>
          </p:cNvPr>
          <p:cNvSpPr>
            <a:spLocks noGrp="1"/>
          </p:cNvSpPr>
          <p:nvPr>
            <p:ph type="dt" sz="half" idx="10"/>
          </p:nvPr>
        </p:nvSpPr>
        <p:spPr/>
        <p:txBody>
          <a:bodyPr/>
          <a:lstStyle/>
          <a:p>
            <a:fld id="{938D6EB7-E864-453D-9C89-DB6D3DE735E5}" type="datetimeFigureOut">
              <a:rPr lang="en-US" smtClean="0"/>
              <a:t>9/24/2026</a:t>
            </a:fld>
            <a:endParaRPr lang="en-US"/>
          </a:p>
        </p:txBody>
      </p:sp>
      <p:sp>
        <p:nvSpPr>
          <p:cNvPr id="5" name="Footer Placeholder 4">
            <a:extLst>
              <a:ext uri="{FF2B5EF4-FFF2-40B4-BE49-F238E27FC236}">
                <a16:creationId xmlns:a16="http://schemas.microsoft.com/office/drawing/2014/main" id="{4E87B0E2-EC6A-DEA7-2ABA-B50066184B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83AC5C-4255-E0A7-BCBC-7E8BAF43EC62}"/>
              </a:ext>
            </a:extLst>
          </p:cNvPr>
          <p:cNvSpPr>
            <a:spLocks noGrp="1"/>
          </p:cNvSpPr>
          <p:nvPr>
            <p:ph type="sldNum" sz="quarter" idx="12"/>
          </p:nvPr>
        </p:nvSpPr>
        <p:spPr/>
        <p:txBody>
          <a:bodyPr/>
          <a:lstStyle/>
          <a:p>
            <a:fld id="{BFDFC9F6-308E-4992-9054-1B44859AC27D}" type="slidenum">
              <a:rPr lang="en-US" smtClean="0"/>
              <a:t>‹#›</a:t>
            </a:fld>
            <a:endParaRPr lang="en-US"/>
          </a:p>
        </p:txBody>
      </p:sp>
    </p:spTree>
    <p:extLst>
      <p:ext uri="{BB962C8B-B14F-4D97-AF65-F5344CB8AC3E}">
        <p14:creationId xmlns:p14="http://schemas.microsoft.com/office/powerpoint/2010/main" val="684105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F50D96-A09F-E167-5A19-8F9FE2714B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676D8EE-1415-ECD2-96F4-028CE1FA55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96CDF3-CF14-C92E-EEE6-627BAC386EBE}"/>
              </a:ext>
            </a:extLst>
          </p:cNvPr>
          <p:cNvSpPr>
            <a:spLocks noGrp="1"/>
          </p:cNvSpPr>
          <p:nvPr>
            <p:ph type="dt" sz="half" idx="10"/>
          </p:nvPr>
        </p:nvSpPr>
        <p:spPr/>
        <p:txBody>
          <a:bodyPr/>
          <a:lstStyle/>
          <a:p>
            <a:fld id="{938D6EB7-E864-453D-9C89-DB6D3DE735E5}" type="datetimeFigureOut">
              <a:rPr lang="en-US" smtClean="0"/>
              <a:t>9/24/2026</a:t>
            </a:fld>
            <a:endParaRPr lang="en-US"/>
          </a:p>
        </p:txBody>
      </p:sp>
      <p:sp>
        <p:nvSpPr>
          <p:cNvPr id="5" name="Footer Placeholder 4">
            <a:extLst>
              <a:ext uri="{FF2B5EF4-FFF2-40B4-BE49-F238E27FC236}">
                <a16:creationId xmlns:a16="http://schemas.microsoft.com/office/drawing/2014/main" id="{9A2AB323-03FB-9FD9-584E-528B043D04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4CD58D-8E68-AF74-7969-810B29F01BBD}"/>
              </a:ext>
            </a:extLst>
          </p:cNvPr>
          <p:cNvSpPr>
            <a:spLocks noGrp="1"/>
          </p:cNvSpPr>
          <p:nvPr>
            <p:ph type="sldNum" sz="quarter" idx="12"/>
          </p:nvPr>
        </p:nvSpPr>
        <p:spPr/>
        <p:txBody>
          <a:bodyPr/>
          <a:lstStyle/>
          <a:p>
            <a:fld id="{BFDFC9F6-308E-4992-9054-1B44859AC27D}" type="slidenum">
              <a:rPr lang="en-US" smtClean="0"/>
              <a:t>‹#›</a:t>
            </a:fld>
            <a:endParaRPr lang="en-US"/>
          </a:p>
        </p:txBody>
      </p:sp>
    </p:spTree>
    <p:extLst>
      <p:ext uri="{BB962C8B-B14F-4D97-AF65-F5344CB8AC3E}">
        <p14:creationId xmlns:p14="http://schemas.microsoft.com/office/powerpoint/2010/main" val="2948335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76024B-9043-833D-E0AD-B569FC0448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BA9F086-7AA8-77AC-1774-A939E13E2B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E6E63F-FD82-0A40-7A4E-CAFB6F2006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8D6EB7-E864-453D-9C89-DB6D3DE735E5}" type="datetimeFigureOut">
              <a:rPr lang="en-US" smtClean="0"/>
              <a:t>9/24/2026</a:t>
            </a:fld>
            <a:endParaRPr lang="en-US"/>
          </a:p>
        </p:txBody>
      </p:sp>
      <p:sp>
        <p:nvSpPr>
          <p:cNvPr id="5" name="Footer Placeholder 4">
            <a:extLst>
              <a:ext uri="{FF2B5EF4-FFF2-40B4-BE49-F238E27FC236}">
                <a16:creationId xmlns:a16="http://schemas.microsoft.com/office/drawing/2014/main" id="{7CCEC4CF-2ED8-CDAB-7866-AC6CA225C8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6AE6A74-B8AC-EDC6-BAD9-E46B6B82F9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DFC9F6-308E-4992-9054-1B44859AC27D}" type="slidenum">
              <a:rPr lang="en-US" smtClean="0"/>
              <a:t>‹#›</a:t>
            </a:fld>
            <a:endParaRPr lang="en-US"/>
          </a:p>
        </p:txBody>
      </p:sp>
    </p:spTree>
    <p:extLst>
      <p:ext uri="{BB962C8B-B14F-4D97-AF65-F5344CB8AC3E}">
        <p14:creationId xmlns:p14="http://schemas.microsoft.com/office/powerpoint/2010/main" val="9206463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hyperlink" Target="https://huggingface.co/spaces/mlabonne/ChessLFM"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huggingface.co/docs/transformers/model_doc/gpt2"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course:https://github.com/mohammedhemed77/Transformers-For-Everyone"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realpython.com/cheatsheets/python/" TargetMode="External"/><Relationship Id="rId2" Type="http://schemas.openxmlformats.org/officeDocument/2006/relationships/hyperlink" Target="https://github.com/mohammedhemed77/DL-Course-UDL-Book-Based-/blob/main/Implementations/Notebooks/pythonRev_important_Libs.ipynb"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D981B-B728-9AEF-79E0-C8F1C6A76C85}"/>
              </a:ext>
            </a:extLst>
          </p:cNvPr>
          <p:cNvSpPr>
            <a:spLocks noGrp="1"/>
          </p:cNvSpPr>
          <p:nvPr>
            <p:ph type="ctrTitle"/>
          </p:nvPr>
        </p:nvSpPr>
        <p:spPr/>
        <p:txBody>
          <a:bodyPr/>
          <a:lstStyle/>
          <a:p>
            <a:r>
              <a:rPr lang="en-US" dirty="0"/>
              <a:t>Transformers </a:t>
            </a:r>
          </a:p>
        </p:txBody>
      </p:sp>
      <p:sp>
        <p:nvSpPr>
          <p:cNvPr id="3" name="Subtitle 2">
            <a:extLst>
              <a:ext uri="{FF2B5EF4-FFF2-40B4-BE49-F238E27FC236}">
                <a16:creationId xmlns:a16="http://schemas.microsoft.com/office/drawing/2014/main" id="{3718328E-BD8B-7CF6-B27F-3D4D3EB974C4}"/>
              </a:ext>
            </a:extLst>
          </p:cNvPr>
          <p:cNvSpPr>
            <a:spLocks noGrp="1"/>
          </p:cNvSpPr>
          <p:nvPr>
            <p:ph type="subTitle" idx="1"/>
          </p:nvPr>
        </p:nvSpPr>
        <p:spPr/>
        <p:txBody>
          <a:bodyPr/>
          <a:lstStyle/>
          <a:p>
            <a:endParaRPr lang="en-US" dirty="0"/>
          </a:p>
          <a:p>
            <a:r>
              <a:rPr lang="en-US" dirty="0"/>
              <a:t>Eng  : Mohammed Sayed Hemed</a:t>
            </a:r>
          </a:p>
        </p:txBody>
      </p:sp>
    </p:spTree>
    <p:extLst>
      <p:ext uri="{BB962C8B-B14F-4D97-AF65-F5344CB8AC3E}">
        <p14:creationId xmlns:p14="http://schemas.microsoft.com/office/powerpoint/2010/main" val="2613183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itle 1">
            <a:extLst>
              <a:ext uri="{FF2B5EF4-FFF2-40B4-BE49-F238E27FC236}">
                <a16:creationId xmlns:a16="http://schemas.microsoft.com/office/drawing/2014/main" id="{2392B52F-7BE9-DF92-6EE1-10DA970D9586}"/>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5100" kern="1200" dirty="0">
                <a:solidFill>
                  <a:schemeClr val="tx1"/>
                </a:solidFill>
                <a:latin typeface="+mj-lt"/>
                <a:ea typeface="+mj-ea"/>
                <a:cs typeface="+mj-cs"/>
              </a:rPr>
              <a:t>Eng : Mohammed S. Hemed </a:t>
            </a:r>
          </a:p>
        </p:txBody>
      </p:sp>
      <p:sp>
        <p:nvSpPr>
          <p:cNvPr id="3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F545286A-C183-651F-98DB-60327920205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511" r="12490" b="2"/>
          <a:stretch>
            <a:fillRect/>
          </a:stretch>
        </p:blipFill>
        <p:spPr>
          <a:xfrm>
            <a:off x="5486380" y="640080"/>
            <a:ext cx="5550447" cy="5550408"/>
          </a:xfrm>
          <a:prstGeom prst="rect">
            <a:avLst/>
          </a:prstGeom>
        </p:spPr>
      </p:pic>
    </p:spTree>
    <p:extLst>
      <p:ext uri="{BB962C8B-B14F-4D97-AF65-F5344CB8AC3E}">
        <p14:creationId xmlns:p14="http://schemas.microsoft.com/office/powerpoint/2010/main" val="387617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B8BD61-09A0-D83C-7807-A2083804FE68}"/>
              </a:ext>
            </a:extLst>
          </p:cNvPr>
          <p:cNvSpPr>
            <a:spLocks noGrp="1"/>
          </p:cNvSpPr>
          <p:nvPr>
            <p:ph type="title"/>
          </p:nvPr>
        </p:nvSpPr>
        <p:spPr>
          <a:xfrm>
            <a:off x="1245072" y="1289765"/>
            <a:ext cx="3651101" cy="4270963"/>
          </a:xfrm>
        </p:spPr>
        <p:txBody>
          <a:bodyPr anchor="ctr">
            <a:normAutofit/>
          </a:bodyPr>
          <a:lstStyle/>
          <a:p>
            <a:pPr algn="ctr"/>
            <a:r>
              <a:rPr lang="en-US" sz="5600">
                <a:solidFill>
                  <a:srgbClr val="FFFFFF"/>
                </a:solidFill>
              </a:rPr>
              <a:t>Who I am ? </a:t>
            </a: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9D9858BF-B1E9-3063-957D-E0EDFC522C05}"/>
              </a:ext>
            </a:extLst>
          </p:cNvPr>
          <p:cNvSpPr>
            <a:spLocks noGrp="1"/>
          </p:cNvSpPr>
          <p:nvPr>
            <p:ph idx="1"/>
          </p:nvPr>
        </p:nvSpPr>
        <p:spPr>
          <a:xfrm>
            <a:off x="6297233" y="518400"/>
            <a:ext cx="4771607" cy="5837949"/>
          </a:xfrm>
        </p:spPr>
        <p:txBody>
          <a:bodyPr anchor="ctr">
            <a:normAutofit/>
          </a:bodyPr>
          <a:lstStyle/>
          <a:p>
            <a:pPr>
              <a:buFontTx/>
              <a:buChar char="-"/>
            </a:pPr>
            <a:r>
              <a:rPr lang="en-US" dirty="0">
                <a:solidFill>
                  <a:schemeClr val="tx1">
                    <a:alpha val="80000"/>
                  </a:schemeClr>
                </a:solidFill>
              </a:rPr>
              <a:t>AI Engineer love the field , and enjoy to teach and simplify it to the others</a:t>
            </a:r>
          </a:p>
          <a:p>
            <a:pPr>
              <a:buFontTx/>
              <a:buChar char="-"/>
            </a:pPr>
            <a:r>
              <a:rPr lang="en-US" dirty="0">
                <a:solidFill>
                  <a:schemeClr val="tx1">
                    <a:alpha val="80000"/>
                  </a:schemeClr>
                </a:solidFill>
              </a:rPr>
              <a:t>BSc of Computer Engineering – Suez Canal university </a:t>
            </a:r>
          </a:p>
          <a:p>
            <a:pPr>
              <a:buFontTx/>
              <a:buChar char="-"/>
            </a:pPr>
            <a:r>
              <a:rPr lang="en-US" dirty="0">
                <a:solidFill>
                  <a:schemeClr val="tx1">
                    <a:alpha val="80000"/>
                  </a:schemeClr>
                </a:solidFill>
              </a:rPr>
              <a:t>Post Graduate Diploma in CS – Cairo university  </a:t>
            </a:r>
          </a:p>
          <a:p>
            <a:pPr>
              <a:buFontTx/>
              <a:buChar char="-"/>
            </a:pPr>
            <a:endParaRPr lang="en-US" sz="2000" dirty="0">
              <a:solidFill>
                <a:schemeClr val="tx1">
                  <a:alpha val="80000"/>
                </a:schemeClr>
              </a:solidFill>
            </a:endParaRP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2008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024C62-DBA6-0049-195C-6FDFC73058BE}"/>
              </a:ext>
            </a:extLst>
          </p:cNvPr>
          <p:cNvSpPr>
            <a:spLocks noGrp="1"/>
          </p:cNvSpPr>
          <p:nvPr>
            <p:ph type="title"/>
          </p:nvPr>
        </p:nvSpPr>
        <p:spPr>
          <a:xfrm>
            <a:off x="1245072" y="1289765"/>
            <a:ext cx="3651101" cy="4270963"/>
          </a:xfrm>
        </p:spPr>
        <p:txBody>
          <a:bodyPr anchor="ctr">
            <a:normAutofit/>
          </a:bodyPr>
          <a:lstStyle/>
          <a:p>
            <a:pPr algn="ctr"/>
            <a:r>
              <a:rPr lang="en-US" sz="5600">
                <a:solidFill>
                  <a:srgbClr val="FFFFFF"/>
                </a:solidFill>
              </a:rPr>
              <a:t>Course Objectives 	</a:t>
            </a: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3BAAED44-BE80-93B3-C061-7ADFE59F5320}"/>
              </a:ext>
            </a:extLst>
          </p:cNvPr>
          <p:cNvSpPr>
            <a:spLocks noGrp="1"/>
          </p:cNvSpPr>
          <p:nvPr>
            <p:ph idx="1"/>
          </p:nvPr>
        </p:nvSpPr>
        <p:spPr>
          <a:xfrm>
            <a:off x="6297233" y="518400"/>
            <a:ext cx="4771607" cy="5837949"/>
          </a:xfrm>
        </p:spPr>
        <p:txBody>
          <a:bodyPr anchor="ctr">
            <a:normAutofit/>
          </a:bodyPr>
          <a:lstStyle/>
          <a:p>
            <a:r>
              <a:rPr lang="en-US" sz="1700" dirty="0">
                <a:solidFill>
                  <a:schemeClr val="tx1">
                    <a:alpha val="80000"/>
                  </a:schemeClr>
                </a:solidFill>
              </a:rPr>
              <a:t>Digest Transformers ,  HF , HF Hub. </a:t>
            </a:r>
          </a:p>
          <a:p>
            <a:r>
              <a:rPr lang="en-US" sz="1700" dirty="0">
                <a:solidFill>
                  <a:schemeClr val="tx1">
                    <a:alpha val="80000"/>
                  </a:schemeClr>
                </a:solidFill>
              </a:rPr>
              <a:t>How to search for model and use it ? </a:t>
            </a:r>
          </a:p>
          <a:p>
            <a:r>
              <a:rPr lang="en-US" sz="1700" dirty="0">
                <a:solidFill>
                  <a:schemeClr val="tx1">
                    <a:alpha val="80000"/>
                  </a:schemeClr>
                </a:solidFill>
              </a:rPr>
              <a:t>How to make your own model if it isn’t exist ?</a:t>
            </a:r>
          </a:p>
          <a:p>
            <a:r>
              <a:rPr lang="en-US" sz="1700" dirty="0">
                <a:solidFill>
                  <a:schemeClr val="tx1">
                    <a:alpha val="80000"/>
                  </a:schemeClr>
                </a:solidFill>
              </a:rPr>
              <a:t>How to search for dataset ? </a:t>
            </a:r>
          </a:p>
          <a:p>
            <a:r>
              <a:rPr lang="en-US" sz="1700" dirty="0">
                <a:solidFill>
                  <a:schemeClr val="tx1">
                    <a:alpha val="80000"/>
                  </a:schemeClr>
                </a:solidFill>
              </a:rPr>
              <a:t>How to make your own dataset if it isn’t exist ? </a:t>
            </a:r>
          </a:p>
          <a:p>
            <a:r>
              <a:rPr lang="en-US" sz="1700" dirty="0">
                <a:solidFill>
                  <a:schemeClr val="tx1">
                    <a:alpha val="80000"/>
                  </a:schemeClr>
                </a:solidFill>
              </a:rPr>
              <a:t>How to run any model (audio – image - text) with just two lines of Code? </a:t>
            </a:r>
          </a:p>
          <a:p>
            <a:r>
              <a:rPr lang="en-US" sz="1700" dirty="0">
                <a:solidFill>
                  <a:schemeClr val="tx1">
                    <a:alpha val="80000"/>
                  </a:schemeClr>
                </a:solidFill>
              </a:rPr>
              <a:t>What happened behind the scenes ? </a:t>
            </a:r>
          </a:p>
          <a:p>
            <a:r>
              <a:rPr lang="en-US" sz="1700" dirty="0">
                <a:solidFill>
                  <a:schemeClr val="tx1">
                    <a:alpha val="80000"/>
                  </a:schemeClr>
                </a:solidFill>
              </a:rPr>
              <a:t>What are Transformer different  Architectures?</a:t>
            </a:r>
          </a:p>
          <a:p>
            <a:r>
              <a:rPr lang="en-US" sz="1700" dirty="0">
                <a:solidFill>
                  <a:schemeClr val="tx1">
                    <a:alpha val="80000"/>
                  </a:schemeClr>
                </a:solidFill>
              </a:rPr>
              <a:t>How to Finetune pretrained model ?  </a:t>
            </a:r>
          </a:p>
          <a:p>
            <a:r>
              <a:rPr lang="en-US" sz="1700" dirty="0">
                <a:solidFill>
                  <a:schemeClr val="tx1">
                    <a:alpha val="80000"/>
                  </a:schemeClr>
                </a:solidFill>
              </a:rPr>
              <a:t>How to Finetune LLMs ?</a:t>
            </a:r>
          </a:p>
          <a:p>
            <a:r>
              <a:rPr lang="en-US" sz="1700" dirty="0">
                <a:solidFill>
                  <a:schemeClr val="tx1">
                    <a:alpha val="80000"/>
                  </a:schemeClr>
                </a:solidFill>
              </a:rPr>
              <a:t>How to understand model learning curves ? </a:t>
            </a:r>
          </a:p>
          <a:p>
            <a:r>
              <a:rPr lang="en-US" sz="1700" dirty="0">
                <a:solidFill>
                  <a:schemeClr val="tx1">
                    <a:alpha val="80000"/>
                  </a:schemeClr>
                </a:solidFill>
              </a:rPr>
              <a:t>Mainly, this course is tailored to your interests, </a:t>
            </a:r>
          </a:p>
          <a:p>
            <a:pPr marL="0" indent="0">
              <a:buNone/>
            </a:pPr>
            <a:r>
              <a:rPr lang="en-US" sz="1700" b="1" dirty="0">
                <a:solidFill>
                  <a:schemeClr val="tx1">
                    <a:alpha val="80000"/>
                  </a:schemeClr>
                </a:solidFill>
              </a:rPr>
              <a:t>Depending on you</a:t>
            </a:r>
            <a:r>
              <a:rPr lang="en-US" sz="1700" dirty="0">
                <a:solidFill>
                  <a:schemeClr val="tx1">
                    <a:alpha val="80000"/>
                  </a:schemeClr>
                </a:solidFill>
              </a:rPr>
              <a:t>, we will determine the depth and breadth of what we dive.</a:t>
            </a: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6742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5AA2BC-C855-8F26-7AD2-8AF3B64CF079}"/>
              </a:ext>
            </a:extLst>
          </p:cNvPr>
          <p:cNvSpPr>
            <a:spLocks noGrp="1"/>
          </p:cNvSpPr>
          <p:nvPr>
            <p:ph type="title"/>
          </p:nvPr>
        </p:nvSpPr>
        <p:spPr>
          <a:xfrm>
            <a:off x="1245072" y="1289765"/>
            <a:ext cx="3651101" cy="4270963"/>
          </a:xfrm>
        </p:spPr>
        <p:txBody>
          <a:bodyPr anchor="ctr">
            <a:normAutofit/>
          </a:bodyPr>
          <a:lstStyle/>
          <a:p>
            <a:pPr algn="ctr"/>
            <a:r>
              <a:rPr lang="en-US" sz="4000" dirty="0">
                <a:solidFill>
                  <a:srgbClr val="FFFFFF"/>
                </a:solidFill>
              </a:rPr>
              <a:t>Prerequisites</a:t>
            </a:r>
            <a:r>
              <a:rPr lang="en-US" sz="5600" dirty="0">
                <a:solidFill>
                  <a:srgbClr val="FFFFFF"/>
                </a:solidFill>
              </a:rPr>
              <a:t> </a:t>
            </a: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7CDC596B-25A6-B60A-F888-392BFDC22C14}"/>
              </a:ext>
            </a:extLst>
          </p:cNvPr>
          <p:cNvSpPr>
            <a:spLocks noGrp="1"/>
          </p:cNvSpPr>
          <p:nvPr>
            <p:ph idx="1"/>
          </p:nvPr>
        </p:nvSpPr>
        <p:spPr>
          <a:xfrm>
            <a:off x="6297233" y="518400"/>
            <a:ext cx="4771607" cy="5837949"/>
          </a:xfrm>
        </p:spPr>
        <p:txBody>
          <a:bodyPr anchor="ctr">
            <a:normAutofit/>
          </a:bodyPr>
          <a:lstStyle/>
          <a:p>
            <a:r>
              <a:rPr lang="en-US" dirty="0">
                <a:solidFill>
                  <a:schemeClr val="tx1">
                    <a:alpha val="80000"/>
                  </a:schemeClr>
                </a:solidFill>
              </a:rPr>
              <a:t>What is the building block of DL Model ? Tensors </a:t>
            </a:r>
          </a:p>
          <a:p>
            <a:r>
              <a:rPr lang="en-US" dirty="0">
                <a:solidFill>
                  <a:schemeClr val="tx1">
                    <a:alpha val="80000"/>
                  </a:schemeClr>
                </a:solidFill>
              </a:rPr>
              <a:t>Familiarity with Python language , </a:t>
            </a:r>
            <a:r>
              <a:rPr lang="en-US" dirty="0" err="1">
                <a:solidFill>
                  <a:schemeClr val="tx1">
                    <a:alpha val="80000"/>
                  </a:schemeClr>
                </a:solidFill>
              </a:rPr>
              <a:t>Pytorch</a:t>
            </a:r>
            <a:r>
              <a:rPr lang="en-US" dirty="0">
                <a:solidFill>
                  <a:schemeClr val="tx1">
                    <a:alpha val="80000"/>
                  </a:schemeClr>
                </a:solidFill>
              </a:rPr>
              <a:t> DL framework. </a:t>
            </a:r>
          </a:p>
          <a:p>
            <a:endParaRPr lang="en-US" dirty="0">
              <a:solidFill>
                <a:schemeClr val="tx1">
                  <a:alpha val="80000"/>
                </a:schemeClr>
              </a:solidFill>
            </a:endParaRPr>
          </a:p>
          <a:p>
            <a:pPr marL="0" indent="0">
              <a:buNone/>
            </a:pPr>
            <a:r>
              <a:rPr lang="en-US" dirty="0">
                <a:solidFill>
                  <a:schemeClr val="tx1">
                    <a:alpha val="80000"/>
                  </a:schemeClr>
                </a:solidFill>
              </a:rPr>
              <a:t> </a:t>
            </a: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6394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FC6E3-EB0B-EAD1-6F80-97A639E576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8D0F97-A16D-E35F-CDFF-04A3C8642D6C}"/>
              </a:ext>
            </a:extLst>
          </p:cNvPr>
          <p:cNvSpPr>
            <a:spLocks noGrp="1"/>
          </p:cNvSpPr>
          <p:nvPr>
            <p:ph type="title"/>
          </p:nvPr>
        </p:nvSpPr>
        <p:spPr/>
        <p:txBody>
          <a:bodyPr/>
          <a:lstStyle/>
          <a:p>
            <a:r>
              <a:rPr lang="en-US" dirty="0"/>
              <a:t>What is Hugging Face look like ? </a:t>
            </a:r>
          </a:p>
        </p:txBody>
      </p:sp>
      <p:sp>
        <p:nvSpPr>
          <p:cNvPr id="3" name="Content Placeholder 2">
            <a:extLst>
              <a:ext uri="{FF2B5EF4-FFF2-40B4-BE49-F238E27FC236}">
                <a16:creationId xmlns:a16="http://schemas.microsoft.com/office/drawing/2014/main" id="{3C15DC65-61E6-AAC5-6E61-8A58E8AA8662}"/>
              </a:ext>
            </a:extLst>
          </p:cNvPr>
          <p:cNvSpPr>
            <a:spLocks noGrp="1"/>
          </p:cNvSpPr>
          <p:nvPr>
            <p:ph idx="1"/>
          </p:nvPr>
        </p:nvSpPr>
        <p:spPr/>
        <p:txBody>
          <a:bodyPr/>
          <a:lstStyle/>
          <a:p>
            <a:r>
              <a:rPr lang="en-US" dirty="0"/>
              <a:t>It’s look like the Arduino platform which make embedded system and electronics available to anyone with no pre-requisites.</a:t>
            </a:r>
          </a:p>
          <a:p>
            <a:r>
              <a:rPr lang="en-US" dirty="0"/>
              <a:t>It give a strong tool at any field to non specialist in the AI to get the most benefit from these models to help them in other fields like medicine , industry , … etc. </a:t>
            </a:r>
          </a:p>
          <a:p>
            <a:r>
              <a:rPr lang="en-US" dirty="0"/>
              <a:t>Just make an account on HF you enjoy millions of free models you can use and deploy it , huge number of datasets , and a space through it you can host and display your own model.</a:t>
            </a:r>
          </a:p>
        </p:txBody>
      </p:sp>
    </p:spTree>
    <p:extLst>
      <p:ext uri="{BB962C8B-B14F-4D97-AF65-F5344CB8AC3E}">
        <p14:creationId xmlns:p14="http://schemas.microsoft.com/office/powerpoint/2010/main" val="2857310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7B2EC-7BFA-ADD0-DE56-7D9DEDFE94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60163A-B4D1-AE39-34A1-4713963D4CCB}"/>
              </a:ext>
            </a:extLst>
          </p:cNvPr>
          <p:cNvSpPr>
            <a:spLocks noGrp="1"/>
          </p:cNvSpPr>
          <p:nvPr>
            <p:ph type="title"/>
          </p:nvPr>
        </p:nvSpPr>
        <p:spPr/>
        <p:txBody>
          <a:bodyPr/>
          <a:lstStyle/>
          <a:p>
            <a:r>
              <a:rPr lang="en-US"/>
              <a:t>Hugging Face turn Transformers into LEGO !! </a:t>
            </a:r>
            <a:endParaRPr lang="en-US" dirty="0"/>
          </a:p>
        </p:txBody>
      </p:sp>
      <p:pic>
        <p:nvPicPr>
          <p:cNvPr id="5" name="Content Placeholder 4">
            <a:extLst>
              <a:ext uri="{FF2B5EF4-FFF2-40B4-BE49-F238E27FC236}">
                <a16:creationId xmlns:a16="http://schemas.microsoft.com/office/drawing/2014/main" id="{08C380EB-A580-384B-A4A7-B28E007CF11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10517" y="1825625"/>
            <a:ext cx="7970966" cy="4351338"/>
          </a:xfrm>
          <a:prstGeom prst="rect">
            <a:avLst/>
          </a:prstGeom>
        </p:spPr>
      </p:pic>
    </p:spTree>
    <p:extLst>
      <p:ext uri="{BB962C8B-B14F-4D97-AF65-F5344CB8AC3E}">
        <p14:creationId xmlns:p14="http://schemas.microsoft.com/office/powerpoint/2010/main" val="87210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27EA4-13D4-2B02-90E1-6E6F5E649C84}"/>
              </a:ext>
            </a:extLst>
          </p:cNvPr>
          <p:cNvSpPr>
            <a:spLocks noGrp="1"/>
          </p:cNvSpPr>
          <p:nvPr>
            <p:ph type="title"/>
          </p:nvPr>
        </p:nvSpPr>
        <p:spPr/>
        <p:txBody>
          <a:bodyPr/>
          <a:lstStyle/>
          <a:p>
            <a:pPr algn="ctr"/>
            <a:r>
              <a:rPr lang="en-US" dirty="0"/>
              <a:t>This is The AI Arduino platform ! </a:t>
            </a:r>
          </a:p>
        </p:txBody>
      </p:sp>
      <p:pic>
        <p:nvPicPr>
          <p:cNvPr id="5" name="Content Placeholder 4">
            <a:extLst>
              <a:ext uri="{FF2B5EF4-FFF2-40B4-BE49-F238E27FC236}">
                <a16:creationId xmlns:a16="http://schemas.microsoft.com/office/drawing/2014/main" id="{FC8A7BBB-AF54-9FBA-323C-82BEAFDCFCD6}"/>
              </a:ext>
            </a:extLst>
          </p:cNvPr>
          <p:cNvPicPr>
            <a:picLocks noGrp="1" noChangeAspect="1"/>
          </p:cNvPicPr>
          <p:nvPr>
            <p:ph idx="1"/>
          </p:nvPr>
        </p:nvPicPr>
        <p:blipFill>
          <a:blip r:embed="rId2"/>
          <a:stretch>
            <a:fillRect/>
          </a:stretch>
        </p:blipFill>
        <p:spPr>
          <a:xfrm>
            <a:off x="1584409" y="1571139"/>
            <a:ext cx="9023182" cy="4921736"/>
          </a:xfrm>
          <a:prstGeom prst="rect">
            <a:avLst/>
          </a:prstGeom>
        </p:spPr>
      </p:pic>
    </p:spTree>
    <p:extLst>
      <p:ext uri="{BB962C8B-B14F-4D97-AF65-F5344CB8AC3E}">
        <p14:creationId xmlns:p14="http://schemas.microsoft.com/office/powerpoint/2010/main" val="230272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9BD5EF-2F80-E3BB-751B-8DFEF3997B6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2BBB5D-B3C3-39B9-26A2-C94E38D658ED}"/>
              </a:ext>
            </a:extLst>
          </p:cNvPr>
          <p:cNvSpPr>
            <a:spLocks noGrp="1"/>
          </p:cNvSpPr>
          <p:nvPr>
            <p:ph type="title"/>
          </p:nvPr>
        </p:nvSpPr>
        <p:spPr>
          <a:xfrm>
            <a:off x="1245072" y="1289765"/>
            <a:ext cx="3651101" cy="4270963"/>
          </a:xfrm>
        </p:spPr>
        <p:txBody>
          <a:bodyPr anchor="ctr">
            <a:normAutofit/>
          </a:bodyPr>
          <a:lstStyle/>
          <a:p>
            <a:pPr algn="ctr"/>
            <a:r>
              <a:rPr lang="en-US" sz="5600">
                <a:solidFill>
                  <a:srgbClr val="FFFFFF"/>
                </a:solidFill>
              </a:rPr>
              <a:t>What is Hugging Face ? </a:t>
            </a: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8F1935AE-3F0F-7C03-CA73-3AAFA4F610F5}"/>
              </a:ext>
            </a:extLst>
          </p:cNvPr>
          <p:cNvSpPr>
            <a:spLocks noGrp="1"/>
          </p:cNvSpPr>
          <p:nvPr>
            <p:ph idx="1"/>
          </p:nvPr>
        </p:nvSpPr>
        <p:spPr>
          <a:xfrm>
            <a:off x="6297233" y="518400"/>
            <a:ext cx="4771607" cy="5837949"/>
          </a:xfrm>
        </p:spPr>
        <p:txBody>
          <a:bodyPr anchor="ctr">
            <a:normAutofit lnSpcReduction="10000"/>
          </a:bodyPr>
          <a:lstStyle/>
          <a:p>
            <a:r>
              <a:rPr lang="en-US" sz="1600" b="1" dirty="0">
                <a:solidFill>
                  <a:schemeClr val="tx1">
                    <a:alpha val="80000"/>
                  </a:schemeClr>
                </a:solidFill>
              </a:rPr>
              <a:t>The GitHub for Machine Learning &amp; AI Collaboration</a:t>
            </a:r>
          </a:p>
          <a:p>
            <a:pPr lvl="0"/>
            <a:endParaRPr lang="en-US" sz="1600" b="1" dirty="0">
              <a:solidFill>
                <a:schemeClr val="tx1">
                  <a:alpha val="80000"/>
                </a:schemeClr>
              </a:solidFill>
            </a:endParaRPr>
          </a:p>
          <a:p>
            <a:pPr lvl="0"/>
            <a:r>
              <a:rPr lang="en-US" sz="1600" b="1" dirty="0">
                <a:solidFill>
                  <a:schemeClr val="tx1">
                    <a:alpha val="80000"/>
                  </a:schemeClr>
                </a:solidFill>
              </a:rPr>
              <a:t>Centralized AI Repository</a:t>
            </a:r>
            <a:endParaRPr lang="en-US" sz="1600" dirty="0">
              <a:solidFill>
                <a:schemeClr val="tx1">
                  <a:alpha val="80000"/>
                </a:schemeClr>
              </a:solidFill>
            </a:endParaRPr>
          </a:p>
          <a:p>
            <a:pPr lvl="1"/>
            <a:r>
              <a:rPr lang="en-US" sz="1600" dirty="0">
                <a:solidFill>
                  <a:schemeClr val="tx1">
                    <a:alpha val="80000"/>
                  </a:schemeClr>
                </a:solidFill>
              </a:rPr>
              <a:t>Hosts open-access </a:t>
            </a:r>
            <a:r>
              <a:rPr lang="en-US" sz="1600" b="1" dirty="0">
                <a:solidFill>
                  <a:schemeClr val="tx1">
                    <a:alpha val="80000"/>
                  </a:schemeClr>
                </a:solidFill>
              </a:rPr>
              <a:t>Models</a:t>
            </a:r>
            <a:r>
              <a:rPr lang="en-US" sz="1600" dirty="0">
                <a:solidFill>
                  <a:schemeClr val="tx1">
                    <a:alpha val="80000"/>
                  </a:schemeClr>
                </a:solidFill>
              </a:rPr>
              <a:t>, </a:t>
            </a:r>
            <a:r>
              <a:rPr lang="en-US" sz="1600" b="1" dirty="0">
                <a:solidFill>
                  <a:schemeClr val="tx1">
                    <a:alpha val="80000"/>
                  </a:schemeClr>
                </a:solidFill>
              </a:rPr>
              <a:t>Datasets</a:t>
            </a:r>
            <a:r>
              <a:rPr lang="en-US" sz="1600" dirty="0">
                <a:solidFill>
                  <a:schemeClr val="tx1">
                    <a:alpha val="80000"/>
                  </a:schemeClr>
                </a:solidFill>
              </a:rPr>
              <a:t>, and </a:t>
            </a:r>
            <a:r>
              <a:rPr lang="en-US" sz="1600" b="1" dirty="0">
                <a:solidFill>
                  <a:schemeClr val="tx1">
                    <a:alpha val="80000"/>
                  </a:schemeClr>
                </a:solidFill>
              </a:rPr>
              <a:t>ML Applications</a:t>
            </a:r>
            <a:r>
              <a:rPr lang="en-US" sz="1600" dirty="0">
                <a:solidFill>
                  <a:schemeClr val="tx1">
                    <a:alpha val="80000"/>
                  </a:schemeClr>
                </a:solidFill>
              </a:rPr>
              <a:t> (Spaces) in one place.</a:t>
            </a:r>
          </a:p>
          <a:p>
            <a:pPr lvl="0"/>
            <a:r>
              <a:rPr lang="en-US" sz="1600" b="1" dirty="0">
                <a:solidFill>
                  <a:schemeClr val="tx1">
                    <a:alpha val="80000"/>
                  </a:schemeClr>
                </a:solidFill>
              </a:rPr>
              <a:t>Core Pillar Assets</a:t>
            </a:r>
            <a:endParaRPr lang="en-US" sz="1600" dirty="0">
              <a:solidFill>
                <a:schemeClr val="tx1">
                  <a:alpha val="80000"/>
                </a:schemeClr>
              </a:solidFill>
            </a:endParaRPr>
          </a:p>
          <a:p>
            <a:pPr lvl="1"/>
            <a:r>
              <a:rPr lang="en-US" sz="1600" b="1" dirty="0">
                <a:solidFill>
                  <a:schemeClr val="tx1">
                    <a:alpha val="80000"/>
                  </a:schemeClr>
                </a:solidFill>
              </a:rPr>
              <a:t>Model Hub:</a:t>
            </a:r>
            <a:r>
              <a:rPr lang="en-US" sz="1600" dirty="0">
                <a:solidFill>
                  <a:schemeClr val="tx1">
                    <a:alpha val="80000"/>
                  </a:schemeClr>
                </a:solidFill>
              </a:rPr>
              <a:t> over 3M pre-trained models (LLMs, Computer Vision, Audio, Multimodal).</a:t>
            </a:r>
          </a:p>
          <a:p>
            <a:pPr lvl="1"/>
            <a:r>
              <a:rPr lang="en-US" sz="1600" b="1" dirty="0">
                <a:solidFill>
                  <a:schemeClr val="tx1">
                    <a:alpha val="80000"/>
                  </a:schemeClr>
                </a:solidFill>
              </a:rPr>
              <a:t>Dataset Hub:</a:t>
            </a:r>
            <a:r>
              <a:rPr lang="en-US" sz="1600" dirty="0">
                <a:solidFill>
                  <a:schemeClr val="tx1">
                    <a:alpha val="80000"/>
                  </a:schemeClr>
                </a:solidFill>
              </a:rPr>
              <a:t> Thousands of curated, community-driven datasets for training and benchmarking.</a:t>
            </a:r>
          </a:p>
          <a:p>
            <a:pPr lvl="1"/>
            <a:r>
              <a:rPr lang="en-US" sz="1600" b="1" dirty="0">
                <a:solidFill>
                  <a:schemeClr val="tx1">
                    <a:alpha val="80000"/>
                  </a:schemeClr>
                </a:solidFill>
              </a:rPr>
              <a:t>Spaces:</a:t>
            </a:r>
            <a:r>
              <a:rPr lang="en-US" sz="1600" dirty="0">
                <a:solidFill>
                  <a:schemeClr val="tx1">
                    <a:alpha val="80000"/>
                  </a:schemeClr>
                </a:solidFill>
              </a:rPr>
              <a:t> Interactive web applications and demos built with </a:t>
            </a:r>
            <a:r>
              <a:rPr lang="en-US" sz="1600" dirty="0" err="1">
                <a:solidFill>
                  <a:schemeClr val="tx1">
                    <a:alpha val="80000"/>
                  </a:schemeClr>
                </a:solidFill>
              </a:rPr>
              <a:t>Streamlit</a:t>
            </a:r>
            <a:r>
              <a:rPr lang="en-US" sz="1600" dirty="0">
                <a:solidFill>
                  <a:schemeClr val="tx1">
                    <a:alpha val="80000"/>
                  </a:schemeClr>
                </a:solidFill>
              </a:rPr>
              <a:t> or </a:t>
            </a:r>
            <a:r>
              <a:rPr lang="en-US" sz="1600" dirty="0" err="1">
                <a:solidFill>
                  <a:schemeClr val="tx1">
                    <a:alpha val="80000"/>
                  </a:schemeClr>
                </a:solidFill>
              </a:rPr>
              <a:t>Gradio</a:t>
            </a:r>
            <a:r>
              <a:rPr lang="en-US" sz="1600" dirty="0">
                <a:solidFill>
                  <a:schemeClr val="tx1">
                    <a:alpha val="80000"/>
                  </a:schemeClr>
                </a:solidFill>
              </a:rPr>
              <a:t> to showcase models.</a:t>
            </a:r>
          </a:p>
          <a:p>
            <a:pPr lvl="0"/>
            <a:r>
              <a:rPr lang="en-US" sz="1600" b="1" dirty="0">
                <a:solidFill>
                  <a:schemeClr val="tx1">
                    <a:alpha val="80000"/>
                  </a:schemeClr>
                </a:solidFill>
              </a:rPr>
              <a:t>Version Control &amp; Collaboration</a:t>
            </a:r>
            <a:endParaRPr lang="en-US" sz="1600" dirty="0">
              <a:solidFill>
                <a:schemeClr val="tx1">
                  <a:alpha val="80000"/>
                </a:schemeClr>
              </a:solidFill>
            </a:endParaRPr>
          </a:p>
          <a:p>
            <a:pPr lvl="1"/>
            <a:r>
              <a:rPr lang="en-US" sz="1600" dirty="0">
                <a:solidFill>
                  <a:schemeClr val="tx1">
                    <a:alpha val="80000"/>
                  </a:schemeClr>
                </a:solidFill>
              </a:rPr>
              <a:t>Powered by </a:t>
            </a:r>
            <a:r>
              <a:rPr lang="en-US" sz="1600" b="1" dirty="0">
                <a:solidFill>
                  <a:schemeClr val="tx1">
                    <a:alpha val="80000"/>
                  </a:schemeClr>
                </a:solidFill>
              </a:rPr>
              <a:t>Git &amp; Git LFS</a:t>
            </a:r>
            <a:r>
              <a:rPr lang="en-US" sz="1600" dirty="0">
                <a:solidFill>
                  <a:schemeClr val="tx1">
                    <a:alpha val="80000"/>
                  </a:schemeClr>
                </a:solidFill>
              </a:rPr>
              <a:t> to manage large model weights, tracks changes, and enable branch-based collaboration.</a:t>
            </a:r>
          </a:p>
          <a:p>
            <a:pPr lvl="0"/>
            <a:r>
              <a:rPr lang="en-US" sz="1600" b="1" dirty="0">
                <a:solidFill>
                  <a:schemeClr val="tx1">
                    <a:alpha val="80000"/>
                  </a:schemeClr>
                </a:solidFill>
              </a:rPr>
              <a:t>Seamless Ecosystem Integration</a:t>
            </a:r>
            <a:endParaRPr lang="en-US" sz="1600" dirty="0">
              <a:solidFill>
                <a:schemeClr val="tx1">
                  <a:alpha val="80000"/>
                </a:schemeClr>
              </a:solidFill>
            </a:endParaRPr>
          </a:p>
          <a:p>
            <a:pPr lvl="1"/>
            <a:r>
              <a:rPr lang="en-US" sz="1600" dirty="0">
                <a:solidFill>
                  <a:schemeClr val="tx1">
                    <a:alpha val="80000"/>
                  </a:schemeClr>
                </a:solidFill>
              </a:rPr>
              <a:t>Natively integrates with major ML libraries (transformers, diffusers, </a:t>
            </a:r>
            <a:r>
              <a:rPr lang="en-US" sz="1600" dirty="0" err="1">
                <a:solidFill>
                  <a:schemeClr val="tx1">
                    <a:alpha val="80000"/>
                  </a:schemeClr>
                </a:solidFill>
              </a:rPr>
              <a:t>PyTorch</a:t>
            </a:r>
            <a:r>
              <a:rPr lang="en-US" sz="1600" dirty="0">
                <a:solidFill>
                  <a:schemeClr val="tx1">
                    <a:alpha val="80000"/>
                  </a:schemeClr>
                </a:solidFill>
              </a:rPr>
              <a:t>, TensorFlow, </a:t>
            </a:r>
            <a:r>
              <a:rPr lang="en-US" sz="1600" dirty="0" err="1">
                <a:solidFill>
                  <a:schemeClr val="tx1">
                    <a:alpha val="80000"/>
                  </a:schemeClr>
                </a:solidFill>
              </a:rPr>
              <a:t>vLLM</a:t>
            </a:r>
            <a:r>
              <a:rPr lang="en-US" sz="1600" dirty="0">
                <a:solidFill>
                  <a:schemeClr val="tx1">
                    <a:alpha val="80000"/>
                  </a:schemeClr>
                </a:solidFill>
              </a:rPr>
              <a:t>).</a:t>
            </a:r>
          </a:p>
          <a:p>
            <a:endParaRPr lang="en-US" sz="1600" dirty="0">
              <a:solidFill>
                <a:schemeClr val="tx1">
                  <a:alpha val="80000"/>
                </a:schemeClr>
              </a:solidFill>
            </a:endParaRP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8458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AD133-5009-E28C-0D48-9D0471DA55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41A49D-ADF8-032E-F656-8EC1BFA38CE5}"/>
              </a:ext>
            </a:extLst>
          </p:cNvPr>
          <p:cNvSpPr>
            <a:spLocks noGrp="1"/>
          </p:cNvSpPr>
          <p:nvPr>
            <p:ph type="title"/>
          </p:nvPr>
        </p:nvSpPr>
        <p:spPr/>
        <p:txBody>
          <a:bodyPr/>
          <a:lstStyle/>
          <a:p>
            <a:pPr algn="ctr"/>
            <a:r>
              <a:rPr lang="en-US" dirty="0"/>
              <a:t>What is Hugging Face HUB 	</a:t>
            </a:r>
          </a:p>
        </p:txBody>
      </p:sp>
      <p:pic>
        <p:nvPicPr>
          <p:cNvPr id="5" name="Content Placeholder 4">
            <a:extLst>
              <a:ext uri="{FF2B5EF4-FFF2-40B4-BE49-F238E27FC236}">
                <a16:creationId xmlns:a16="http://schemas.microsoft.com/office/drawing/2014/main" id="{EF56B98D-BC0F-42F7-2B33-1E7A12A3EE0A}"/>
              </a:ext>
            </a:extLst>
          </p:cNvPr>
          <p:cNvPicPr>
            <a:picLocks noGrp="1" noChangeAspect="1"/>
          </p:cNvPicPr>
          <p:nvPr>
            <p:ph idx="1"/>
          </p:nvPr>
        </p:nvPicPr>
        <p:blipFill>
          <a:blip r:embed="rId2"/>
          <a:stretch>
            <a:fillRect/>
          </a:stretch>
        </p:blipFill>
        <p:spPr>
          <a:xfrm>
            <a:off x="1906488" y="1825625"/>
            <a:ext cx="8379023" cy="4351338"/>
          </a:xfrm>
          <a:prstGeom prst="rect">
            <a:avLst/>
          </a:prstGeom>
        </p:spPr>
      </p:pic>
    </p:spTree>
    <p:extLst>
      <p:ext uri="{BB962C8B-B14F-4D97-AF65-F5344CB8AC3E}">
        <p14:creationId xmlns:p14="http://schemas.microsoft.com/office/powerpoint/2010/main" val="2705667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48802-E87C-DB03-CDFB-02E739E82AF2}"/>
              </a:ext>
            </a:extLst>
          </p:cNvPr>
          <p:cNvSpPr>
            <a:spLocks noGrp="1"/>
          </p:cNvSpPr>
          <p:nvPr>
            <p:ph type="title"/>
          </p:nvPr>
        </p:nvSpPr>
        <p:spPr/>
        <p:txBody>
          <a:bodyPr/>
          <a:lstStyle/>
          <a:p>
            <a:pPr algn="ctr"/>
            <a:r>
              <a:rPr lang="en-US" dirty="0"/>
              <a:t>Chess AI Model !! </a:t>
            </a:r>
          </a:p>
        </p:txBody>
      </p:sp>
      <p:pic>
        <p:nvPicPr>
          <p:cNvPr id="5" name="Content Placeholder 4" descr="ChessLFM">
            <a:extLst>
              <a:ext uri="{FF2B5EF4-FFF2-40B4-BE49-F238E27FC236}">
                <a16:creationId xmlns:a16="http://schemas.microsoft.com/office/drawing/2014/main" id="{9E4594F2-B68D-A3EA-E5C6-22F8A8B88EE6}"/>
              </a:ext>
            </a:extLst>
          </p:cNvPr>
          <p:cNvPicPr>
            <a:picLocks noGrp="1" noChangeAspect="1"/>
          </p:cNvPicPr>
          <p:nvPr>
            <p:ph idx="1"/>
          </p:nvPr>
        </p:nvPicPr>
        <p:blipFill>
          <a:blip r:embed="rId2"/>
          <a:stretch>
            <a:fillRect/>
          </a:stretch>
        </p:blipFill>
        <p:spPr>
          <a:xfrm>
            <a:off x="2228144" y="1825625"/>
            <a:ext cx="7735711" cy="4351338"/>
          </a:xfrm>
          <a:prstGeom prst="rect">
            <a:avLst/>
          </a:prstGeom>
        </p:spPr>
      </p:pic>
    </p:spTree>
    <p:extLst>
      <p:ext uri="{BB962C8B-B14F-4D97-AF65-F5344CB8AC3E}">
        <p14:creationId xmlns:p14="http://schemas.microsoft.com/office/powerpoint/2010/main" val="1271206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32078-9589-7FD9-2C98-96F995365E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106CAE-AE15-4030-8225-BAB497371930}"/>
              </a:ext>
            </a:extLst>
          </p:cNvPr>
          <p:cNvSpPr>
            <a:spLocks noGrp="1"/>
          </p:cNvSpPr>
          <p:nvPr>
            <p:ph type="title"/>
          </p:nvPr>
        </p:nvSpPr>
        <p:spPr>
          <a:xfrm>
            <a:off x="630936" y="640080"/>
            <a:ext cx="4818888" cy="1481328"/>
          </a:xfrm>
        </p:spPr>
        <p:txBody>
          <a:bodyPr vert="horz" lIns="91440" tIns="45720" rIns="91440" bIns="45720" rtlCol="0" anchor="b">
            <a:normAutofit/>
          </a:bodyPr>
          <a:lstStyle/>
          <a:p>
            <a:r>
              <a:rPr lang="en-US" sz="5000" kern="1200">
                <a:solidFill>
                  <a:schemeClr val="tx1"/>
                </a:solidFill>
                <a:latin typeface="+mj-lt"/>
                <a:ea typeface="+mj-ea"/>
                <a:cs typeface="+mj-cs"/>
              </a:rPr>
              <a:t>Chess AI Model !! </a:t>
            </a:r>
          </a:p>
        </p:txBody>
      </p:sp>
      <p:sp>
        <p:nvSpPr>
          <p:cNvPr id="7" name="TextBox 6">
            <a:extLst>
              <a:ext uri="{FF2B5EF4-FFF2-40B4-BE49-F238E27FC236}">
                <a16:creationId xmlns:a16="http://schemas.microsoft.com/office/drawing/2014/main" id="{E45023D4-2B17-9432-5527-8B86973561DF}"/>
              </a:ext>
            </a:extLst>
          </p:cNvPr>
          <p:cNvSpPr txBox="1"/>
          <p:nvPr/>
        </p:nvSpPr>
        <p:spPr>
          <a:xfrm>
            <a:off x="630936" y="2660904"/>
            <a:ext cx="4818888" cy="3547872"/>
          </a:xfrm>
          <a:prstGeom prst="rect">
            <a:avLst/>
          </a:prstGeom>
        </p:spPr>
        <p:txBody>
          <a:bodyPr vert="horz" lIns="91440" tIns="45720" rIns="91440" bIns="45720" rtlCol="0" anchor="t">
            <a:normAutofit/>
          </a:bodyPr>
          <a:lstStyle/>
          <a:p>
            <a:pPr marL="285750" indent="-228600">
              <a:lnSpc>
                <a:spcPct val="90000"/>
              </a:lnSpc>
              <a:spcAft>
                <a:spcPts val="600"/>
              </a:spcAft>
              <a:buFont typeface="Arial" panose="020B0604020202020204" pitchFamily="34" charset="0"/>
              <a:buChar char="•"/>
            </a:pPr>
            <a:r>
              <a:rPr lang="en-US" sz="1900" dirty="0"/>
              <a:t>This Model plays like 2000+ rating player which is difficult to beat.</a:t>
            </a:r>
          </a:p>
          <a:p>
            <a:pPr marL="285750" indent="-228600">
              <a:lnSpc>
                <a:spcPct val="90000"/>
              </a:lnSpc>
              <a:spcAft>
                <a:spcPts val="600"/>
              </a:spcAft>
              <a:buFont typeface="Arial" panose="020B0604020202020204" pitchFamily="34" charset="0"/>
              <a:buChar char="•"/>
            </a:pPr>
            <a:r>
              <a:rPr lang="en-US" sz="1900" dirty="0"/>
              <a:t>The model size is 230M !!</a:t>
            </a:r>
          </a:p>
          <a:p>
            <a:pPr marL="285750" indent="-228600">
              <a:lnSpc>
                <a:spcPct val="90000"/>
              </a:lnSpc>
              <a:spcAft>
                <a:spcPts val="600"/>
              </a:spcAft>
              <a:buFont typeface="Arial" panose="020B0604020202020204" pitchFamily="34" charset="0"/>
              <a:buChar char="•"/>
            </a:pPr>
            <a:r>
              <a:rPr lang="en-US" sz="1900" dirty="0"/>
              <a:t> You can play vs this model in this Hugging Face space :  </a:t>
            </a:r>
            <a:r>
              <a:rPr lang="en-US" sz="1900" dirty="0">
                <a:hlinkClick r:id="rId2">
                  <a:extLst>
                    <a:ext uri="{A12FA001-AC4F-418D-AE19-62706E023703}">
                      <ahyp:hlinkClr xmlns:ahyp="http://schemas.microsoft.com/office/drawing/2018/hyperlinkcolor" val="tx"/>
                    </a:ext>
                  </a:extLst>
                </a:hlinkClick>
              </a:rPr>
              <a:t>https://huggingface.co/spaces/mlabonne/ChessLFM</a:t>
            </a:r>
            <a:endParaRPr lang="en-US" sz="1900" dirty="0"/>
          </a:p>
          <a:p>
            <a:pPr marL="285750" indent="-228600">
              <a:lnSpc>
                <a:spcPct val="90000"/>
              </a:lnSpc>
              <a:spcAft>
                <a:spcPts val="600"/>
              </a:spcAft>
              <a:buFont typeface="Arial" panose="020B0604020202020204" pitchFamily="34" charset="0"/>
              <a:buChar char="•"/>
            </a:pPr>
            <a:r>
              <a:rPr lang="en-US" sz="1900" dirty="0"/>
              <a:t>It uses transformer.js library from HF , this library allows you to run models locally in web browser using your GPU , you can the speed and performance in the gif.</a:t>
            </a:r>
          </a:p>
          <a:p>
            <a:pPr marL="285750" indent="-228600">
              <a:lnSpc>
                <a:spcPct val="90000"/>
              </a:lnSpc>
              <a:spcAft>
                <a:spcPts val="600"/>
              </a:spcAft>
              <a:buFont typeface="Arial" panose="020B0604020202020204" pitchFamily="34" charset="0"/>
              <a:buChar char="•"/>
            </a:pPr>
            <a:endParaRPr lang="en-US" sz="1900" dirty="0"/>
          </a:p>
        </p:txBody>
      </p:sp>
      <p:pic>
        <p:nvPicPr>
          <p:cNvPr id="5" name="Content Placeholder 4">
            <a:extLst>
              <a:ext uri="{FF2B5EF4-FFF2-40B4-BE49-F238E27FC236}">
                <a16:creationId xmlns:a16="http://schemas.microsoft.com/office/drawing/2014/main" id="{C91C91C4-9100-77DC-2E23-676FAF4670E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559871" y="2121408"/>
            <a:ext cx="6522082" cy="3940424"/>
          </a:xfrm>
          <a:prstGeom prst="rect">
            <a:avLst/>
          </a:prstGeom>
        </p:spPr>
      </p:pic>
    </p:spTree>
    <p:extLst>
      <p:ext uri="{BB962C8B-B14F-4D97-AF65-F5344CB8AC3E}">
        <p14:creationId xmlns:p14="http://schemas.microsoft.com/office/powerpoint/2010/main" val="678422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4A83D-F068-1EE1-1F3C-85945637E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4B609A-8613-B0BD-D171-B0C5E570767A}"/>
              </a:ext>
            </a:extLst>
          </p:cNvPr>
          <p:cNvSpPr>
            <a:spLocks noGrp="1"/>
          </p:cNvSpPr>
          <p:nvPr>
            <p:ph type="title"/>
          </p:nvPr>
        </p:nvSpPr>
        <p:spPr/>
        <p:txBody>
          <a:bodyPr/>
          <a:lstStyle/>
          <a:p>
            <a:pPr algn="ctr"/>
            <a:r>
              <a:rPr lang="en-US" dirty="0"/>
              <a:t>What is Hugging Face HUB 	</a:t>
            </a:r>
          </a:p>
        </p:txBody>
      </p:sp>
      <p:pic>
        <p:nvPicPr>
          <p:cNvPr id="5" name="Content Placeholder 4">
            <a:extLst>
              <a:ext uri="{FF2B5EF4-FFF2-40B4-BE49-F238E27FC236}">
                <a16:creationId xmlns:a16="http://schemas.microsoft.com/office/drawing/2014/main" id="{0674AD51-671A-6E63-E3BB-DFC4F6D771D5}"/>
              </a:ext>
            </a:extLst>
          </p:cNvPr>
          <p:cNvPicPr>
            <a:picLocks noGrp="1" noChangeAspect="1"/>
          </p:cNvPicPr>
          <p:nvPr>
            <p:ph idx="1"/>
          </p:nvPr>
        </p:nvPicPr>
        <p:blipFill>
          <a:blip r:embed="rId2"/>
          <a:stretch>
            <a:fillRect/>
          </a:stretch>
        </p:blipFill>
        <p:spPr>
          <a:xfrm>
            <a:off x="1810978" y="1825625"/>
            <a:ext cx="8570044" cy="4351338"/>
          </a:xfrm>
          <a:prstGeom prst="rect">
            <a:avLst/>
          </a:prstGeom>
        </p:spPr>
      </p:pic>
    </p:spTree>
    <p:extLst>
      <p:ext uri="{BB962C8B-B14F-4D97-AF65-F5344CB8AC3E}">
        <p14:creationId xmlns:p14="http://schemas.microsoft.com/office/powerpoint/2010/main" val="1210029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1D4D8-EB80-56E7-AC99-A8E84EF09904}"/>
              </a:ext>
            </a:extLst>
          </p:cNvPr>
          <p:cNvSpPr>
            <a:spLocks noGrp="1"/>
          </p:cNvSpPr>
          <p:nvPr>
            <p:ph type="title"/>
          </p:nvPr>
        </p:nvSpPr>
        <p:spPr/>
        <p:txBody>
          <a:bodyPr/>
          <a:lstStyle/>
          <a:p>
            <a:r>
              <a:rPr lang="en-US" dirty="0"/>
              <a:t>Setup </a:t>
            </a:r>
          </a:p>
        </p:txBody>
      </p:sp>
      <p:sp>
        <p:nvSpPr>
          <p:cNvPr id="3" name="Content Placeholder 2">
            <a:extLst>
              <a:ext uri="{FF2B5EF4-FFF2-40B4-BE49-F238E27FC236}">
                <a16:creationId xmlns:a16="http://schemas.microsoft.com/office/drawing/2014/main" id="{ADD57EE3-A3B8-C7A0-694E-39F3335323CE}"/>
              </a:ext>
            </a:extLst>
          </p:cNvPr>
          <p:cNvSpPr>
            <a:spLocks noGrp="1"/>
          </p:cNvSpPr>
          <p:nvPr>
            <p:ph idx="1"/>
          </p:nvPr>
        </p:nvSpPr>
        <p:spPr/>
        <p:txBody>
          <a:bodyPr/>
          <a:lstStyle/>
          <a:p>
            <a:r>
              <a:rPr lang="en-US" dirty="0"/>
              <a:t>!pip </a:t>
            </a:r>
            <a:r>
              <a:rPr lang="en-US" i="1" dirty="0"/>
              <a:t>install</a:t>
            </a:r>
            <a:r>
              <a:rPr lang="en-US" dirty="0"/>
              <a:t> transformers[</a:t>
            </a:r>
            <a:r>
              <a:rPr lang="en-US" dirty="0" err="1"/>
              <a:t>sentencepiece</a:t>
            </a:r>
            <a:r>
              <a:rPr lang="en-US" dirty="0"/>
              <a:t>]</a:t>
            </a:r>
          </a:p>
          <a:p>
            <a:r>
              <a:rPr lang="en-US" dirty="0"/>
              <a:t>Cache model to google drive instead of every time download model weights and lost time </a:t>
            </a:r>
          </a:p>
        </p:txBody>
      </p:sp>
    </p:spTree>
    <p:extLst>
      <p:ext uri="{BB962C8B-B14F-4D97-AF65-F5344CB8AC3E}">
        <p14:creationId xmlns:p14="http://schemas.microsoft.com/office/powerpoint/2010/main" val="2174856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AAA40-E3D4-D323-24AB-8037E1C5BE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B8C678-B1C3-9279-870F-4D4B9BFDE722}"/>
              </a:ext>
            </a:extLst>
          </p:cNvPr>
          <p:cNvSpPr>
            <a:spLocks noGrp="1"/>
          </p:cNvSpPr>
          <p:nvPr>
            <p:ph type="title"/>
          </p:nvPr>
        </p:nvSpPr>
        <p:spPr/>
        <p:txBody>
          <a:bodyPr/>
          <a:lstStyle/>
          <a:p>
            <a:r>
              <a:rPr lang="en-US" b="1" dirty="0"/>
              <a:t>Transformers, what can they do?</a:t>
            </a:r>
            <a:br>
              <a:rPr lang="en-US" b="1" dirty="0"/>
            </a:br>
            <a:endParaRPr lang="en-US" dirty="0"/>
          </a:p>
        </p:txBody>
      </p:sp>
      <p:sp>
        <p:nvSpPr>
          <p:cNvPr id="7" name="Content Placeholder 6">
            <a:extLst>
              <a:ext uri="{FF2B5EF4-FFF2-40B4-BE49-F238E27FC236}">
                <a16:creationId xmlns:a16="http://schemas.microsoft.com/office/drawing/2014/main" id="{B78A8B7A-CECF-8FCD-C77C-39C5D99442E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837145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465E5-4EB9-4B64-19E9-A724D32271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C45C48-C610-6CB4-761D-2A46880F2CC8}"/>
              </a:ext>
            </a:extLst>
          </p:cNvPr>
          <p:cNvSpPr>
            <a:spLocks noGrp="1"/>
          </p:cNvSpPr>
          <p:nvPr>
            <p:ph type="title"/>
          </p:nvPr>
        </p:nvSpPr>
        <p:spPr/>
        <p:txBody>
          <a:bodyPr>
            <a:normAutofit/>
          </a:bodyPr>
          <a:lstStyle/>
          <a:p>
            <a:r>
              <a:rPr lang="en-US" sz="2400" dirty="0"/>
              <a:t>The most basic object in the 🤗 Transformers library is the pipeline() function. It connects a model with its necessary preprocessing and postprocessing steps, allowing us to directly input any text and get an intelligible answer:</a:t>
            </a:r>
          </a:p>
        </p:txBody>
      </p:sp>
      <p:pic>
        <p:nvPicPr>
          <p:cNvPr id="5" name="Content Placeholder 4">
            <a:extLst>
              <a:ext uri="{FF2B5EF4-FFF2-40B4-BE49-F238E27FC236}">
                <a16:creationId xmlns:a16="http://schemas.microsoft.com/office/drawing/2014/main" id="{E81B0452-A9E6-EB8F-BD68-1095C7BB8063}"/>
              </a:ext>
            </a:extLst>
          </p:cNvPr>
          <p:cNvPicPr>
            <a:picLocks noGrp="1" noChangeAspect="1"/>
          </p:cNvPicPr>
          <p:nvPr>
            <p:ph idx="1"/>
          </p:nvPr>
        </p:nvPicPr>
        <p:blipFill>
          <a:blip r:embed="rId2"/>
          <a:stretch>
            <a:fillRect/>
          </a:stretch>
        </p:blipFill>
        <p:spPr>
          <a:xfrm>
            <a:off x="2165555" y="1565556"/>
            <a:ext cx="6043157" cy="3852017"/>
          </a:xfrm>
          <a:prstGeom prst="rect">
            <a:avLst/>
          </a:prstGeom>
        </p:spPr>
      </p:pic>
      <p:sp>
        <p:nvSpPr>
          <p:cNvPr id="9" name="TextBox 8">
            <a:extLst>
              <a:ext uri="{FF2B5EF4-FFF2-40B4-BE49-F238E27FC236}">
                <a16:creationId xmlns:a16="http://schemas.microsoft.com/office/drawing/2014/main" id="{FA2F7ABE-1122-1E1F-7E0A-E5C0FF5BB42E}"/>
              </a:ext>
            </a:extLst>
          </p:cNvPr>
          <p:cNvSpPr txBox="1"/>
          <p:nvPr/>
        </p:nvSpPr>
        <p:spPr>
          <a:xfrm>
            <a:off x="838200" y="5417574"/>
            <a:ext cx="10380406" cy="1200329"/>
          </a:xfrm>
          <a:prstGeom prst="rect">
            <a:avLst/>
          </a:prstGeom>
          <a:noFill/>
        </p:spPr>
        <p:txBody>
          <a:bodyPr wrap="square" rtlCol="0">
            <a:spAutoFit/>
          </a:bodyPr>
          <a:lstStyle/>
          <a:p>
            <a:r>
              <a:rPr lang="en-US"/>
              <a:t>By default, this pipeline selects a particular pretrained model that has been fine-tuned for sentiment analysis in English. The model is downloaded and cached when you create the classifier object. If you rerun the command, the cached model will be used instead and there is no need to download the model again</a:t>
            </a:r>
            <a:endParaRPr lang="en-US" dirty="0"/>
          </a:p>
        </p:txBody>
      </p:sp>
    </p:spTree>
    <p:extLst>
      <p:ext uri="{BB962C8B-B14F-4D97-AF65-F5344CB8AC3E}">
        <p14:creationId xmlns:p14="http://schemas.microsoft.com/office/powerpoint/2010/main" val="2774803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F7825C-BEAD-3BAE-5AD2-02B2E05AF08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01981F-1C7A-7BD6-1E74-5BC786BD876F}"/>
              </a:ext>
            </a:extLst>
          </p:cNvPr>
          <p:cNvSpPr>
            <a:spLocks noGrp="1"/>
          </p:cNvSpPr>
          <p:nvPr>
            <p:ph type="title"/>
          </p:nvPr>
        </p:nvSpPr>
        <p:spPr>
          <a:xfrm>
            <a:off x="1245072" y="1289765"/>
            <a:ext cx="3651101" cy="4270963"/>
          </a:xfrm>
        </p:spPr>
        <p:txBody>
          <a:bodyPr anchor="ctr">
            <a:normAutofit/>
          </a:bodyPr>
          <a:lstStyle/>
          <a:p>
            <a:pPr algn="ctr"/>
            <a:r>
              <a:rPr lang="en-US" sz="5600">
                <a:solidFill>
                  <a:srgbClr val="FFFFFF"/>
                </a:solidFill>
              </a:rPr>
              <a:t>Steps when pass a text to a pipeline </a:t>
            </a: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2E1CE2F2-ADE0-E423-0C37-9BA0E971018A}"/>
              </a:ext>
            </a:extLst>
          </p:cNvPr>
          <p:cNvSpPr>
            <a:spLocks noGrp="1"/>
          </p:cNvSpPr>
          <p:nvPr>
            <p:ph idx="1"/>
          </p:nvPr>
        </p:nvSpPr>
        <p:spPr>
          <a:xfrm>
            <a:off x="6297233" y="518400"/>
            <a:ext cx="4771607" cy="5837949"/>
          </a:xfrm>
        </p:spPr>
        <p:txBody>
          <a:bodyPr anchor="ctr">
            <a:normAutofit/>
          </a:bodyPr>
          <a:lstStyle/>
          <a:p>
            <a:pPr lvl="0"/>
            <a:r>
              <a:rPr lang="en-US" sz="2400" dirty="0">
                <a:solidFill>
                  <a:schemeClr val="tx1">
                    <a:alpha val="80000"/>
                  </a:schemeClr>
                </a:solidFill>
              </a:rPr>
              <a:t>The text is preprocessed into a format the model can understand.</a:t>
            </a:r>
          </a:p>
          <a:p>
            <a:pPr lvl="0"/>
            <a:endParaRPr lang="en-US" sz="2400" dirty="0">
              <a:solidFill>
                <a:schemeClr val="tx1">
                  <a:alpha val="80000"/>
                </a:schemeClr>
              </a:solidFill>
            </a:endParaRPr>
          </a:p>
          <a:p>
            <a:pPr lvl="0"/>
            <a:r>
              <a:rPr lang="en-US" sz="2400" dirty="0">
                <a:solidFill>
                  <a:schemeClr val="tx1">
                    <a:alpha val="80000"/>
                  </a:schemeClr>
                </a:solidFill>
              </a:rPr>
              <a:t>The preprocessed inputs are passed to the model.</a:t>
            </a:r>
          </a:p>
          <a:p>
            <a:pPr lvl="0"/>
            <a:endParaRPr lang="en-US" sz="2400" dirty="0">
              <a:solidFill>
                <a:schemeClr val="tx1">
                  <a:alpha val="80000"/>
                </a:schemeClr>
              </a:solidFill>
            </a:endParaRPr>
          </a:p>
          <a:p>
            <a:pPr lvl="0"/>
            <a:r>
              <a:rPr lang="en-US" sz="2400" dirty="0">
                <a:solidFill>
                  <a:schemeClr val="tx1">
                    <a:alpha val="80000"/>
                  </a:schemeClr>
                </a:solidFill>
              </a:rPr>
              <a:t>The predictions of the model are post-processed, so you can make sense of them.</a:t>
            </a:r>
          </a:p>
          <a:p>
            <a:endParaRPr lang="en-US" sz="2400" dirty="0">
              <a:solidFill>
                <a:schemeClr val="tx1">
                  <a:alpha val="80000"/>
                </a:schemeClr>
              </a:solidFill>
            </a:endParaRP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0016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C73DA3-F778-2132-E3AE-55ED15F0F84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542250-6DF7-4D83-F628-F8E89E9464D9}"/>
              </a:ext>
            </a:extLst>
          </p:cNvPr>
          <p:cNvSpPr>
            <a:spLocks noGrp="1"/>
          </p:cNvSpPr>
          <p:nvPr>
            <p:ph type="title"/>
          </p:nvPr>
        </p:nvSpPr>
        <p:spPr>
          <a:xfrm>
            <a:off x="1245072" y="1289765"/>
            <a:ext cx="3651101" cy="4270963"/>
          </a:xfrm>
        </p:spPr>
        <p:txBody>
          <a:bodyPr anchor="ctr">
            <a:normAutofit/>
          </a:bodyPr>
          <a:lstStyle/>
          <a:p>
            <a:pPr algn="ctr"/>
            <a:r>
              <a:rPr lang="en-US" sz="5200" b="1">
                <a:solidFill>
                  <a:srgbClr val="FFFFFF"/>
                </a:solidFill>
              </a:rPr>
              <a:t>Available pipelines for different modalities</a:t>
            </a:r>
            <a:br>
              <a:rPr lang="en-US" sz="5200" b="1">
                <a:solidFill>
                  <a:srgbClr val="FFFFFF"/>
                </a:solidFill>
              </a:rPr>
            </a:br>
            <a:endParaRPr lang="en-US" sz="5200">
              <a:solidFill>
                <a:srgbClr val="FFFFFF"/>
              </a:solidFill>
            </a:endParaRP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2A1C317F-5B7B-1113-8D05-0321F705916B}"/>
              </a:ext>
            </a:extLst>
          </p:cNvPr>
          <p:cNvSpPr>
            <a:spLocks noGrp="1"/>
          </p:cNvSpPr>
          <p:nvPr>
            <p:ph idx="1"/>
          </p:nvPr>
        </p:nvSpPr>
        <p:spPr>
          <a:xfrm>
            <a:off x="6297233" y="518400"/>
            <a:ext cx="4771607" cy="5837949"/>
          </a:xfrm>
        </p:spPr>
        <p:txBody>
          <a:bodyPr anchor="ctr">
            <a:normAutofit/>
          </a:bodyPr>
          <a:lstStyle/>
          <a:p>
            <a:pPr marL="0" indent="0">
              <a:buNone/>
            </a:pPr>
            <a:endParaRPr lang="en-US" sz="1900" b="1">
              <a:solidFill>
                <a:schemeClr val="tx1">
                  <a:alpha val="80000"/>
                </a:schemeClr>
              </a:solidFill>
            </a:endParaRPr>
          </a:p>
          <a:p>
            <a:pPr marL="0" indent="0">
              <a:buNone/>
            </a:pPr>
            <a:r>
              <a:rPr lang="en-US" sz="1900" b="1">
                <a:solidFill>
                  <a:schemeClr val="tx1">
                    <a:alpha val="80000"/>
                  </a:schemeClr>
                </a:solidFill>
              </a:rPr>
              <a:t>Text pipelines : </a:t>
            </a:r>
          </a:p>
          <a:p>
            <a:pPr marL="0" lvl="0" indent="0">
              <a:buNone/>
            </a:pPr>
            <a:r>
              <a:rPr lang="en-US" sz="1900">
                <a:solidFill>
                  <a:schemeClr val="tx1">
                    <a:alpha val="80000"/>
                  </a:schemeClr>
                </a:solidFill>
              </a:rPr>
              <a:t>text-generation - text-classification – summarization – translation </a:t>
            </a:r>
          </a:p>
          <a:p>
            <a:pPr marL="0" lvl="0" indent="0">
              <a:buNone/>
            </a:pPr>
            <a:r>
              <a:rPr lang="en-US" sz="1900">
                <a:solidFill>
                  <a:schemeClr val="tx1">
                    <a:alpha val="80000"/>
                  </a:schemeClr>
                </a:solidFill>
              </a:rPr>
              <a:t>zero-shot-classification : Classify text without prior training on specific labels- feature-extraction : Extract vector representations of text</a:t>
            </a:r>
          </a:p>
          <a:p>
            <a:r>
              <a:rPr lang="en-US" sz="1900" b="1">
                <a:solidFill>
                  <a:schemeClr val="tx1">
                    <a:alpha val="80000"/>
                  </a:schemeClr>
                </a:solidFill>
              </a:rPr>
              <a:t>Image pipelines : </a:t>
            </a:r>
          </a:p>
          <a:p>
            <a:pPr marL="0" indent="0">
              <a:buNone/>
            </a:pPr>
            <a:r>
              <a:rPr lang="en-US" sz="1900">
                <a:solidFill>
                  <a:schemeClr val="tx1">
                    <a:alpha val="80000"/>
                  </a:schemeClr>
                </a:solidFill>
              </a:rPr>
              <a:t>image-to-text - image-classification - object-detection</a:t>
            </a:r>
          </a:p>
          <a:p>
            <a:r>
              <a:rPr lang="en-US" sz="1900" b="1">
                <a:solidFill>
                  <a:schemeClr val="tx1">
                    <a:alpha val="80000"/>
                  </a:schemeClr>
                </a:solidFill>
              </a:rPr>
              <a:t>Audio pipelines :</a:t>
            </a:r>
          </a:p>
          <a:p>
            <a:pPr marL="0" indent="0">
              <a:buNone/>
            </a:pPr>
            <a:r>
              <a:rPr lang="en-US" sz="1900">
                <a:solidFill>
                  <a:schemeClr val="tx1">
                    <a:alpha val="80000"/>
                  </a:schemeClr>
                </a:solidFill>
              </a:rPr>
              <a:t>automatic-speech-recognition - audio-classification - text-to-speech TTS</a:t>
            </a:r>
          </a:p>
          <a:p>
            <a:r>
              <a:rPr lang="en-US" sz="1900" b="1">
                <a:solidFill>
                  <a:schemeClr val="tx1">
                    <a:alpha val="80000"/>
                  </a:schemeClr>
                </a:solidFill>
              </a:rPr>
              <a:t>Multimodal pipelines</a:t>
            </a:r>
          </a:p>
          <a:p>
            <a:pPr lvl="0"/>
            <a:r>
              <a:rPr lang="en-US" sz="1900">
                <a:solidFill>
                  <a:schemeClr val="tx1">
                    <a:alpha val="80000"/>
                  </a:schemeClr>
                </a:solidFill>
              </a:rPr>
              <a:t>image-text-to-text: Respond to an image based on a text prompt</a:t>
            </a:r>
          </a:p>
          <a:p>
            <a:pPr marL="0" lvl="0" indent="0">
              <a:buNone/>
            </a:pPr>
            <a:endParaRPr lang="en-US" sz="1900" b="1">
              <a:solidFill>
                <a:schemeClr val="tx1">
                  <a:alpha val="80000"/>
                </a:schemeClr>
              </a:solidFill>
            </a:endParaRPr>
          </a:p>
          <a:p>
            <a:endParaRPr lang="en-US" sz="1900" b="1">
              <a:solidFill>
                <a:schemeClr val="tx1">
                  <a:alpha val="80000"/>
                </a:schemeClr>
              </a:solidFill>
            </a:endParaRPr>
          </a:p>
          <a:p>
            <a:endParaRPr lang="en-US" sz="1900">
              <a:solidFill>
                <a:schemeClr val="tx1">
                  <a:alpha val="80000"/>
                </a:schemeClr>
              </a:solidFill>
            </a:endParaRP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20232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5BF37-B243-3A0F-AA04-FAA482CD3C5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7DE3B70-72EA-7AAF-E0C7-996A8ECC22B8}"/>
              </a:ext>
            </a:extLst>
          </p:cNvPr>
          <p:cNvPicPr>
            <a:picLocks noGrp="1" noChangeAspect="1"/>
          </p:cNvPicPr>
          <p:nvPr>
            <p:ph idx="1"/>
          </p:nvPr>
        </p:nvPicPr>
        <p:blipFill>
          <a:blip r:embed="rId2"/>
          <a:stretch>
            <a:fillRect/>
          </a:stretch>
        </p:blipFill>
        <p:spPr>
          <a:xfrm>
            <a:off x="643467" y="1070779"/>
            <a:ext cx="10905066" cy="4716440"/>
          </a:xfrm>
          <a:prstGeom prst="rect">
            <a:avLst/>
          </a:prstGeom>
        </p:spPr>
      </p:pic>
      <p:sp>
        <p:nvSpPr>
          <p:cNvPr id="2" name="TextBox 1">
            <a:extLst>
              <a:ext uri="{FF2B5EF4-FFF2-40B4-BE49-F238E27FC236}">
                <a16:creationId xmlns:a16="http://schemas.microsoft.com/office/drawing/2014/main" id="{E17536FA-031B-73C3-2EC8-7102202E32AE}"/>
              </a:ext>
            </a:extLst>
          </p:cNvPr>
          <p:cNvSpPr txBox="1"/>
          <p:nvPr/>
        </p:nvSpPr>
        <p:spPr>
          <a:xfrm>
            <a:off x="540328" y="426027"/>
            <a:ext cx="10692245" cy="646331"/>
          </a:xfrm>
          <a:prstGeom prst="rect">
            <a:avLst/>
          </a:prstGeom>
          <a:noFill/>
        </p:spPr>
        <p:txBody>
          <a:bodyPr wrap="square" rtlCol="0">
            <a:spAutoFit/>
          </a:bodyPr>
          <a:lstStyle/>
          <a:p>
            <a:pPr algn="ctr"/>
            <a:r>
              <a:rPr lang="en-US" sz="3600" b="1" dirty="0"/>
              <a:t>How transformers Solve Tasks  ?</a:t>
            </a:r>
          </a:p>
        </p:txBody>
      </p:sp>
    </p:spTree>
    <p:extLst>
      <p:ext uri="{BB962C8B-B14F-4D97-AF65-F5344CB8AC3E}">
        <p14:creationId xmlns:p14="http://schemas.microsoft.com/office/powerpoint/2010/main" val="38446135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E083F0-1362-59AB-0DAC-8F47C4BF1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830F7A-E283-7797-8276-BAAB89CDA524}"/>
              </a:ext>
            </a:extLst>
          </p:cNvPr>
          <p:cNvSpPr>
            <a:spLocks noGrp="1"/>
          </p:cNvSpPr>
          <p:nvPr>
            <p:ph type="title"/>
          </p:nvPr>
        </p:nvSpPr>
        <p:spPr>
          <a:xfrm>
            <a:off x="761840" y="1138265"/>
            <a:ext cx="4544762" cy="1401183"/>
          </a:xfrm>
        </p:spPr>
        <p:txBody>
          <a:bodyPr anchor="t">
            <a:normAutofit/>
          </a:bodyPr>
          <a:lstStyle/>
          <a:p>
            <a:r>
              <a:rPr lang="en-US" sz="3200" b="1"/>
              <a:t>Zero-shot classification</a:t>
            </a:r>
            <a:endParaRPr lang="en-US" sz="3200"/>
          </a:p>
        </p:txBody>
      </p:sp>
      <p:cxnSp>
        <p:nvCxnSpPr>
          <p:cNvPr id="15" name="Straight Connector 14">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6A6435D-13AF-EC42-0542-75BCA2E91319}"/>
              </a:ext>
            </a:extLst>
          </p:cNvPr>
          <p:cNvSpPr>
            <a:spLocks noGrp="1"/>
          </p:cNvSpPr>
          <p:nvPr>
            <p:ph idx="1"/>
          </p:nvPr>
        </p:nvSpPr>
        <p:spPr>
          <a:xfrm>
            <a:off x="641131" y="1765738"/>
            <a:ext cx="4665471" cy="4388373"/>
          </a:xfrm>
        </p:spPr>
        <p:txBody>
          <a:bodyPr>
            <a:normAutofit lnSpcReduction="10000"/>
          </a:bodyPr>
          <a:lstStyle/>
          <a:p>
            <a:endParaRPr lang="en-US" sz="1100" dirty="0"/>
          </a:p>
          <a:p>
            <a:r>
              <a:rPr lang="en-US" sz="1600" dirty="0"/>
              <a:t>a more challenging task where we need to classify texts that haven’t been labelled. </a:t>
            </a:r>
          </a:p>
          <a:p>
            <a:r>
              <a:rPr lang="en-US" sz="1600" dirty="0"/>
              <a:t>This is </a:t>
            </a:r>
            <a:r>
              <a:rPr lang="en-US" sz="1600" dirty="0">
                <a:solidFill>
                  <a:srgbClr val="FF0000"/>
                </a:solidFill>
              </a:rPr>
              <a:t>a common scenario in real-world projects because annotating text is usually time-consuming </a:t>
            </a:r>
            <a:r>
              <a:rPr lang="en-US" sz="1600" dirty="0"/>
              <a:t>and requires domain expertise. </a:t>
            </a:r>
          </a:p>
          <a:p>
            <a:r>
              <a:rPr lang="en-US" sz="1600" dirty="0"/>
              <a:t>For this use case, the zero-shot-classification pipeline is very powerful: it allows you to specify which labels to use for the classification, </a:t>
            </a:r>
          </a:p>
          <a:p>
            <a:r>
              <a:rPr lang="en-US" sz="1600" dirty="0"/>
              <a:t>so you don’t have to rely on the labels of the pretrained model. You’ve already seen how the model can classify a sentence as positive or negative using those two labels — but it can also classify the text using any other set of labels you like.</a:t>
            </a:r>
          </a:p>
          <a:p>
            <a:r>
              <a:rPr lang="en-US" sz="1600" dirty="0"/>
              <a:t>This pipeline is called </a:t>
            </a:r>
            <a:r>
              <a:rPr lang="en-US" sz="1600" i="1" dirty="0">
                <a:solidFill>
                  <a:srgbClr val="FF0000"/>
                </a:solidFill>
              </a:rPr>
              <a:t>zero-shot</a:t>
            </a:r>
            <a:r>
              <a:rPr lang="en-US" sz="1600" dirty="0"/>
              <a:t> because you don’t need </a:t>
            </a:r>
            <a:r>
              <a:rPr lang="en-US" sz="1600" dirty="0">
                <a:solidFill>
                  <a:srgbClr val="FF0000"/>
                </a:solidFill>
              </a:rPr>
              <a:t>to fine-tune the model on your data</a:t>
            </a:r>
            <a:r>
              <a:rPr lang="en-US" sz="1600" dirty="0"/>
              <a:t> to use it. It can directly return probability scores for any list of labels you want!</a:t>
            </a:r>
          </a:p>
        </p:txBody>
      </p:sp>
      <p:pic>
        <p:nvPicPr>
          <p:cNvPr id="6" name="Picture 5" descr="Computer script on a screen">
            <a:extLst>
              <a:ext uri="{FF2B5EF4-FFF2-40B4-BE49-F238E27FC236}">
                <a16:creationId xmlns:a16="http://schemas.microsoft.com/office/drawing/2014/main" id="{44ADFA9B-32D3-F8DD-4C7D-EF8DC09A4B7C}"/>
              </a:ext>
            </a:extLst>
          </p:cNvPr>
          <p:cNvPicPr>
            <a:picLocks noChangeAspect="1"/>
          </p:cNvPicPr>
          <p:nvPr/>
        </p:nvPicPr>
        <p:blipFill>
          <a:blip r:embed="rId2"/>
          <a:srcRect l="5045" r="44817" b="-1"/>
          <a:stretch>
            <a:fillRect/>
          </a:stretch>
        </p:blipFill>
        <p:spPr>
          <a:xfrm>
            <a:off x="6753305" y="771753"/>
            <a:ext cx="3993045" cy="5316095"/>
          </a:xfrm>
          <a:prstGeom prst="rect">
            <a:avLst/>
          </a:prstGeom>
        </p:spPr>
      </p:pic>
      <p:sp>
        <p:nvSpPr>
          <p:cNvPr id="4" name="TextBox 3">
            <a:extLst>
              <a:ext uri="{FF2B5EF4-FFF2-40B4-BE49-F238E27FC236}">
                <a16:creationId xmlns:a16="http://schemas.microsoft.com/office/drawing/2014/main" id="{BC8E4E37-D4B1-9F2B-B1F7-DAFC8F54F926}"/>
              </a:ext>
            </a:extLst>
          </p:cNvPr>
          <p:cNvSpPr txBox="1"/>
          <p:nvPr/>
        </p:nvSpPr>
        <p:spPr>
          <a:xfrm>
            <a:off x="2564524" y="5612524"/>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6650844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9D44DB-C887-FF69-3F56-D497C87D17C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F2A46FC-A8BE-4771-BE51-D9123E9185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2612"/>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D67E052E-9D1E-4EBE-F436-C7410450FD1C}"/>
              </a:ext>
            </a:extLst>
          </p:cNvPr>
          <p:cNvPicPr>
            <a:picLocks noGrp="1" noChangeAspect="1"/>
          </p:cNvPicPr>
          <p:nvPr>
            <p:ph idx="1"/>
          </p:nvPr>
        </p:nvPicPr>
        <p:blipFill>
          <a:blip r:embed="rId2"/>
          <a:srcRect r="26208" b="1"/>
          <a:stretch>
            <a:fillRect/>
          </a:stretch>
        </p:blipFill>
        <p:spPr>
          <a:xfrm>
            <a:off x="615790" y="508000"/>
            <a:ext cx="10960420" cy="5792694"/>
          </a:xfrm>
          <a:custGeom>
            <a:avLst/>
            <a:gdLst/>
            <a:ahLst/>
            <a:cxnLst/>
            <a:rect l="l" t="t" r="r" b="b"/>
            <a:pathLst>
              <a:path w="10485104" h="5523506">
                <a:moveTo>
                  <a:pt x="5949681" y="536"/>
                </a:moveTo>
                <a:cubicBezTo>
                  <a:pt x="6074035" y="-2131"/>
                  <a:pt x="6198411" y="5173"/>
                  <a:pt x="6321822" y="22405"/>
                </a:cubicBezTo>
                <a:cubicBezTo>
                  <a:pt x="6498937" y="51493"/>
                  <a:pt x="6677824" y="73364"/>
                  <a:pt x="6857694" y="55210"/>
                </a:cubicBezTo>
                <a:cubicBezTo>
                  <a:pt x="6981675" y="42526"/>
                  <a:pt x="7105459" y="35089"/>
                  <a:pt x="7230031" y="35528"/>
                </a:cubicBezTo>
                <a:cubicBezTo>
                  <a:pt x="7516370" y="35528"/>
                  <a:pt x="7802902" y="38152"/>
                  <a:pt x="8089242" y="32684"/>
                </a:cubicBezTo>
                <a:cubicBezTo>
                  <a:pt x="8344090" y="27873"/>
                  <a:pt x="8597956" y="17377"/>
                  <a:pt x="8853003" y="43837"/>
                </a:cubicBezTo>
                <a:cubicBezTo>
                  <a:pt x="9229472" y="82767"/>
                  <a:pt x="9607909" y="70300"/>
                  <a:pt x="9985559" y="65708"/>
                </a:cubicBezTo>
                <a:cubicBezTo>
                  <a:pt x="10083101" y="64320"/>
                  <a:pt x="10180599" y="61132"/>
                  <a:pt x="10278047" y="56140"/>
                </a:cubicBezTo>
                <a:lnTo>
                  <a:pt x="10449151" y="44199"/>
                </a:lnTo>
                <a:lnTo>
                  <a:pt x="10468533" y="198724"/>
                </a:lnTo>
                <a:cubicBezTo>
                  <a:pt x="10475933" y="234109"/>
                  <a:pt x="10480462" y="270161"/>
                  <a:pt x="10482057" y="306442"/>
                </a:cubicBezTo>
                <a:cubicBezTo>
                  <a:pt x="10492136" y="438884"/>
                  <a:pt x="10475168" y="569479"/>
                  <a:pt x="10461007" y="700359"/>
                </a:cubicBezTo>
                <a:cubicBezTo>
                  <a:pt x="10451566" y="783776"/>
                  <a:pt x="10437150" y="868045"/>
                  <a:pt x="10461007" y="950608"/>
                </a:cubicBezTo>
                <a:cubicBezTo>
                  <a:pt x="10477350" y="1008147"/>
                  <a:pt x="10480985" y="1069224"/>
                  <a:pt x="10471595" y="1128666"/>
                </a:cubicBezTo>
                <a:cubicBezTo>
                  <a:pt x="10455763" y="1234166"/>
                  <a:pt x="10452459" y="1341527"/>
                  <a:pt x="10461772" y="1447979"/>
                </a:cubicBezTo>
                <a:cubicBezTo>
                  <a:pt x="10467921" y="1518165"/>
                  <a:pt x="10466977" y="1588906"/>
                  <a:pt x="10458965" y="1658865"/>
                </a:cubicBezTo>
                <a:cubicBezTo>
                  <a:pt x="10448377" y="1752939"/>
                  <a:pt x="10431919" y="1848719"/>
                  <a:pt x="10451949" y="1943076"/>
                </a:cubicBezTo>
                <a:cubicBezTo>
                  <a:pt x="10483843" y="2092999"/>
                  <a:pt x="10477464" y="2242779"/>
                  <a:pt x="10464706" y="2393837"/>
                </a:cubicBezTo>
                <a:cubicBezTo>
                  <a:pt x="10455138" y="2506243"/>
                  <a:pt x="10444549" y="2619928"/>
                  <a:pt x="10463686" y="2733613"/>
                </a:cubicBezTo>
                <a:cubicBezTo>
                  <a:pt x="10471914" y="2786362"/>
                  <a:pt x="10471914" y="2840306"/>
                  <a:pt x="10463686" y="2893056"/>
                </a:cubicBezTo>
                <a:cubicBezTo>
                  <a:pt x="10453735" y="2964109"/>
                  <a:pt x="10444294" y="3034452"/>
                  <a:pt x="10457052" y="3106215"/>
                </a:cubicBezTo>
                <a:cubicBezTo>
                  <a:pt x="10462665" y="3137479"/>
                  <a:pt x="10466875" y="3169026"/>
                  <a:pt x="10469810" y="3200574"/>
                </a:cubicBezTo>
                <a:cubicBezTo>
                  <a:pt x="10475653" y="3281119"/>
                  <a:pt x="10473561" y="3362120"/>
                  <a:pt x="10463559" y="3442154"/>
                </a:cubicBezTo>
                <a:cubicBezTo>
                  <a:pt x="10453990" y="3535091"/>
                  <a:pt x="10469554" y="3628597"/>
                  <a:pt x="10456797" y="3721250"/>
                </a:cubicBezTo>
                <a:cubicBezTo>
                  <a:pt x="10447738" y="3795870"/>
                  <a:pt x="10447394" y="3871485"/>
                  <a:pt x="10455776" y="3946204"/>
                </a:cubicBezTo>
                <a:cubicBezTo>
                  <a:pt x="10470855" y="4087457"/>
                  <a:pt x="10469912" y="4230260"/>
                  <a:pt x="10452970" y="4371244"/>
                </a:cubicBezTo>
                <a:cubicBezTo>
                  <a:pt x="10442508" y="4453523"/>
                  <a:pt x="10436512" y="4538218"/>
                  <a:pt x="10455266" y="4618934"/>
                </a:cubicBezTo>
                <a:cubicBezTo>
                  <a:pt x="10499408" y="4808646"/>
                  <a:pt x="10473637" y="4998642"/>
                  <a:pt x="10455266" y="5187359"/>
                </a:cubicBezTo>
                <a:cubicBezTo>
                  <a:pt x="10444103" y="5288708"/>
                  <a:pt x="10443847" y="5391181"/>
                  <a:pt x="10454500" y="5492602"/>
                </a:cubicBezTo>
                <a:lnTo>
                  <a:pt x="10454510" y="5492731"/>
                </a:lnTo>
                <a:lnTo>
                  <a:pt x="10414967" y="5491139"/>
                </a:lnTo>
                <a:cubicBezTo>
                  <a:pt x="10117611" y="5495732"/>
                  <a:pt x="9820450" y="5526349"/>
                  <a:pt x="9523092" y="5507105"/>
                </a:cubicBezTo>
                <a:cubicBezTo>
                  <a:pt x="9272964" y="5490920"/>
                  <a:pt x="9023034" y="5477142"/>
                  <a:pt x="8772711" y="5490483"/>
                </a:cubicBezTo>
                <a:cubicBezTo>
                  <a:pt x="8636774" y="5499549"/>
                  <a:pt x="8500636" y="5503107"/>
                  <a:pt x="8364561" y="5501172"/>
                </a:cubicBezTo>
                <a:lnTo>
                  <a:pt x="8196562" y="5491993"/>
                </a:lnTo>
                <a:lnTo>
                  <a:pt x="8077075" y="5475562"/>
                </a:lnTo>
                <a:lnTo>
                  <a:pt x="7915670" y="5468917"/>
                </a:lnTo>
                <a:lnTo>
                  <a:pt x="7914092" y="5467957"/>
                </a:lnTo>
                <a:lnTo>
                  <a:pt x="7894412" y="5467957"/>
                </a:lnTo>
                <a:lnTo>
                  <a:pt x="7892834" y="5468758"/>
                </a:lnTo>
                <a:lnTo>
                  <a:pt x="7727602" y="5475562"/>
                </a:lnTo>
                <a:lnTo>
                  <a:pt x="7690606" y="5480649"/>
                </a:lnTo>
                <a:lnTo>
                  <a:pt x="7624212" y="5484579"/>
                </a:lnTo>
                <a:cubicBezTo>
                  <a:pt x="7434738" y="5508001"/>
                  <a:pt x="7243868" y="5514147"/>
                  <a:pt x="7053506" y="5502949"/>
                </a:cubicBezTo>
                <a:cubicBezTo>
                  <a:pt x="6777009" y="5485453"/>
                  <a:pt x="6500117" y="5474737"/>
                  <a:pt x="6223029" y="5498574"/>
                </a:cubicBezTo>
                <a:cubicBezTo>
                  <a:pt x="6065592" y="5511916"/>
                  <a:pt x="5908157" y="5526131"/>
                  <a:pt x="5750720" y="5507761"/>
                </a:cubicBezTo>
                <a:cubicBezTo>
                  <a:pt x="5616170" y="5490965"/>
                  <a:pt x="5480520" y="5488253"/>
                  <a:pt x="5345518" y="5499668"/>
                </a:cubicBezTo>
                <a:cubicBezTo>
                  <a:pt x="5197844" y="5511040"/>
                  <a:pt x="5049616" y="5511040"/>
                  <a:pt x="4901942" y="5499668"/>
                </a:cubicBezTo>
                <a:cubicBezTo>
                  <a:pt x="4760445" y="5490920"/>
                  <a:pt x="4618556" y="5476268"/>
                  <a:pt x="4477454" y="5492013"/>
                </a:cubicBezTo>
                <a:cubicBezTo>
                  <a:pt x="4279085" y="5513884"/>
                  <a:pt x="4081305" y="5506667"/>
                  <a:pt x="3883329" y="5493326"/>
                </a:cubicBezTo>
                <a:cubicBezTo>
                  <a:pt x="3719792" y="5482391"/>
                  <a:pt x="3555664" y="5466425"/>
                  <a:pt x="3392914" y="5492233"/>
                </a:cubicBezTo>
                <a:cubicBezTo>
                  <a:pt x="3175771" y="5523222"/>
                  <a:pt x="2956480" y="5531206"/>
                  <a:pt x="2737979" y="5516072"/>
                </a:cubicBezTo>
                <a:cubicBezTo>
                  <a:pt x="2289680" y="5492670"/>
                  <a:pt x="1840986" y="5498574"/>
                  <a:pt x="1392489" y="5480641"/>
                </a:cubicBezTo>
                <a:cubicBezTo>
                  <a:pt x="1244499" y="5474519"/>
                  <a:pt x="1097296" y="5507322"/>
                  <a:pt x="949699" y="5509072"/>
                </a:cubicBezTo>
                <a:cubicBezTo>
                  <a:pt x="684469" y="5512352"/>
                  <a:pt x="418241" y="5493120"/>
                  <a:pt x="151598" y="5492249"/>
                </a:cubicBezTo>
                <a:lnTo>
                  <a:pt x="1415" y="5496057"/>
                </a:lnTo>
                <a:lnTo>
                  <a:pt x="3772" y="5431261"/>
                </a:lnTo>
                <a:cubicBezTo>
                  <a:pt x="7163" y="5398149"/>
                  <a:pt x="12808" y="5364994"/>
                  <a:pt x="20909" y="5331792"/>
                </a:cubicBezTo>
                <a:cubicBezTo>
                  <a:pt x="51502" y="5208362"/>
                  <a:pt x="50009" y="5079152"/>
                  <a:pt x="16572" y="4956462"/>
                </a:cubicBezTo>
                <a:cubicBezTo>
                  <a:pt x="9172" y="4924695"/>
                  <a:pt x="4643" y="4892329"/>
                  <a:pt x="3048" y="4859758"/>
                </a:cubicBezTo>
                <a:cubicBezTo>
                  <a:pt x="-7031" y="4740857"/>
                  <a:pt x="9937" y="4623614"/>
                  <a:pt x="24098" y="4506116"/>
                </a:cubicBezTo>
                <a:cubicBezTo>
                  <a:pt x="33539" y="4431228"/>
                  <a:pt x="47955" y="4355575"/>
                  <a:pt x="24098" y="4281453"/>
                </a:cubicBezTo>
                <a:cubicBezTo>
                  <a:pt x="7755" y="4229797"/>
                  <a:pt x="4120" y="4174965"/>
                  <a:pt x="13510" y="4121600"/>
                </a:cubicBezTo>
                <a:cubicBezTo>
                  <a:pt x="29342" y="4026887"/>
                  <a:pt x="32646" y="3930503"/>
                  <a:pt x="23333" y="3834935"/>
                </a:cubicBezTo>
                <a:cubicBezTo>
                  <a:pt x="17184" y="3771925"/>
                  <a:pt x="18128" y="3708417"/>
                  <a:pt x="26140" y="3645611"/>
                </a:cubicBezTo>
                <a:cubicBezTo>
                  <a:pt x="36728" y="3561155"/>
                  <a:pt x="53186" y="3475168"/>
                  <a:pt x="33156" y="3390458"/>
                </a:cubicBezTo>
                <a:cubicBezTo>
                  <a:pt x="1262" y="3255864"/>
                  <a:pt x="7641" y="3121398"/>
                  <a:pt x="20399" y="2985784"/>
                </a:cubicBezTo>
                <a:cubicBezTo>
                  <a:pt x="29967" y="2884871"/>
                  <a:pt x="40556" y="2782810"/>
                  <a:pt x="21419" y="2680748"/>
                </a:cubicBezTo>
                <a:cubicBezTo>
                  <a:pt x="13191" y="2633392"/>
                  <a:pt x="13191" y="2584964"/>
                  <a:pt x="21419" y="2537607"/>
                </a:cubicBezTo>
                <a:cubicBezTo>
                  <a:pt x="31370" y="2473819"/>
                  <a:pt x="40811" y="2410668"/>
                  <a:pt x="28053" y="2346242"/>
                </a:cubicBezTo>
                <a:cubicBezTo>
                  <a:pt x="22440" y="2318175"/>
                  <a:pt x="18230" y="2289853"/>
                  <a:pt x="15295" y="2261531"/>
                </a:cubicBezTo>
                <a:cubicBezTo>
                  <a:pt x="9452" y="2189221"/>
                  <a:pt x="11544" y="2116502"/>
                  <a:pt x="21546" y="2044651"/>
                </a:cubicBezTo>
                <a:cubicBezTo>
                  <a:pt x="31115" y="1961216"/>
                  <a:pt x="15551" y="1877270"/>
                  <a:pt x="28308" y="1794090"/>
                </a:cubicBezTo>
                <a:cubicBezTo>
                  <a:pt x="37367" y="1727100"/>
                  <a:pt x="37711" y="1659216"/>
                  <a:pt x="29329" y="1592136"/>
                </a:cubicBezTo>
                <a:cubicBezTo>
                  <a:pt x="14250" y="1465325"/>
                  <a:pt x="15193" y="1337123"/>
                  <a:pt x="32135" y="1210554"/>
                </a:cubicBezTo>
                <a:cubicBezTo>
                  <a:pt x="42597" y="1136687"/>
                  <a:pt x="48593" y="1060652"/>
                  <a:pt x="29839" y="988188"/>
                </a:cubicBezTo>
                <a:cubicBezTo>
                  <a:pt x="-14303" y="817873"/>
                  <a:pt x="11468" y="647303"/>
                  <a:pt x="29839" y="477881"/>
                </a:cubicBezTo>
                <a:cubicBezTo>
                  <a:pt x="41002" y="386894"/>
                  <a:pt x="41258" y="294898"/>
                  <a:pt x="30605" y="203847"/>
                </a:cubicBezTo>
                <a:lnTo>
                  <a:pt x="17136" y="42362"/>
                </a:lnTo>
                <a:lnTo>
                  <a:pt x="155390" y="51827"/>
                </a:lnTo>
                <a:cubicBezTo>
                  <a:pt x="380715" y="63616"/>
                  <a:pt x="606095" y="63411"/>
                  <a:pt x="831032" y="41432"/>
                </a:cubicBezTo>
                <a:cubicBezTo>
                  <a:pt x="1107234" y="18075"/>
                  <a:pt x="1384519" y="14708"/>
                  <a:pt x="1661115" y="31372"/>
                </a:cubicBezTo>
                <a:cubicBezTo>
                  <a:pt x="1911045" y="42962"/>
                  <a:pt x="2160581" y="71395"/>
                  <a:pt x="2411103" y="47120"/>
                </a:cubicBezTo>
                <a:cubicBezTo>
                  <a:pt x="2497298" y="38807"/>
                  <a:pt x="2581920" y="18689"/>
                  <a:pt x="2668707" y="14096"/>
                </a:cubicBezTo>
                <a:cubicBezTo>
                  <a:pt x="3075287" y="-7775"/>
                  <a:pt x="3480488" y="25030"/>
                  <a:pt x="3885690" y="51930"/>
                </a:cubicBezTo>
                <a:cubicBezTo>
                  <a:pt x="4033287" y="61770"/>
                  <a:pt x="4180883" y="73799"/>
                  <a:pt x="4328480" y="46900"/>
                </a:cubicBezTo>
                <a:cubicBezTo>
                  <a:pt x="4453032" y="25577"/>
                  <a:pt x="4579453" y="21181"/>
                  <a:pt x="4704949" y="33778"/>
                </a:cubicBezTo>
                <a:cubicBezTo>
                  <a:pt x="4816098" y="46376"/>
                  <a:pt x="4927939" y="49371"/>
                  <a:pt x="5039501" y="42745"/>
                </a:cubicBezTo>
                <a:cubicBezTo>
                  <a:pt x="5342568" y="15407"/>
                  <a:pt x="5645828" y="318"/>
                  <a:pt x="5949681" y="536"/>
                </a:cubicBezTo>
                <a:close/>
              </a:path>
            </a:pathLst>
          </a:custGeom>
        </p:spPr>
      </p:pic>
    </p:spTree>
    <p:extLst>
      <p:ext uri="{BB962C8B-B14F-4D97-AF65-F5344CB8AC3E}">
        <p14:creationId xmlns:p14="http://schemas.microsoft.com/office/powerpoint/2010/main" val="3811835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ADB70-70F0-92BE-DCC3-7D4ED4F5CF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8E345D-ABC3-4A5C-0741-4B14459EE73E}"/>
              </a:ext>
            </a:extLst>
          </p:cNvPr>
          <p:cNvSpPr>
            <a:spLocks noGrp="1"/>
          </p:cNvSpPr>
          <p:nvPr>
            <p:ph type="title"/>
          </p:nvPr>
        </p:nvSpPr>
        <p:spPr/>
        <p:txBody>
          <a:bodyPr/>
          <a:lstStyle/>
          <a:p>
            <a:pPr algn="ctr"/>
            <a:r>
              <a:rPr lang="en-US" b="1" dirty="0"/>
              <a:t>Text generation</a:t>
            </a:r>
            <a:br>
              <a:rPr lang="en-US" b="1" dirty="0"/>
            </a:br>
            <a:endParaRPr lang="en-US" dirty="0"/>
          </a:p>
        </p:txBody>
      </p:sp>
      <p:sp>
        <p:nvSpPr>
          <p:cNvPr id="3" name="Content Placeholder 2">
            <a:extLst>
              <a:ext uri="{FF2B5EF4-FFF2-40B4-BE49-F238E27FC236}">
                <a16:creationId xmlns:a16="http://schemas.microsoft.com/office/drawing/2014/main" id="{82A3A6B2-258A-B1AE-EBBC-93A57D475C86}"/>
              </a:ext>
            </a:extLst>
          </p:cNvPr>
          <p:cNvSpPr>
            <a:spLocks noGrp="1"/>
          </p:cNvSpPr>
          <p:nvPr>
            <p:ph idx="1"/>
          </p:nvPr>
        </p:nvSpPr>
        <p:spPr/>
        <p:txBody>
          <a:bodyPr/>
          <a:lstStyle/>
          <a:p>
            <a:r>
              <a:rPr lang="en-US" dirty="0"/>
              <a:t>Text generation involves creating coherent and contextually relevant text based on a prompt or input.</a:t>
            </a:r>
          </a:p>
          <a:p>
            <a:r>
              <a:rPr lang="en-US" u="sng" dirty="0">
                <a:hlinkClick r:id="rId2"/>
              </a:rPr>
              <a:t>GPT-2</a:t>
            </a:r>
            <a:r>
              <a:rPr lang="en-US" dirty="0"/>
              <a:t> is a decoder-only model pretrained on a large amount of text. It can generate convincing (though not always true!) text given a prompt and complete other NLP tasks like question answering despite not being explicitly trained to.</a:t>
            </a:r>
          </a:p>
          <a:p>
            <a:pPr marL="0" indent="0">
              <a:buNone/>
            </a:pPr>
            <a:endParaRPr lang="en-US" dirty="0"/>
          </a:p>
        </p:txBody>
      </p:sp>
    </p:spTree>
    <p:extLst>
      <p:ext uri="{BB962C8B-B14F-4D97-AF65-F5344CB8AC3E}">
        <p14:creationId xmlns:p14="http://schemas.microsoft.com/office/powerpoint/2010/main" val="10557557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20FFB6-B891-D728-0F3D-16DFA4EF5484}"/>
            </a:ext>
          </a:extLst>
        </p:cNvPr>
        <p:cNvGrpSpPr/>
        <p:nvPr/>
      </p:nvGrpSpPr>
      <p:grpSpPr>
        <a:xfrm>
          <a:off x="0" y="0"/>
          <a:ext cx="0" cy="0"/>
          <a:chOff x="0" y="0"/>
          <a:chExt cx="0" cy="0"/>
        </a:xfrm>
      </p:grpSpPr>
      <p:sp useBgFill="1">
        <p:nvSpPr>
          <p:cNvPr id="18" name="Slide background fill">
            <a:extLst>
              <a:ext uri="{FF2B5EF4-FFF2-40B4-BE49-F238E27FC236}">
                <a16:creationId xmlns:a16="http://schemas.microsoft.com/office/drawing/2014/main" id="{8DF67618-B87B-4195-8E24-3B126F79F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Color 2">
            <a:extLst>
              <a:ext uri="{FF2B5EF4-FFF2-40B4-BE49-F238E27FC236}">
                <a16:creationId xmlns:a16="http://schemas.microsoft.com/office/drawing/2014/main" id="{64960379-9FF9-400A-A8A8-F5AB633FD3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 name="Group 21">
            <a:extLst>
              <a:ext uri="{FF2B5EF4-FFF2-40B4-BE49-F238E27FC236}">
                <a16:creationId xmlns:a16="http://schemas.microsoft.com/office/drawing/2014/main" id="{2C491629-AE25-486B-9B22-2CE4EE8F7E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218159" cy="6858000"/>
            <a:chOff x="651279" y="598259"/>
            <a:chExt cx="10889442" cy="5680742"/>
          </a:xfrm>
        </p:grpSpPr>
        <p:sp>
          <p:nvSpPr>
            <p:cNvPr id="23" name="Color">
              <a:extLst>
                <a:ext uri="{FF2B5EF4-FFF2-40B4-BE49-F238E27FC236}">
                  <a16:creationId xmlns:a16="http://schemas.microsoft.com/office/drawing/2014/main" id="{590EB173-7DC2-4BE8-BC08-19BC09DBD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Color">
              <a:extLst>
                <a:ext uri="{FF2B5EF4-FFF2-40B4-BE49-F238E27FC236}">
                  <a16:creationId xmlns:a16="http://schemas.microsoft.com/office/drawing/2014/main" id="{0731E2C9-2CF0-48B4-9CEA-35B2199AF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6" name="Group 2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7" name="Freeform: Shape 2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8" name="Freeform: Shape 2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0" name="Freeform: Shape 2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1" name="Freeform: Shape 3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2" name="Freeform: Shape 3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3" name="Freeform: Shape 3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2D0EBBA3-DAC0-7166-2137-E44B10A40ED9}"/>
              </a:ext>
            </a:extLst>
          </p:cNvPr>
          <p:cNvSpPr>
            <a:spLocks noGrp="1"/>
          </p:cNvSpPr>
          <p:nvPr>
            <p:ph type="title"/>
          </p:nvPr>
        </p:nvSpPr>
        <p:spPr>
          <a:xfrm>
            <a:off x="786385" y="841248"/>
            <a:ext cx="5129600" cy="5340097"/>
          </a:xfrm>
        </p:spPr>
        <p:txBody>
          <a:bodyPr anchor="ctr">
            <a:normAutofit/>
          </a:bodyPr>
          <a:lstStyle/>
          <a:p>
            <a:r>
              <a:rPr lang="en-US" sz="4800" b="1" dirty="0">
                <a:solidFill>
                  <a:schemeClr val="bg1"/>
                </a:solidFill>
              </a:rPr>
              <a:t>Transformer models for language</a:t>
            </a:r>
            <a:br>
              <a:rPr lang="en-US" sz="4800" b="1" dirty="0">
                <a:solidFill>
                  <a:schemeClr val="bg1"/>
                </a:solidFill>
              </a:rPr>
            </a:br>
            <a:endParaRPr lang="en-US" sz="4800" dirty="0">
              <a:solidFill>
                <a:schemeClr val="bg1"/>
              </a:solidFill>
            </a:endParaRPr>
          </a:p>
        </p:txBody>
      </p:sp>
      <p:graphicFrame>
        <p:nvGraphicFramePr>
          <p:cNvPr id="5" name="Content Placeholder 2">
            <a:extLst>
              <a:ext uri="{FF2B5EF4-FFF2-40B4-BE49-F238E27FC236}">
                <a16:creationId xmlns:a16="http://schemas.microsoft.com/office/drawing/2014/main" id="{74D9F7D0-AD9A-50DF-2ABA-51AB06F7534D}"/>
              </a:ext>
            </a:extLst>
          </p:cNvPr>
          <p:cNvGraphicFramePr>
            <a:graphicFrameLocks noGrp="1"/>
          </p:cNvGraphicFramePr>
          <p:nvPr>
            <p:ph idx="1"/>
            <p:extLst>
              <p:ext uri="{D42A27DB-BD31-4B8C-83A1-F6EECF244321}">
                <p14:modId xmlns:p14="http://schemas.microsoft.com/office/powerpoint/2010/main" val="3997976715"/>
              </p:ext>
            </p:extLst>
          </p:nvPr>
        </p:nvGraphicFramePr>
        <p:xfrm>
          <a:off x="6525628" y="529388"/>
          <a:ext cx="4828172" cy="56519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57313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0FB676-69D8-03C6-57EE-C166155AE2F4}"/>
              </a:ext>
            </a:extLst>
          </p:cNvPr>
          <p:cNvSpPr>
            <a:spLocks noGrp="1"/>
          </p:cNvSpPr>
          <p:nvPr>
            <p:ph type="title"/>
          </p:nvPr>
        </p:nvSpPr>
        <p:spPr>
          <a:xfrm>
            <a:off x="1245072" y="1289765"/>
            <a:ext cx="3651101" cy="4270963"/>
          </a:xfrm>
        </p:spPr>
        <p:txBody>
          <a:bodyPr anchor="ctr">
            <a:normAutofit/>
          </a:bodyPr>
          <a:lstStyle/>
          <a:p>
            <a:pPr algn="ctr"/>
            <a:r>
              <a:rPr lang="en-US" sz="4800" b="1">
                <a:solidFill>
                  <a:srgbClr val="FFFFFF"/>
                </a:solidFill>
              </a:rPr>
              <a:t>Transformers are language models</a:t>
            </a:r>
            <a:br>
              <a:rPr lang="en-US" sz="4800" b="1">
                <a:solidFill>
                  <a:srgbClr val="FFFFFF"/>
                </a:solidFill>
              </a:rPr>
            </a:br>
            <a:endParaRPr lang="en-US" sz="4800">
              <a:solidFill>
                <a:srgbClr val="FFFFFF"/>
              </a:solidFill>
            </a:endParaRP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EDA1A322-0A22-FD98-02B5-43E99A824B61}"/>
              </a:ext>
            </a:extLst>
          </p:cNvPr>
          <p:cNvSpPr>
            <a:spLocks noGrp="1"/>
          </p:cNvSpPr>
          <p:nvPr>
            <p:ph idx="1"/>
          </p:nvPr>
        </p:nvSpPr>
        <p:spPr>
          <a:xfrm>
            <a:off x="6297233" y="518400"/>
            <a:ext cx="4771607" cy="5837949"/>
          </a:xfrm>
        </p:spPr>
        <p:txBody>
          <a:bodyPr anchor="ctr">
            <a:normAutofit/>
          </a:bodyPr>
          <a:lstStyle/>
          <a:p>
            <a:r>
              <a:rPr lang="en-US" sz="1700" dirty="0">
                <a:solidFill>
                  <a:schemeClr val="tx1">
                    <a:alpha val="80000"/>
                  </a:schemeClr>
                </a:solidFill>
              </a:rPr>
              <a:t>All the Transformer models mentioned above (GPT, BERT, T5, etc.) have been trained as </a:t>
            </a:r>
            <a:r>
              <a:rPr lang="en-US" sz="1700" i="1" dirty="0">
                <a:solidFill>
                  <a:schemeClr val="tx1">
                    <a:alpha val="80000"/>
                  </a:schemeClr>
                </a:solidFill>
              </a:rPr>
              <a:t>language models</a:t>
            </a:r>
            <a:r>
              <a:rPr lang="en-US" sz="1700" dirty="0">
                <a:solidFill>
                  <a:schemeClr val="tx1">
                    <a:alpha val="80000"/>
                  </a:schemeClr>
                </a:solidFill>
              </a:rPr>
              <a:t>. This means they have been trained on large amounts of raw text in a self-supervised fashion.</a:t>
            </a:r>
          </a:p>
          <a:p>
            <a:r>
              <a:rPr lang="en-US" sz="1700" dirty="0">
                <a:solidFill>
                  <a:schemeClr val="tx1">
                    <a:alpha val="80000"/>
                  </a:schemeClr>
                </a:solidFill>
              </a:rPr>
              <a:t>Self-supervised learning is a type of training in which the objective is automatically computed from the inputs of the model. That means that humans are not needed to label the data!</a:t>
            </a:r>
          </a:p>
          <a:p>
            <a:r>
              <a:rPr lang="en-US" sz="1700" dirty="0">
                <a:solidFill>
                  <a:schemeClr val="tx1">
                    <a:alpha val="80000"/>
                  </a:schemeClr>
                </a:solidFill>
              </a:rPr>
              <a:t>This type of model develops a statistical understanding of the language it has been trained on, but it’s less useful for specific practical tasks. Because of this, the general pretrained model then goes through a process called </a:t>
            </a:r>
            <a:r>
              <a:rPr lang="en-US" sz="1700" i="1" dirty="0">
                <a:solidFill>
                  <a:schemeClr val="tx1">
                    <a:alpha val="80000"/>
                  </a:schemeClr>
                </a:solidFill>
              </a:rPr>
              <a:t>transfer learning</a:t>
            </a:r>
            <a:r>
              <a:rPr lang="en-US" sz="1700" dirty="0">
                <a:solidFill>
                  <a:schemeClr val="tx1">
                    <a:alpha val="80000"/>
                  </a:schemeClr>
                </a:solidFill>
              </a:rPr>
              <a:t> or </a:t>
            </a:r>
            <a:r>
              <a:rPr lang="en-US" sz="1700" i="1" dirty="0">
                <a:solidFill>
                  <a:schemeClr val="tx1">
                    <a:alpha val="80000"/>
                  </a:schemeClr>
                </a:solidFill>
              </a:rPr>
              <a:t>fine-tuning</a:t>
            </a:r>
            <a:r>
              <a:rPr lang="en-US" sz="1700" dirty="0">
                <a:solidFill>
                  <a:schemeClr val="tx1">
                    <a:alpha val="80000"/>
                  </a:schemeClr>
                </a:solidFill>
              </a:rPr>
              <a:t>. During this process, the model is fine-tuned in a supervised way — that is, using human-annotated labels — on a given task.</a:t>
            </a:r>
          </a:p>
          <a:p>
            <a:pPr marL="0" indent="0">
              <a:buNone/>
            </a:pPr>
            <a:endParaRPr lang="en-US" sz="1700" dirty="0">
              <a:solidFill>
                <a:schemeClr val="tx1">
                  <a:alpha val="80000"/>
                </a:schemeClr>
              </a:solidFill>
            </a:endParaRP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74792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4BD62-AD20-25D9-DFE7-51C276D77A37}"/>
              </a:ext>
            </a:extLst>
          </p:cNvPr>
          <p:cNvSpPr>
            <a:spLocks noGrp="1"/>
          </p:cNvSpPr>
          <p:nvPr>
            <p:ph type="title"/>
          </p:nvPr>
        </p:nvSpPr>
        <p:spPr/>
        <p:txBody>
          <a:bodyPr/>
          <a:lstStyle/>
          <a:p>
            <a:pPr algn="ctr"/>
            <a:r>
              <a:rPr lang="en-US" dirty="0"/>
              <a:t>Ways of training Transformers </a:t>
            </a:r>
          </a:p>
        </p:txBody>
      </p:sp>
      <p:sp>
        <p:nvSpPr>
          <p:cNvPr id="3" name="Content Placeholder 2">
            <a:extLst>
              <a:ext uri="{FF2B5EF4-FFF2-40B4-BE49-F238E27FC236}">
                <a16:creationId xmlns:a16="http://schemas.microsoft.com/office/drawing/2014/main" id="{34B740BB-A011-75CF-3C9D-9BE22C2A322E}"/>
              </a:ext>
            </a:extLst>
          </p:cNvPr>
          <p:cNvSpPr>
            <a:spLocks noGrp="1"/>
          </p:cNvSpPr>
          <p:nvPr>
            <p:ph idx="1"/>
          </p:nvPr>
        </p:nvSpPr>
        <p:spPr/>
        <p:txBody>
          <a:bodyPr/>
          <a:lstStyle/>
          <a:p>
            <a:pPr marL="0" indent="0">
              <a:buNone/>
            </a:pPr>
            <a:r>
              <a:rPr lang="en-US" b="1" i="1" dirty="0"/>
              <a:t>Pretraining</a:t>
            </a:r>
          </a:p>
          <a:p>
            <a:pPr marL="0" indent="0">
              <a:buNone/>
            </a:pPr>
            <a:r>
              <a:rPr lang="en-US" dirty="0"/>
              <a:t> is the act of training a model from scratch: the weights are randomly initialized, and the training starts without any prior knowledge.</a:t>
            </a:r>
          </a:p>
        </p:txBody>
      </p:sp>
      <p:pic>
        <p:nvPicPr>
          <p:cNvPr id="6" name="Picture 5">
            <a:extLst>
              <a:ext uri="{FF2B5EF4-FFF2-40B4-BE49-F238E27FC236}">
                <a16:creationId xmlns:a16="http://schemas.microsoft.com/office/drawing/2014/main" id="{53FC65ED-363A-6A41-C2BC-260D8F53E2FB}"/>
              </a:ext>
            </a:extLst>
          </p:cNvPr>
          <p:cNvPicPr>
            <a:picLocks noChangeAspect="1"/>
          </p:cNvPicPr>
          <p:nvPr/>
        </p:nvPicPr>
        <p:blipFill>
          <a:blip r:embed="rId2"/>
          <a:stretch>
            <a:fillRect/>
          </a:stretch>
        </p:blipFill>
        <p:spPr>
          <a:xfrm>
            <a:off x="503959" y="3617706"/>
            <a:ext cx="11184082" cy="3085477"/>
          </a:xfrm>
          <a:prstGeom prst="rect">
            <a:avLst/>
          </a:prstGeom>
        </p:spPr>
      </p:pic>
    </p:spTree>
    <p:extLst>
      <p:ext uri="{BB962C8B-B14F-4D97-AF65-F5344CB8AC3E}">
        <p14:creationId xmlns:p14="http://schemas.microsoft.com/office/powerpoint/2010/main" val="27532996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D01D-0FA1-7C87-9652-F719870FE158}"/>
              </a:ext>
            </a:extLst>
          </p:cNvPr>
          <p:cNvSpPr>
            <a:spLocks noGrp="1"/>
          </p:cNvSpPr>
          <p:nvPr>
            <p:ph type="title"/>
          </p:nvPr>
        </p:nvSpPr>
        <p:spPr/>
        <p:txBody>
          <a:bodyPr/>
          <a:lstStyle/>
          <a:p>
            <a:pPr algn="ctr"/>
            <a:r>
              <a:rPr lang="en-US" dirty="0"/>
              <a:t>Ways of training Transformers </a:t>
            </a:r>
          </a:p>
        </p:txBody>
      </p:sp>
      <p:sp>
        <p:nvSpPr>
          <p:cNvPr id="3" name="Content Placeholder 2">
            <a:extLst>
              <a:ext uri="{FF2B5EF4-FFF2-40B4-BE49-F238E27FC236}">
                <a16:creationId xmlns:a16="http://schemas.microsoft.com/office/drawing/2014/main" id="{5BCEB2FD-8CEB-2052-2EAF-198456717614}"/>
              </a:ext>
            </a:extLst>
          </p:cNvPr>
          <p:cNvSpPr>
            <a:spLocks noGrp="1"/>
          </p:cNvSpPr>
          <p:nvPr>
            <p:ph idx="1"/>
          </p:nvPr>
        </p:nvSpPr>
        <p:spPr/>
        <p:txBody>
          <a:bodyPr/>
          <a:lstStyle/>
          <a:p>
            <a:r>
              <a:rPr lang="en-US" i="1" dirty="0"/>
              <a:t>Fine-tuning</a:t>
            </a:r>
            <a:r>
              <a:rPr lang="en-US" dirty="0"/>
              <a:t>, on the other hand, is the training done </a:t>
            </a:r>
            <a:r>
              <a:rPr lang="en-US" b="1" dirty="0"/>
              <a:t>after</a:t>
            </a:r>
            <a:r>
              <a:rPr lang="en-US" dirty="0"/>
              <a:t> a model has been pretrained. To perform fine-tuning, you first acquire a pretrained language model, then perform additional training with a dataset specific to your task.</a:t>
            </a:r>
          </a:p>
        </p:txBody>
      </p:sp>
      <p:pic>
        <p:nvPicPr>
          <p:cNvPr id="5" name="Picture 4">
            <a:extLst>
              <a:ext uri="{FF2B5EF4-FFF2-40B4-BE49-F238E27FC236}">
                <a16:creationId xmlns:a16="http://schemas.microsoft.com/office/drawing/2014/main" id="{3FBA28EE-F561-948A-3A0A-141852937E03}"/>
              </a:ext>
            </a:extLst>
          </p:cNvPr>
          <p:cNvPicPr>
            <a:picLocks noChangeAspect="1"/>
          </p:cNvPicPr>
          <p:nvPr/>
        </p:nvPicPr>
        <p:blipFill>
          <a:blip r:embed="rId2"/>
          <a:stretch>
            <a:fillRect/>
          </a:stretch>
        </p:blipFill>
        <p:spPr>
          <a:xfrm>
            <a:off x="976746" y="3604202"/>
            <a:ext cx="10470718" cy="2888673"/>
          </a:xfrm>
          <a:prstGeom prst="rect">
            <a:avLst/>
          </a:prstGeom>
        </p:spPr>
      </p:pic>
    </p:spTree>
    <p:extLst>
      <p:ext uri="{BB962C8B-B14F-4D97-AF65-F5344CB8AC3E}">
        <p14:creationId xmlns:p14="http://schemas.microsoft.com/office/powerpoint/2010/main" val="6207677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3C8AAE-BF39-9C6F-89E4-AB83F57E4DE2}"/>
              </a:ext>
            </a:extLst>
          </p:cNvPr>
          <p:cNvSpPr>
            <a:spLocks noGrp="1"/>
          </p:cNvSpPr>
          <p:nvPr>
            <p:ph type="title"/>
          </p:nvPr>
        </p:nvSpPr>
        <p:spPr>
          <a:xfrm>
            <a:off x="1245072" y="1289765"/>
            <a:ext cx="3651101" cy="4270963"/>
          </a:xfrm>
        </p:spPr>
        <p:txBody>
          <a:bodyPr anchor="ctr">
            <a:normAutofit/>
          </a:bodyPr>
          <a:lstStyle/>
          <a:p>
            <a:pPr algn="ctr"/>
            <a:r>
              <a:rPr lang="en-US" sz="4300">
                <a:solidFill>
                  <a:srgbClr val="FFFFFF"/>
                </a:solidFill>
              </a:rPr>
              <a:t>Wait — why not simply train the model for your final use case from the start (</a:t>
            </a:r>
            <a:r>
              <a:rPr lang="en-US" sz="4300" b="1">
                <a:solidFill>
                  <a:srgbClr val="FFFFFF"/>
                </a:solidFill>
              </a:rPr>
              <a:t>scratch</a:t>
            </a:r>
            <a:r>
              <a:rPr lang="en-US" sz="4300">
                <a:solidFill>
                  <a:srgbClr val="FFFFFF"/>
                </a:solidFill>
              </a:rPr>
              <a:t>)? </a:t>
            </a: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D7E740D9-6E88-EBED-FB3C-BA6FDDD87DA9}"/>
              </a:ext>
            </a:extLst>
          </p:cNvPr>
          <p:cNvSpPr>
            <a:spLocks noGrp="1"/>
          </p:cNvSpPr>
          <p:nvPr>
            <p:ph idx="1"/>
          </p:nvPr>
        </p:nvSpPr>
        <p:spPr>
          <a:xfrm>
            <a:off x="6297233" y="518400"/>
            <a:ext cx="4771607" cy="5837949"/>
          </a:xfrm>
        </p:spPr>
        <p:txBody>
          <a:bodyPr anchor="ctr">
            <a:normAutofit/>
          </a:bodyPr>
          <a:lstStyle/>
          <a:p>
            <a:r>
              <a:rPr lang="en-US" sz="2000" dirty="0">
                <a:solidFill>
                  <a:schemeClr val="tx1">
                    <a:alpha val="80000"/>
                  </a:schemeClr>
                </a:solidFill>
              </a:rPr>
              <a:t>The pretrained model was already trained on a dataset that has some similarities with the fine-tuning dataset.</a:t>
            </a:r>
          </a:p>
          <a:p>
            <a:r>
              <a:rPr lang="en-US" sz="2000" dirty="0">
                <a:solidFill>
                  <a:schemeClr val="tx1">
                    <a:alpha val="80000"/>
                  </a:schemeClr>
                </a:solidFill>
              </a:rPr>
              <a:t> The fine-tuning process is thus able to take advantage of knowledge acquired by the initial model during pretraining (for instance, with NLP problems, the pretrained model will have some kind of statistical</a:t>
            </a:r>
          </a:p>
          <a:p>
            <a:r>
              <a:rPr lang="en-US" sz="2000" dirty="0">
                <a:solidFill>
                  <a:schemeClr val="tx1">
                    <a:alpha val="80000"/>
                  </a:schemeClr>
                </a:solidFill>
              </a:rPr>
              <a:t> understanding of the language you are using for your task).</a:t>
            </a:r>
            <a:br>
              <a:rPr lang="en-US" sz="2000" dirty="0">
                <a:solidFill>
                  <a:schemeClr val="tx1">
                    <a:alpha val="80000"/>
                  </a:schemeClr>
                </a:solidFill>
              </a:rPr>
            </a:br>
            <a:r>
              <a:rPr lang="en-US" sz="2000" dirty="0">
                <a:solidFill>
                  <a:schemeClr val="tx1">
                    <a:alpha val="80000"/>
                  </a:schemeClr>
                </a:solidFill>
              </a:rPr>
              <a:t>Since the pretrained model was already trained on lots of data, the fine-tuning requires way less data to get decent results.</a:t>
            </a:r>
          </a:p>
          <a:p>
            <a:r>
              <a:rPr lang="en-US" sz="2000" dirty="0">
                <a:solidFill>
                  <a:schemeClr val="tx1">
                    <a:alpha val="80000"/>
                  </a:schemeClr>
                </a:solidFill>
              </a:rPr>
              <a:t>For the same reason, the amount of time and resources needed to get good results are much lower</a:t>
            </a:r>
            <a:br>
              <a:rPr lang="en-US" sz="2000" dirty="0">
                <a:solidFill>
                  <a:schemeClr val="tx1">
                    <a:alpha val="80000"/>
                  </a:schemeClr>
                </a:solidFill>
              </a:rPr>
            </a:br>
            <a:endParaRPr lang="en-US" sz="2000" dirty="0">
              <a:solidFill>
                <a:schemeClr val="tx1">
                  <a:alpha val="80000"/>
                </a:schemeClr>
              </a:solidFill>
            </a:endParaRP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70009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57EBE6-DF61-0ED6-AE06-5C45E5BB514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6AC257-6495-C36A-6142-55A70703DF6A}"/>
              </a:ext>
            </a:extLst>
          </p:cNvPr>
          <p:cNvSpPr>
            <a:spLocks noGrp="1"/>
          </p:cNvSpPr>
          <p:nvPr>
            <p:ph type="title"/>
          </p:nvPr>
        </p:nvSpPr>
        <p:spPr>
          <a:xfrm>
            <a:off x="841248" y="548640"/>
            <a:ext cx="3600860" cy="5431536"/>
          </a:xfrm>
        </p:spPr>
        <p:txBody>
          <a:bodyPr>
            <a:normAutofit/>
          </a:bodyPr>
          <a:lstStyle/>
          <a:p>
            <a:r>
              <a:rPr lang="en-US" sz="5400" b="1" dirty="0"/>
              <a:t>How language models work</a:t>
            </a:r>
            <a:br>
              <a:rPr lang="en-US" sz="5400" b="1" dirty="0"/>
            </a:br>
            <a:endParaRPr lang="en-US" sz="5400" dirty="0"/>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3949B43-CA67-F512-9B60-ADCA2753A535}"/>
              </a:ext>
            </a:extLst>
          </p:cNvPr>
          <p:cNvSpPr>
            <a:spLocks noGrp="1"/>
          </p:cNvSpPr>
          <p:nvPr>
            <p:ph idx="1"/>
          </p:nvPr>
        </p:nvSpPr>
        <p:spPr>
          <a:xfrm>
            <a:off x="5126418" y="552091"/>
            <a:ext cx="6224335" cy="5431536"/>
          </a:xfrm>
        </p:spPr>
        <p:txBody>
          <a:bodyPr anchor="ctr">
            <a:normAutofit/>
          </a:bodyPr>
          <a:lstStyle/>
          <a:p>
            <a:r>
              <a:rPr lang="en-US" dirty="0"/>
              <a:t>Language models work by being trained to predict the probability of a word given the context of surrounding words. This gives them a foundational understanding of language that can generalize to other tasks.</a:t>
            </a:r>
          </a:p>
          <a:p>
            <a:endParaRPr lang="en-US" sz="2000" dirty="0"/>
          </a:p>
        </p:txBody>
      </p:sp>
    </p:spTree>
    <p:extLst>
      <p:ext uri="{BB962C8B-B14F-4D97-AF65-F5344CB8AC3E}">
        <p14:creationId xmlns:p14="http://schemas.microsoft.com/office/powerpoint/2010/main" val="31402792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6D89A56-28D6-33F5-45B9-1438E278C35A}"/>
              </a:ext>
            </a:extLst>
          </p:cNvPr>
          <p:cNvSpPr>
            <a:spLocks noGrp="1"/>
          </p:cNvSpPr>
          <p:nvPr>
            <p:ph type="title"/>
          </p:nvPr>
        </p:nvSpPr>
        <p:spPr>
          <a:xfrm>
            <a:off x="1137034" y="609597"/>
            <a:ext cx="9392421" cy="1330841"/>
          </a:xfrm>
        </p:spPr>
        <p:txBody>
          <a:bodyPr>
            <a:normAutofit/>
          </a:bodyPr>
          <a:lstStyle/>
          <a:p>
            <a:r>
              <a:rPr lang="en-US" b="1" dirty="0"/>
              <a:t>How language models work</a:t>
            </a:r>
            <a:endParaRPr lang="en-US" dirty="0"/>
          </a:p>
        </p:txBody>
      </p:sp>
      <p:sp>
        <p:nvSpPr>
          <p:cNvPr id="3" name="Content Placeholder 2">
            <a:extLst>
              <a:ext uri="{FF2B5EF4-FFF2-40B4-BE49-F238E27FC236}">
                <a16:creationId xmlns:a16="http://schemas.microsoft.com/office/drawing/2014/main" id="{002C13A1-F37D-B161-A95C-294A819DDC49}"/>
              </a:ext>
            </a:extLst>
          </p:cNvPr>
          <p:cNvSpPr>
            <a:spLocks noGrp="1"/>
          </p:cNvSpPr>
          <p:nvPr>
            <p:ph idx="1"/>
          </p:nvPr>
        </p:nvSpPr>
        <p:spPr>
          <a:xfrm>
            <a:off x="77161" y="2176738"/>
            <a:ext cx="4958966" cy="4681262"/>
          </a:xfrm>
        </p:spPr>
        <p:txBody>
          <a:bodyPr>
            <a:normAutofit/>
          </a:bodyPr>
          <a:lstStyle/>
          <a:p>
            <a:r>
              <a:rPr lang="en-US" sz="2000" dirty="0"/>
              <a:t>There are two main approaches for </a:t>
            </a:r>
            <a:r>
              <a:rPr lang="en-US" sz="2000" dirty="0">
                <a:solidFill>
                  <a:srgbClr val="0070C0"/>
                </a:solidFill>
              </a:rPr>
              <a:t>training a transformer model:</a:t>
            </a:r>
          </a:p>
          <a:p>
            <a:pPr marL="0" indent="0">
              <a:buNone/>
            </a:pPr>
            <a:endParaRPr lang="en-US" sz="2000" b="1" dirty="0"/>
          </a:p>
          <a:p>
            <a:pPr marL="457200" indent="-457200">
              <a:buAutoNum type="arabicParenBoth"/>
            </a:pPr>
            <a:r>
              <a:rPr lang="en-US" sz="2000" b="1" dirty="0"/>
              <a:t>Causal language modeling (MLM)</a:t>
            </a:r>
            <a:r>
              <a:rPr lang="en-US" sz="2000" dirty="0"/>
              <a:t>:</a:t>
            </a:r>
          </a:p>
          <a:p>
            <a:pPr marL="0" indent="0">
              <a:buNone/>
            </a:pPr>
            <a:r>
              <a:rPr lang="en-US" sz="2000" dirty="0"/>
              <a:t>Used by decoder models like GPT, this approach predicts the next token based on all previous tokens in the sequence. The model can only use context from the left (previous tokens) to predict the next token</a:t>
            </a:r>
          </a:p>
          <a:p>
            <a:endParaRPr lang="en-US" sz="2000" dirty="0"/>
          </a:p>
        </p:txBody>
      </p:sp>
      <p:pic>
        <p:nvPicPr>
          <p:cNvPr id="5" name="Picture 4">
            <a:extLst>
              <a:ext uri="{FF2B5EF4-FFF2-40B4-BE49-F238E27FC236}">
                <a16:creationId xmlns:a16="http://schemas.microsoft.com/office/drawing/2014/main" id="{A3522C93-C53F-83E2-CC65-5F28EC7A10AD}"/>
              </a:ext>
            </a:extLst>
          </p:cNvPr>
          <p:cNvPicPr>
            <a:picLocks noChangeAspect="1"/>
          </p:cNvPicPr>
          <p:nvPr/>
        </p:nvPicPr>
        <p:blipFill>
          <a:blip r:embed="rId2"/>
          <a:stretch>
            <a:fillRect/>
          </a:stretch>
        </p:blipFill>
        <p:spPr>
          <a:xfrm>
            <a:off x="5036127" y="3156714"/>
            <a:ext cx="7114536" cy="2721309"/>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670846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FE2B664-9E07-4082-7076-443E7E50C709}"/>
              </a:ext>
            </a:extLst>
          </p:cNvPr>
          <p:cNvSpPr>
            <a:spLocks noGrp="1"/>
          </p:cNvSpPr>
          <p:nvPr>
            <p:ph type="title"/>
          </p:nvPr>
        </p:nvSpPr>
        <p:spPr>
          <a:xfrm>
            <a:off x="1137034" y="609597"/>
            <a:ext cx="9392421" cy="1330841"/>
          </a:xfrm>
        </p:spPr>
        <p:txBody>
          <a:bodyPr>
            <a:normAutofit/>
          </a:bodyPr>
          <a:lstStyle/>
          <a:p>
            <a:r>
              <a:rPr lang="en-US" b="1" dirty="0"/>
              <a:t>How language models work</a:t>
            </a:r>
            <a:endParaRPr lang="en-US" dirty="0"/>
          </a:p>
        </p:txBody>
      </p:sp>
      <p:sp>
        <p:nvSpPr>
          <p:cNvPr id="3" name="Content Placeholder 2">
            <a:extLst>
              <a:ext uri="{FF2B5EF4-FFF2-40B4-BE49-F238E27FC236}">
                <a16:creationId xmlns:a16="http://schemas.microsoft.com/office/drawing/2014/main" id="{3A36A848-1589-90EC-110C-23E315A09A05}"/>
              </a:ext>
            </a:extLst>
          </p:cNvPr>
          <p:cNvSpPr>
            <a:spLocks noGrp="1"/>
          </p:cNvSpPr>
          <p:nvPr>
            <p:ph idx="1"/>
          </p:nvPr>
        </p:nvSpPr>
        <p:spPr>
          <a:xfrm>
            <a:off x="1226127" y="1785495"/>
            <a:ext cx="4958966" cy="3917773"/>
          </a:xfrm>
        </p:spPr>
        <p:txBody>
          <a:bodyPr>
            <a:normAutofit/>
          </a:bodyPr>
          <a:lstStyle/>
          <a:p>
            <a:pPr marL="0" indent="0">
              <a:buNone/>
            </a:pPr>
            <a:r>
              <a:rPr lang="en-US" sz="2000" b="1" dirty="0"/>
              <a:t>(2) Causal language modeling (CLM)</a:t>
            </a:r>
            <a:r>
              <a:rPr lang="en-US" sz="2000" dirty="0"/>
              <a:t>:    </a:t>
            </a:r>
          </a:p>
          <a:p>
            <a:pPr marL="0" indent="0">
              <a:buNone/>
            </a:pPr>
            <a:r>
              <a:rPr lang="en-US" sz="2000" dirty="0"/>
              <a:t> Used by encoder models like BERT, this approach randomly masks some tokens in the input and trains the model to predict the original tokens based on the surrounding context. This allows the model to learn bidirectional  context                                                              (looking at words both before and after the masked word).</a:t>
            </a:r>
          </a:p>
          <a:p>
            <a:pPr marL="0" indent="0">
              <a:buNone/>
            </a:pPr>
            <a:endParaRPr lang="en-US" sz="2000" dirty="0"/>
          </a:p>
          <a:p>
            <a:endParaRPr lang="en-US" sz="2000" dirty="0"/>
          </a:p>
        </p:txBody>
      </p:sp>
      <p:pic>
        <p:nvPicPr>
          <p:cNvPr id="5" name="Picture 4">
            <a:extLst>
              <a:ext uri="{FF2B5EF4-FFF2-40B4-BE49-F238E27FC236}">
                <a16:creationId xmlns:a16="http://schemas.microsoft.com/office/drawing/2014/main" id="{4D92C727-F020-E6CF-43E3-E11E9973E21D}"/>
              </a:ext>
            </a:extLst>
          </p:cNvPr>
          <p:cNvPicPr>
            <a:picLocks noChangeAspect="1"/>
          </p:cNvPicPr>
          <p:nvPr/>
        </p:nvPicPr>
        <p:blipFill>
          <a:blip r:embed="rId2"/>
          <a:stretch>
            <a:fillRect/>
          </a:stretch>
        </p:blipFill>
        <p:spPr>
          <a:xfrm>
            <a:off x="1137034" y="4526868"/>
            <a:ext cx="8251796" cy="2331132"/>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713406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312B0E-5562-8D76-BC6E-B686993A212C}"/>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E914257E-1E2A-4AC7-89EC-1FB65C9C0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3E1C8F1-97F5-489C-8308-958F09657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1269336" cy="2008639"/>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C04FAF8E-69D4-0104-64D0-5F93213486CF}"/>
              </a:ext>
            </a:extLst>
          </p:cNvPr>
          <p:cNvSpPr>
            <a:spLocks noGrp="1"/>
          </p:cNvSpPr>
          <p:nvPr>
            <p:ph type="title"/>
          </p:nvPr>
        </p:nvSpPr>
        <p:spPr>
          <a:xfrm>
            <a:off x="723901" y="509587"/>
            <a:ext cx="7649239" cy="742951"/>
          </a:xfrm>
        </p:spPr>
        <p:txBody>
          <a:bodyPr vert="horz" lIns="91440" tIns="45720" rIns="91440" bIns="45720" rtlCol="0" anchor="ctr">
            <a:normAutofit/>
          </a:bodyPr>
          <a:lstStyle/>
          <a:p>
            <a:r>
              <a:rPr lang="en-US" sz="3600" kern="1200" dirty="0">
                <a:solidFill>
                  <a:schemeClr val="tx1"/>
                </a:solidFill>
                <a:latin typeface="+mj-lt"/>
                <a:ea typeface="+mj-ea"/>
                <a:cs typeface="+mj-cs"/>
              </a:rPr>
              <a:t>Environmental Effect </a:t>
            </a:r>
          </a:p>
        </p:txBody>
      </p:sp>
      <p:pic>
        <p:nvPicPr>
          <p:cNvPr id="5" name="Content Placeholder 4">
            <a:extLst>
              <a:ext uri="{FF2B5EF4-FFF2-40B4-BE49-F238E27FC236}">
                <a16:creationId xmlns:a16="http://schemas.microsoft.com/office/drawing/2014/main" id="{DD11FE02-9CE6-52A2-BB72-BCB061DE56EC}"/>
              </a:ext>
            </a:extLst>
          </p:cNvPr>
          <p:cNvPicPr>
            <a:picLocks noGrp="1" noChangeAspect="1"/>
          </p:cNvPicPr>
          <p:nvPr>
            <p:ph idx="1"/>
          </p:nvPr>
        </p:nvPicPr>
        <p:blipFill>
          <a:blip r:embed="rId2"/>
          <a:stretch>
            <a:fillRect/>
          </a:stretch>
        </p:blipFill>
        <p:spPr>
          <a:xfrm>
            <a:off x="705972" y="2440718"/>
            <a:ext cx="10768181" cy="3391978"/>
          </a:xfrm>
          <a:prstGeom prst="rect">
            <a:avLst/>
          </a:prstGeom>
        </p:spPr>
      </p:pic>
      <p:sp>
        <p:nvSpPr>
          <p:cNvPr id="14" name="Freeform: Shape 13">
            <a:extLst>
              <a:ext uri="{FF2B5EF4-FFF2-40B4-BE49-F238E27FC236}">
                <a16:creationId xmlns:a16="http://schemas.microsoft.com/office/drawing/2014/main" id="{DEB62645-D4DA-4E99-8344-B1536F63D1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277971"/>
            <a:ext cx="6884912" cy="580030"/>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92936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66F447-97B4-6641-9AA7-4FA49ED04C60}"/>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1050AE1B-E881-BADF-A6A2-C3FAFB2F14DC}"/>
              </a:ext>
            </a:extLst>
          </p:cNvPr>
          <p:cNvSpPr>
            <a:spLocks noGrp="1"/>
          </p:cNvSpPr>
          <p:nvPr>
            <p:ph type="title"/>
          </p:nvPr>
        </p:nvSpPr>
        <p:spPr>
          <a:xfrm>
            <a:off x="1188069" y="381935"/>
            <a:ext cx="4008583" cy="5974414"/>
          </a:xfrm>
        </p:spPr>
        <p:txBody>
          <a:bodyPr anchor="ctr">
            <a:normAutofit/>
          </a:bodyPr>
          <a:lstStyle/>
          <a:p>
            <a:r>
              <a:rPr lang="en-US" sz="7400" b="1" dirty="0">
                <a:solidFill>
                  <a:srgbClr val="FFFFFF"/>
                </a:solidFill>
              </a:rPr>
              <a:t>Types of language models</a:t>
            </a:r>
            <a:br>
              <a:rPr lang="en-US" sz="7400" b="1" dirty="0">
                <a:solidFill>
                  <a:srgbClr val="FFFFFF"/>
                </a:solidFill>
              </a:rPr>
            </a:br>
            <a:endParaRPr lang="en-US" sz="7400" dirty="0">
              <a:solidFill>
                <a:srgbClr val="FFFFFF"/>
              </a:solidFill>
            </a:endParaRPr>
          </a:p>
        </p:txBody>
      </p:sp>
      <p:grpSp>
        <p:nvGrpSpPr>
          <p:cNvPr id="30" name="Group 29">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31"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32"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33"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21" name="Content Placeholder 2">
            <a:extLst>
              <a:ext uri="{FF2B5EF4-FFF2-40B4-BE49-F238E27FC236}">
                <a16:creationId xmlns:a16="http://schemas.microsoft.com/office/drawing/2014/main" id="{2DC6443E-7B84-FF2A-41D9-28A6D311B5AB}"/>
              </a:ext>
            </a:extLst>
          </p:cNvPr>
          <p:cNvSpPr>
            <a:spLocks noGrp="1"/>
          </p:cNvSpPr>
          <p:nvPr>
            <p:ph idx="1"/>
          </p:nvPr>
        </p:nvSpPr>
        <p:spPr>
          <a:xfrm>
            <a:off x="6297233" y="518400"/>
            <a:ext cx="4771607" cy="5837949"/>
          </a:xfrm>
        </p:spPr>
        <p:txBody>
          <a:bodyPr anchor="ctr">
            <a:normAutofit/>
          </a:bodyPr>
          <a:lstStyle/>
          <a:p>
            <a:r>
              <a:rPr lang="en-US" sz="1700">
                <a:solidFill>
                  <a:schemeClr val="tx1">
                    <a:alpha val="80000"/>
                  </a:schemeClr>
                </a:solidFill>
              </a:rPr>
              <a:t>In the Transformers library, language models generally fall into three architectural categories:</a:t>
            </a:r>
          </a:p>
          <a:p>
            <a:pPr lvl="0"/>
            <a:r>
              <a:rPr lang="en-US" sz="1700" b="1">
                <a:solidFill>
                  <a:schemeClr val="tx1">
                    <a:alpha val="80000"/>
                  </a:schemeClr>
                </a:solidFill>
              </a:rPr>
              <a:t>Encoder-only models</a:t>
            </a:r>
            <a:r>
              <a:rPr lang="en-US" sz="1700">
                <a:solidFill>
                  <a:schemeClr val="tx1">
                    <a:alpha val="80000"/>
                  </a:schemeClr>
                </a:solidFill>
              </a:rPr>
              <a:t> (like BERT): These models use a bidirectional approach to understand context from both directions. They’re best suited for tasks that require deep understanding of text, such as classification, named entity recognition, and question answering.</a:t>
            </a:r>
          </a:p>
          <a:p>
            <a:pPr lvl="0"/>
            <a:r>
              <a:rPr lang="en-US" sz="1700" b="1">
                <a:solidFill>
                  <a:schemeClr val="tx1">
                    <a:alpha val="80000"/>
                  </a:schemeClr>
                </a:solidFill>
              </a:rPr>
              <a:t>Decoder-only models</a:t>
            </a:r>
            <a:r>
              <a:rPr lang="en-US" sz="1700">
                <a:solidFill>
                  <a:schemeClr val="tx1">
                    <a:alpha val="80000"/>
                  </a:schemeClr>
                </a:solidFill>
              </a:rPr>
              <a:t> (like GPT, Llama): These models process text from left to right and are particularly good at text generation tasks. They can complete sentences, write essays, or even generate code based on a prompt.</a:t>
            </a:r>
          </a:p>
          <a:p>
            <a:pPr lvl="0"/>
            <a:r>
              <a:rPr lang="en-US" sz="1700" b="1">
                <a:solidFill>
                  <a:schemeClr val="tx1">
                    <a:alpha val="80000"/>
                  </a:schemeClr>
                </a:solidFill>
              </a:rPr>
              <a:t>Encoder-decoder models</a:t>
            </a:r>
            <a:r>
              <a:rPr lang="en-US" sz="1700">
                <a:solidFill>
                  <a:schemeClr val="tx1">
                    <a:alpha val="80000"/>
                  </a:schemeClr>
                </a:solidFill>
              </a:rPr>
              <a:t> (like T5, BART): These models combine both approaches, using an encoder to understand the input and a decoder to generate output. They excel at sequence-to-sequence tasks like translation, summarization, and question answering.</a:t>
            </a:r>
          </a:p>
          <a:p>
            <a:endParaRPr lang="en-US" sz="1700">
              <a:solidFill>
                <a:schemeClr val="tx1">
                  <a:alpha val="80000"/>
                </a:schemeClr>
              </a:solidFill>
            </a:endParaRPr>
          </a:p>
        </p:txBody>
      </p:sp>
      <p:cxnSp>
        <p:nvCxnSpPr>
          <p:cNvPr id="35" name="Straight Connector 34">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58257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E02897-22DD-D0B7-2A91-95BD4B4D3B1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transformer-models-for-language">
            <a:extLst>
              <a:ext uri="{FF2B5EF4-FFF2-40B4-BE49-F238E27FC236}">
                <a16:creationId xmlns:a16="http://schemas.microsoft.com/office/drawing/2014/main" id="{89979237-B0A9-7D19-6CE0-964F1300FC2A}"/>
              </a:ext>
            </a:extLst>
          </p:cNvPr>
          <p:cNvPicPr>
            <a:picLocks noGrp="1" noChangeAspect="1"/>
          </p:cNvPicPr>
          <p:nvPr>
            <p:ph idx="1"/>
          </p:nvPr>
        </p:nvPicPr>
        <p:blipFill>
          <a:blip r:embed="rId2"/>
          <a:srcRect l="1690" r="1404" b="1"/>
          <a:stretch>
            <a:fillRect/>
          </a:stretch>
        </p:blipFill>
        <p:spPr>
          <a:xfrm>
            <a:off x="20" y="1282"/>
            <a:ext cx="12191980" cy="6856718"/>
          </a:xfrm>
          <a:prstGeom prst="rect">
            <a:avLst/>
          </a:prstGeom>
        </p:spPr>
      </p:pic>
    </p:spTree>
    <p:extLst>
      <p:ext uri="{BB962C8B-B14F-4D97-AF65-F5344CB8AC3E}">
        <p14:creationId xmlns:p14="http://schemas.microsoft.com/office/powerpoint/2010/main" val="2174376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18EB58-0147-56B5-2A40-C4B3052DC172}"/>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1A6B38-F1FC-9705-DE41-CC5E1F4D80E3}"/>
              </a:ext>
            </a:extLst>
          </p:cNvPr>
          <p:cNvSpPr>
            <a:spLocks noGrp="1"/>
          </p:cNvSpPr>
          <p:nvPr>
            <p:ph type="title"/>
          </p:nvPr>
        </p:nvSpPr>
        <p:spPr>
          <a:xfrm>
            <a:off x="686834" y="1153572"/>
            <a:ext cx="3200400" cy="4461163"/>
          </a:xfrm>
        </p:spPr>
        <p:txBody>
          <a:bodyPr>
            <a:normAutofit/>
          </a:bodyPr>
          <a:lstStyle/>
          <a:p>
            <a:r>
              <a:rPr lang="en-US">
                <a:solidFill>
                  <a:srgbClr val="FFFFFF"/>
                </a:solidFill>
              </a:rPr>
              <a:t>Choosing the right model </a:t>
            </a:r>
          </a:p>
        </p:txBody>
      </p:sp>
      <p:sp>
        <p:nvSpPr>
          <p:cNvPr id="20" name="Arc 19">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8E9E2A1-D8E0-9F81-E658-3DE48492C132}"/>
              </a:ext>
            </a:extLst>
          </p:cNvPr>
          <p:cNvSpPr>
            <a:spLocks noGrp="1"/>
          </p:cNvSpPr>
          <p:nvPr>
            <p:ph idx="1"/>
          </p:nvPr>
        </p:nvSpPr>
        <p:spPr>
          <a:xfrm>
            <a:off x="4167272" y="0"/>
            <a:ext cx="8024728" cy="6858001"/>
          </a:xfrm>
        </p:spPr>
        <p:txBody>
          <a:bodyPr anchor="ctr">
            <a:normAutofit/>
          </a:bodyPr>
          <a:lstStyle/>
          <a:p>
            <a:r>
              <a:rPr lang="en-US" dirty="0"/>
              <a:t>Understanding which part of the Transformer architecture (encoder, decoder, or both) is best suited for a particular NLP task is key to choosing the right model. </a:t>
            </a:r>
          </a:p>
          <a:p>
            <a:r>
              <a:rPr lang="en-US" dirty="0"/>
              <a:t>Generally : </a:t>
            </a:r>
          </a:p>
          <a:p>
            <a:r>
              <a:rPr lang="en-US" dirty="0"/>
              <a:t>tasks requiring bidirectional context use </a:t>
            </a:r>
            <a:r>
              <a:rPr lang="en-US" dirty="0">
                <a:solidFill>
                  <a:srgbClr val="00B0F0"/>
                </a:solidFill>
              </a:rPr>
              <a:t>encoders</a:t>
            </a:r>
            <a:r>
              <a:rPr lang="en-US" dirty="0"/>
              <a:t>,</a:t>
            </a:r>
          </a:p>
          <a:p>
            <a:r>
              <a:rPr lang="en-US" dirty="0"/>
              <a:t> tasks generating text use </a:t>
            </a:r>
            <a:r>
              <a:rPr lang="en-US" dirty="0">
                <a:solidFill>
                  <a:srgbClr val="FF0000"/>
                </a:solidFill>
              </a:rPr>
              <a:t>decoders</a:t>
            </a:r>
            <a:r>
              <a:rPr lang="en-US" dirty="0"/>
              <a:t>, </a:t>
            </a:r>
          </a:p>
          <a:p>
            <a:r>
              <a:rPr lang="en-US" dirty="0"/>
              <a:t>tasks converting one sequence to another use </a:t>
            </a:r>
            <a:r>
              <a:rPr lang="en-US" dirty="0">
                <a:solidFill>
                  <a:srgbClr val="00B050"/>
                </a:solidFill>
              </a:rPr>
              <a:t>encoder-decoders</a:t>
            </a:r>
            <a:r>
              <a:rPr lang="en-US" dirty="0"/>
              <a:t>.</a:t>
            </a:r>
          </a:p>
        </p:txBody>
      </p:sp>
    </p:spTree>
    <p:extLst>
      <p:ext uri="{BB962C8B-B14F-4D97-AF65-F5344CB8AC3E}">
        <p14:creationId xmlns:p14="http://schemas.microsoft.com/office/powerpoint/2010/main" val="40274834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250E6-8E3C-0D01-BD11-C9F6411C41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5F7DFB-2730-5246-57BE-0C6EF7D61AC5}"/>
              </a:ext>
            </a:extLst>
          </p:cNvPr>
          <p:cNvSpPr>
            <a:spLocks noGrp="1"/>
          </p:cNvSpPr>
          <p:nvPr>
            <p:ph type="title"/>
          </p:nvPr>
        </p:nvSpPr>
        <p:spPr>
          <a:xfrm>
            <a:off x="186813" y="237305"/>
            <a:ext cx="11818374" cy="781003"/>
          </a:xfrm>
        </p:spPr>
        <p:txBody>
          <a:bodyPr>
            <a:normAutofit/>
          </a:bodyPr>
          <a:lstStyle/>
          <a:p>
            <a:pPr algn="ctr"/>
            <a:r>
              <a:rPr lang="en-US" sz="3600" b="1" dirty="0"/>
              <a:t>Transformer</a:t>
            </a:r>
            <a:r>
              <a:rPr lang="en-US" sz="4000" b="1" dirty="0"/>
              <a:t> Archeticture </a:t>
            </a:r>
          </a:p>
        </p:txBody>
      </p:sp>
      <p:pic>
        <p:nvPicPr>
          <p:cNvPr id="5" name="Content Placeholder 4">
            <a:extLst>
              <a:ext uri="{FF2B5EF4-FFF2-40B4-BE49-F238E27FC236}">
                <a16:creationId xmlns:a16="http://schemas.microsoft.com/office/drawing/2014/main" id="{0E75BDC3-C927-B4B1-BDFB-444ECBD12CD2}"/>
              </a:ext>
            </a:extLst>
          </p:cNvPr>
          <p:cNvPicPr>
            <a:picLocks noGrp="1" noChangeAspect="1"/>
          </p:cNvPicPr>
          <p:nvPr>
            <p:ph idx="1"/>
          </p:nvPr>
        </p:nvPicPr>
        <p:blipFill>
          <a:blip r:embed="rId2"/>
          <a:stretch>
            <a:fillRect/>
          </a:stretch>
        </p:blipFill>
        <p:spPr>
          <a:xfrm>
            <a:off x="909820" y="970217"/>
            <a:ext cx="9636953" cy="5887783"/>
          </a:xfrm>
          <a:prstGeom prst="rect">
            <a:avLst/>
          </a:prstGeom>
        </p:spPr>
      </p:pic>
    </p:spTree>
    <p:extLst>
      <p:ext uri="{BB962C8B-B14F-4D97-AF65-F5344CB8AC3E}">
        <p14:creationId xmlns:p14="http://schemas.microsoft.com/office/powerpoint/2010/main" val="42317856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AC396-CCBE-85D6-3676-D4351045E0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8B8A53-ABBC-5D90-A1E8-0B14C333FA2D}"/>
              </a:ext>
            </a:extLst>
          </p:cNvPr>
          <p:cNvSpPr>
            <a:spLocks noGrp="1"/>
          </p:cNvSpPr>
          <p:nvPr>
            <p:ph type="title"/>
          </p:nvPr>
        </p:nvSpPr>
        <p:spPr>
          <a:xfrm>
            <a:off x="838200" y="365126"/>
            <a:ext cx="8738870" cy="715530"/>
          </a:xfrm>
        </p:spPr>
        <p:txBody>
          <a:bodyPr>
            <a:normAutofit/>
          </a:bodyPr>
          <a:lstStyle/>
          <a:p>
            <a:pPr algn="ctr"/>
            <a:r>
              <a:rPr lang="en-US" sz="3600" b="1" dirty="0"/>
              <a:t>Transformer Archeticture </a:t>
            </a:r>
            <a:endParaRPr lang="en-US" sz="3600" dirty="0"/>
          </a:p>
        </p:txBody>
      </p:sp>
      <p:pic>
        <p:nvPicPr>
          <p:cNvPr id="5" name="Content Placeholder 4">
            <a:extLst>
              <a:ext uri="{FF2B5EF4-FFF2-40B4-BE49-F238E27FC236}">
                <a16:creationId xmlns:a16="http://schemas.microsoft.com/office/drawing/2014/main" id="{EF962373-4EFA-E111-5638-664DED3BF9F8}"/>
              </a:ext>
            </a:extLst>
          </p:cNvPr>
          <p:cNvPicPr>
            <a:picLocks noGrp="1" noChangeAspect="1"/>
          </p:cNvPicPr>
          <p:nvPr>
            <p:ph idx="1"/>
          </p:nvPr>
        </p:nvPicPr>
        <p:blipFill>
          <a:blip r:embed="rId2"/>
          <a:stretch>
            <a:fillRect/>
          </a:stretch>
        </p:blipFill>
        <p:spPr>
          <a:xfrm>
            <a:off x="2614930" y="1825625"/>
            <a:ext cx="6962140" cy="4351338"/>
          </a:xfrm>
          <a:prstGeom prst="rect">
            <a:avLst/>
          </a:prstGeom>
        </p:spPr>
      </p:pic>
    </p:spTree>
    <p:extLst>
      <p:ext uri="{BB962C8B-B14F-4D97-AF65-F5344CB8AC3E}">
        <p14:creationId xmlns:p14="http://schemas.microsoft.com/office/powerpoint/2010/main" val="22512941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951D71-8F46-829A-FDB5-8F382950BBD1}"/>
              </a:ext>
            </a:extLst>
          </p:cNvPr>
          <p:cNvSpPr>
            <a:spLocks noGrp="1"/>
          </p:cNvSpPr>
          <p:nvPr>
            <p:ph type="title"/>
          </p:nvPr>
        </p:nvSpPr>
        <p:spPr>
          <a:xfrm>
            <a:off x="1245072" y="1289765"/>
            <a:ext cx="3651101" cy="4270963"/>
          </a:xfrm>
        </p:spPr>
        <p:txBody>
          <a:bodyPr anchor="ctr">
            <a:normAutofit/>
          </a:bodyPr>
          <a:lstStyle/>
          <a:p>
            <a:pPr algn="ctr"/>
            <a:r>
              <a:rPr lang="en-US" sz="4800" b="1">
                <a:solidFill>
                  <a:srgbClr val="FFFFFF"/>
                </a:solidFill>
              </a:rPr>
              <a:t>Modern Large Language Models (LLMs)</a:t>
            </a:r>
            <a:br>
              <a:rPr lang="en-US" sz="4800" b="1">
                <a:solidFill>
                  <a:srgbClr val="FFFFFF"/>
                </a:solidFill>
              </a:rPr>
            </a:br>
            <a:endParaRPr lang="en-US" sz="4800">
              <a:solidFill>
                <a:srgbClr val="FFFFFF"/>
              </a:solidFill>
            </a:endParaRP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B132CB55-CB6A-5139-1943-E83956DEB4D7}"/>
              </a:ext>
            </a:extLst>
          </p:cNvPr>
          <p:cNvSpPr>
            <a:spLocks noGrp="1"/>
          </p:cNvSpPr>
          <p:nvPr>
            <p:ph idx="1"/>
          </p:nvPr>
        </p:nvSpPr>
        <p:spPr>
          <a:xfrm>
            <a:off x="6297233" y="518400"/>
            <a:ext cx="4771607" cy="5837949"/>
          </a:xfrm>
        </p:spPr>
        <p:txBody>
          <a:bodyPr anchor="ctr">
            <a:normAutofit/>
          </a:bodyPr>
          <a:lstStyle/>
          <a:p>
            <a:r>
              <a:rPr lang="en-US" sz="2000" dirty="0">
                <a:solidFill>
                  <a:schemeClr val="tx1">
                    <a:alpha val="80000"/>
                  </a:schemeClr>
                </a:solidFill>
              </a:rPr>
              <a:t>Most modern Large Language Models (LLMs) use the </a:t>
            </a:r>
            <a:r>
              <a:rPr lang="en-US" sz="2000" b="1" dirty="0">
                <a:solidFill>
                  <a:srgbClr val="FF0000">
                    <a:alpha val="80000"/>
                  </a:srgbClr>
                </a:solidFill>
              </a:rPr>
              <a:t>decoder-only </a:t>
            </a:r>
            <a:r>
              <a:rPr lang="en-US" sz="2000" dirty="0">
                <a:solidFill>
                  <a:schemeClr val="tx1">
                    <a:alpha val="80000"/>
                  </a:schemeClr>
                </a:solidFill>
              </a:rPr>
              <a:t>architecture. These models have grown dramatically in size and capabilities over the past few years, with some of the largest models containing hundreds of billions of parameters.</a:t>
            </a:r>
          </a:p>
          <a:p>
            <a:r>
              <a:rPr lang="en-US" sz="2000" dirty="0">
                <a:solidFill>
                  <a:schemeClr val="tx1">
                    <a:alpha val="80000"/>
                  </a:schemeClr>
                </a:solidFill>
              </a:rPr>
              <a:t>Modern LLMs are typically trained in two phases:</a:t>
            </a:r>
          </a:p>
          <a:p>
            <a:pPr lvl="0"/>
            <a:r>
              <a:rPr lang="en-US" sz="2000" b="1" dirty="0">
                <a:solidFill>
                  <a:schemeClr val="tx1">
                    <a:alpha val="80000"/>
                  </a:schemeClr>
                </a:solidFill>
              </a:rPr>
              <a:t>Pretraining</a:t>
            </a:r>
            <a:r>
              <a:rPr lang="en-US" sz="2000" dirty="0">
                <a:solidFill>
                  <a:schemeClr val="tx1">
                    <a:alpha val="80000"/>
                  </a:schemeClr>
                </a:solidFill>
              </a:rPr>
              <a:t>: The model learns to predict the next token on vast amounts of text data</a:t>
            </a:r>
          </a:p>
          <a:p>
            <a:pPr lvl="0"/>
            <a:r>
              <a:rPr lang="en-US" sz="2000" b="1" dirty="0">
                <a:solidFill>
                  <a:schemeClr val="tx1">
                    <a:alpha val="80000"/>
                  </a:schemeClr>
                </a:solidFill>
              </a:rPr>
              <a:t>Instruction tuning</a:t>
            </a:r>
            <a:r>
              <a:rPr lang="en-US" sz="2000" dirty="0">
                <a:solidFill>
                  <a:schemeClr val="tx1">
                    <a:alpha val="80000"/>
                  </a:schemeClr>
                </a:solidFill>
              </a:rPr>
              <a:t>: The model is fine-tuned to follow instructions and generate helpful responses</a:t>
            </a:r>
          </a:p>
          <a:p>
            <a:r>
              <a:rPr lang="en-US" sz="2000" dirty="0">
                <a:solidFill>
                  <a:schemeClr val="tx1">
                    <a:alpha val="80000"/>
                  </a:schemeClr>
                </a:solidFill>
              </a:rPr>
              <a:t>This approach has led to models that can understand and generate human-like text across a wide range of topics and tasks.</a:t>
            </a:r>
          </a:p>
          <a:p>
            <a:endParaRPr lang="en-US" sz="2000" dirty="0">
              <a:solidFill>
                <a:schemeClr val="tx1">
                  <a:alpha val="80000"/>
                </a:schemeClr>
              </a:solidFill>
            </a:endParaRP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65665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50FDF6-2263-25E5-73DD-619033056CF5}"/>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89A320C9-9735-4D13-8279-C1C674841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7126"/>
            <a:ext cx="11167447" cy="2018806"/>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2" name="Rectangle 21">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9D14D11-9608-C6CA-6473-4DA8B86E389A}"/>
              </a:ext>
            </a:extLst>
          </p:cNvPr>
          <p:cNvSpPr>
            <a:spLocks noGrp="1"/>
          </p:cNvSpPr>
          <p:nvPr>
            <p:ph type="title"/>
          </p:nvPr>
        </p:nvSpPr>
        <p:spPr>
          <a:xfrm>
            <a:off x="1115568" y="548640"/>
            <a:ext cx="10168128" cy="1179576"/>
          </a:xfrm>
        </p:spPr>
        <p:txBody>
          <a:bodyPr>
            <a:normAutofit/>
          </a:bodyPr>
          <a:lstStyle/>
          <a:p>
            <a:br>
              <a:rPr lang="en-US" sz="2500" b="1" dirty="0"/>
            </a:br>
            <a:r>
              <a:rPr lang="en-US" sz="2500" dirty="0"/>
              <a:t>Modern </a:t>
            </a:r>
            <a:r>
              <a:rPr lang="en-US" sz="2500" dirty="0">
                <a:solidFill>
                  <a:srgbClr val="FF0000"/>
                </a:solidFill>
              </a:rPr>
              <a:t>decoder-based LLMs </a:t>
            </a:r>
            <a:r>
              <a:rPr lang="en-US" sz="2500" dirty="0"/>
              <a:t>have demonstrated impressive capabilities:</a:t>
            </a:r>
            <a:br>
              <a:rPr lang="en-US" sz="2500" dirty="0"/>
            </a:br>
            <a:endParaRPr lang="en-US" sz="2500" dirty="0"/>
          </a:p>
        </p:txBody>
      </p:sp>
      <p:sp>
        <p:nvSpPr>
          <p:cNvPr id="24" name="Rectangle 23">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Content Placeholder 3">
            <a:extLst>
              <a:ext uri="{FF2B5EF4-FFF2-40B4-BE49-F238E27FC236}">
                <a16:creationId xmlns:a16="http://schemas.microsoft.com/office/drawing/2014/main" id="{14DDCB4E-369C-3859-CDC6-D8DE5AC08271}"/>
              </a:ext>
            </a:extLst>
          </p:cNvPr>
          <p:cNvGraphicFramePr>
            <a:graphicFrameLocks noGrp="1"/>
          </p:cNvGraphicFramePr>
          <p:nvPr>
            <p:ph idx="1"/>
            <p:extLst>
              <p:ext uri="{D42A27DB-BD31-4B8C-83A1-F6EECF244321}">
                <p14:modId xmlns:p14="http://schemas.microsoft.com/office/powerpoint/2010/main" val="4109792770"/>
              </p:ext>
            </p:extLst>
          </p:nvPr>
        </p:nvGraphicFramePr>
        <p:xfrm>
          <a:off x="1949203" y="2269730"/>
          <a:ext cx="8500860" cy="3993912"/>
        </p:xfrm>
        <a:graphic>
          <a:graphicData uri="http://schemas.openxmlformats.org/drawingml/2006/table">
            <a:tbl>
              <a:tblPr firstRow="1" bandRow="1">
                <a:tableStyleId>{5C22544A-7EE6-4342-B048-85BDC9FD1C3A}</a:tableStyleId>
              </a:tblPr>
              <a:tblGrid>
                <a:gridCol w="2741125">
                  <a:extLst>
                    <a:ext uri="{9D8B030D-6E8A-4147-A177-3AD203B41FA5}">
                      <a16:colId xmlns:a16="http://schemas.microsoft.com/office/drawing/2014/main" val="3901083613"/>
                    </a:ext>
                  </a:extLst>
                </a:gridCol>
                <a:gridCol w="2907909">
                  <a:extLst>
                    <a:ext uri="{9D8B030D-6E8A-4147-A177-3AD203B41FA5}">
                      <a16:colId xmlns:a16="http://schemas.microsoft.com/office/drawing/2014/main" val="2428024517"/>
                    </a:ext>
                  </a:extLst>
                </a:gridCol>
                <a:gridCol w="2851826">
                  <a:extLst>
                    <a:ext uri="{9D8B030D-6E8A-4147-A177-3AD203B41FA5}">
                      <a16:colId xmlns:a16="http://schemas.microsoft.com/office/drawing/2014/main" val="1412877449"/>
                    </a:ext>
                  </a:extLst>
                </a:gridCol>
              </a:tblGrid>
              <a:tr h="342384">
                <a:tc>
                  <a:txBody>
                    <a:bodyPr/>
                    <a:lstStyle/>
                    <a:p>
                      <a:pPr marL="0" marR="0" indent="0" algn="ctr" fontAlgn="ctr">
                        <a:buNone/>
                      </a:pPr>
                      <a:r>
                        <a:rPr lang="en-US" sz="1400">
                          <a:effectLst/>
                        </a:rPr>
                        <a:t>Capability</a:t>
                      </a:r>
                      <a:endParaRPr lang="en-US" sz="1400" b="1" i="0">
                        <a:effectLst/>
                        <a:latin typeface="Source Sans Pro" panose="020B0503030403020204" pitchFamily="34" charset="0"/>
                      </a:endParaRPr>
                    </a:p>
                  </a:txBody>
                  <a:tcPr marL="48695" marR="48695" marT="48695" marB="48695" anchor="ctr"/>
                </a:tc>
                <a:tc>
                  <a:txBody>
                    <a:bodyPr/>
                    <a:lstStyle/>
                    <a:p>
                      <a:pPr marL="0" marR="0" indent="0" algn="ctr" fontAlgn="ctr">
                        <a:buNone/>
                      </a:pPr>
                      <a:r>
                        <a:rPr lang="en-US" sz="1400">
                          <a:effectLst/>
                        </a:rPr>
                        <a:t>Description</a:t>
                      </a:r>
                      <a:endParaRPr lang="en-US" sz="1400" b="1" i="0">
                        <a:effectLst/>
                        <a:latin typeface="Source Sans Pro" panose="020B0503030403020204" pitchFamily="34" charset="0"/>
                      </a:endParaRPr>
                    </a:p>
                  </a:txBody>
                  <a:tcPr marL="48695" marR="48695" marT="48695" marB="48695" anchor="ctr"/>
                </a:tc>
                <a:tc>
                  <a:txBody>
                    <a:bodyPr/>
                    <a:lstStyle/>
                    <a:p>
                      <a:pPr marL="0" marR="0" indent="0" algn="ctr" fontAlgn="ctr">
                        <a:buNone/>
                      </a:pPr>
                      <a:r>
                        <a:rPr lang="en-US" sz="1400">
                          <a:effectLst/>
                        </a:rPr>
                        <a:t>Example</a:t>
                      </a:r>
                      <a:endParaRPr lang="en-US" sz="1400" b="1" i="0">
                        <a:effectLst/>
                        <a:latin typeface="Source Sans Pro" panose="020B0503030403020204" pitchFamily="34" charset="0"/>
                      </a:endParaRPr>
                    </a:p>
                  </a:txBody>
                  <a:tcPr marL="48695" marR="48695" marT="48695" marB="48695" anchor="ctr"/>
                </a:tc>
                <a:extLst>
                  <a:ext uri="{0D108BD9-81ED-4DB2-BD59-A6C34878D82A}">
                    <a16:rowId xmlns:a16="http://schemas.microsoft.com/office/drawing/2014/main" val="743041771"/>
                  </a:ext>
                </a:extLst>
              </a:tr>
              <a:tr h="551524">
                <a:tc>
                  <a:txBody>
                    <a:bodyPr/>
                    <a:lstStyle/>
                    <a:p>
                      <a:pPr marL="0" marR="0" indent="0" algn="l" fontAlgn="t">
                        <a:buNone/>
                      </a:pPr>
                      <a:r>
                        <a:rPr lang="en-US" sz="1400">
                          <a:effectLst/>
                        </a:rPr>
                        <a:t>Text generation</a:t>
                      </a:r>
                      <a:endParaRPr lang="en-US" sz="1400" b="0" i="0">
                        <a:effectLst/>
                        <a:latin typeface="Source Sans Pro" panose="020B0503030403020204" pitchFamily="34" charset="0"/>
                      </a:endParaRPr>
                    </a:p>
                  </a:txBody>
                  <a:tcPr marL="48695" marR="48695" marT="48695" marB="48695"/>
                </a:tc>
                <a:tc>
                  <a:txBody>
                    <a:bodyPr/>
                    <a:lstStyle/>
                    <a:p>
                      <a:pPr marL="0" marR="0" indent="0" algn="l" fontAlgn="t">
                        <a:buNone/>
                      </a:pPr>
                      <a:r>
                        <a:rPr lang="en-US" sz="1400" dirty="0">
                          <a:effectLst/>
                        </a:rPr>
                        <a:t>Creating coherent and contextually relevant text</a:t>
                      </a:r>
                      <a:endParaRPr lang="en-US" sz="1400" b="0" i="0" dirty="0">
                        <a:effectLst/>
                        <a:latin typeface="Source Sans Pro" panose="020B0503030403020204" pitchFamily="34" charset="0"/>
                      </a:endParaRPr>
                    </a:p>
                  </a:txBody>
                  <a:tcPr marL="48695" marR="48695" marT="48695" marB="48695"/>
                </a:tc>
                <a:tc>
                  <a:txBody>
                    <a:bodyPr/>
                    <a:lstStyle/>
                    <a:p>
                      <a:pPr marL="0" marR="0" indent="0" algn="l" fontAlgn="t">
                        <a:buNone/>
                      </a:pPr>
                      <a:r>
                        <a:rPr lang="en-US" sz="1400">
                          <a:effectLst/>
                        </a:rPr>
                        <a:t>Writing essays, stories, or emails</a:t>
                      </a:r>
                      <a:endParaRPr lang="en-US" sz="1400" b="0" i="0">
                        <a:effectLst/>
                        <a:latin typeface="Source Sans Pro" panose="020B0503030403020204" pitchFamily="34" charset="0"/>
                      </a:endParaRPr>
                    </a:p>
                  </a:txBody>
                  <a:tcPr marL="48695" marR="48695" marT="48695" marB="48695"/>
                </a:tc>
                <a:extLst>
                  <a:ext uri="{0D108BD9-81ED-4DB2-BD59-A6C34878D82A}">
                    <a16:rowId xmlns:a16="http://schemas.microsoft.com/office/drawing/2014/main" val="4049764445"/>
                  </a:ext>
                </a:extLst>
              </a:tr>
              <a:tr h="551524">
                <a:tc>
                  <a:txBody>
                    <a:bodyPr/>
                    <a:lstStyle/>
                    <a:p>
                      <a:pPr marL="0" marR="0" indent="0" algn="l" fontAlgn="t">
                        <a:buNone/>
                      </a:pPr>
                      <a:r>
                        <a:rPr lang="en-US" sz="1400">
                          <a:effectLst/>
                        </a:rPr>
                        <a:t>Summarization</a:t>
                      </a:r>
                      <a:endParaRPr lang="en-US" sz="1400" b="0" i="0">
                        <a:effectLst/>
                        <a:latin typeface="Source Sans Pro" panose="020B0503030403020204" pitchFamily="34" charset="0"/>
                      </a:endParaRPr>
                    </a:p>
                  </a:txBody>
                  <a:tcPr marL="48695" marR="48695" marT="48695" marB="48695"/>
                </a:tc>
                <a:tc>
                  <a:txBody>
                    <a:bodyPr/>
                    <a:lstStyle/>
                    <a:p>
                      <a:pPr marL="0" marR="0" indent="0" algn="l" fontAlgn="t">
                        <a:buNone/>
                      </a:pPr>
                      <a:r>
                        <a:rPr lang="en-US" sz="1400">
                          <a:effectLst/>
                        </a:rPr>
                        <a:t>Condensing long documents into shorter versions</a:t>
                      </a:r>
                      <a:endParaRPr lang="en-US" sz="1400" b="0" i="0">
                        <a:effectLst/>
                        <a:latin typeface="Source Sans Pro" panose="020B0503030403020204" pitchFamily="34" charset="0"/>
                      </a:endParaRPr>
                    </a:p>
                  </a:txBody>
                  <a:tcPr marL="48695" marR="48695" marT="48695" marB="48695"/>
                </a:tc>
                <a:tc>
                  <a:txBody>
                    <a:bodyPr/>
                    <a:lstStyle/>
                    <a:p>
                      <a:pPr marL="0" marR="0" indent="0" algn="l" fontAlgn="t">
                        <a:buNone/>
                      </a:pPr>
                      <a:r>
                        <a:rPr lang="en-US" sz="1400">
                          <a:effectLst/>
                        </a:rPr>
                        <a:t>Creating executive summaries of reports</a:t>
                      </a:r>
                      <a:endParaRPr lang="en-US" sz="1400" b="0" i="0">
                        <a:effectLst/>
                        <a:latin typeface="Source Sans Pro" panose="020B0503030403020204" pitchFamily="34" charset="0"/>
                      </a:endParaRPr>
                    </a:p>
                  </a:txBody>
                  <a:tcPr marL="48695" marR="48695" marT="48695" marB="48695"/>
                </a:tc>
                <a:extLst>
                  <a:ext uri="{0D108BD9-81ED-4DB2-BD59-A6C34878D82A}">
                    <a16:rowId xmlns:a16="http://schemas.microsoft.com/office/drawing/2014/main" val="2353796385"/>
                  </a:ext>
                </a:extLst>
              </a:tr>
              <a:tr h="342384">
                <a:tc>
                  <a:txBody>
                    <a:bodyPr/>
                    <a:lstStyle/>
                    <a:p>
                      <a:pPr marL="0" marR="0" indent="0" algn="l" fontAlgn="t">
                        <a:buNone/>
                      </a:pPr>
                      <a:r>
                        <a:rPr lang="en-US" sz="1400">
                          <a:effectLst/>
                        </a:rPr>
                        <a:t>Translation</a:t>
                      </a:r>
                      <a:endParaRPr lang="en-US" sz="1400" b="0" i="0">
                        <a:effectLst/>
                        <a:latin typeface="Source Sans Pro" panose="020B0503030403020204" pitchFamily="34" charset="0"/>
                      </a:endParaRPr>
                    </a:p>
                  </a:txBody>
                  <a:tcPr marL="48695" marR="48695" marT="48695" marB="48695"/>
                </a:tc>
                <a:tc>
                  <a:txBody>
                    <a:bodyPr/>
                    <a:lstStyle/>
                    <a:p>
                      <a:pPr marL="0" marR="0" indent="0" algn="l" fontAlgn="t">
                        <a:buNone/>
                      </a:pPr>
                      <a:r>
                        <a:rPr lang="en-US" sz="1400">
                          <a:effectLst/>
                        </a:rPr>
                        <a:t>Converting text between languages</a:t>
                      </a:r>
                      <a:endParaRPr lang="en-US" sz="1400" b="0" i="0">
                        <a:effectLst/>
                        <a:latin typeface="Source Sans Pro" panose="020B0503030403020204" pitchFamily="34" charset="0"/>
                      </a:endParaRPr>
                    </a:p>
                  </a:txBody>
                  <a:tcPr marL="48695" marR="48695" marT="48695" marB="48695"/>
                </a:tc>
                <a:tc>
                  <a:txBody>
                    <a:bodyPr/>
                    <a:lstStyle/>
                    <a:p>
                      <a:pPr marL="0" marR="0" indent="0" algn="l" fontAlgn="t">
                        <a:buNone/>
                      </a:pPr>
                      <a:r>
                        <a:rPr lang="en-US" sz="1400">
                          <a:effectLst/>
                        </a:rPr>
                        <a:t>Translating English to Spanish</a:t>
                      </a:r>
                      <a:endParaRPr lang="en-US" sz="1400" b="0" i="0">
                        <a:effectLst/>
                        <a:latin typeface="Source Sans Pro" panose="020B0503030403020204" pitchFamily="34" charset="0"/>
                      </a:endParaRPr>
                    </a:p>
                  </a:txBody>
                  <a:tcPr marL="48695" marR="48695" marT="48695" marB="48695"/>
                </a:tc>
                <a:extLst>
                  <a:ext uri="{0D108BD9-81ED-4DB2-BD59-A6C34878D82A}">
                    <a16:rowId xmlns:a16="http://schemas.microsoft.com/office/drawing/2014/main" val="3135171528"/>
                  </a:ext>
                </a:extLst>
              </a:tr>
              <a:tr h="551524">
                <a:tc>
                  <a:txBody>
                    <a:bodyPr/>
                    <a:lstStyle/>
                    <a:p>
                      <a:pPr marL="0" marR="0" indent="0" algn="l" fontAlgn="t">
                        <a:buNone/>
                      </a:pPr>
                      <a:r>
                        <a:rPr lang="en-US" sz="1400">
                          <a:effectLst/>
                        </a:rPr>
                        <a:t>Question answering</a:t>
                      </a:r>
                      <a:endParaRPr lang="en-US" sz="1400" b="0" i="0">
                        <a:effectLst/>
                        <a:latin typeface="Source Sans Pro" panose="020B0503030403020204" pitchFamily="34" charset="0"/>
                      </a:endParaRPr>
                    </a:p>
                  </a:txBody>
                  <a:tcPr marL="48695" marR="48695" marT="48695" marB="48695"/>
                </a:tc>
                <a:tc>
                  <a:txBody>
                    <a:bodyPr/>
                    <a:lstStyle/>
                    <a:p>
                      <a:pPr marL="0" marR="0" indent="0" algn="l" fontAlgn="t">
                        <a:buNone/>
                      </a:pPr>
                      <a:r>
                        <a:rPr lang="en-US" sz="1400">
                          <a:effectLst/>
                        </a:rPr>
                        <a:t>Providing answers to factual questions</a:t>
                      </a:r>
                      <a:endParaRPr lang="en-US" sz="1400" b="0" i="0">
                        <a:effectLst/>
                        <a:latin typeface="Source Sans Pro" panose="020B0503030403020204" pitchFamily="34" charset="0"/>
                      </a:endParaRPr>
                    </a:p>
                  </a:txBody>
                  <a:tcPr marL="48695" marR="48695" marT="48695" marB="48695"/>
                </a:tc>
                <a:tc>
                  <a:txBody>
                    <a:bodyPr/>
                    <a:lstStyle/>
                    <a:p>
                      <a:pPr marL="0" marR="0" indent="0" algn="l" fontAlgn="t">
                        <a:buNone/>
                      </a:pPr>
                      <a:r>
                        <a:rPr lang="en-US" sz="1400">
                          <a:effectLst/>
                        </a:rPr>
                        <a:t>“What is the capital of France?”</a:t>
                      </a:r>
                      <a:endParaRPr lang="en-US" sz="1400" b="0" i="0">
                        <a:effectLst/>
                        <a:latin typeface="Source Sans Pro" panose="020B0503030403020204" pitchFamily="34" charset="0"/>
                      </a:endParaRPr>
                    </a:p>
                  </a:txBody>
                  <a:tcPr marL="48695" marR="48695" marT="48695" marB="48695"/>
                </a:tc>
                <a:extLst>
                  <a:ext uri="{0D108BD9-81ED-4DB2-BD59-A6C34878D82A}">
                    <a16:rowId xmlns:a16="http://schemas.microsoft.com/office/drawing/2014/main" val="349276768"/>
                  </a:ext>
                </a:extLst>
              </a:tr>
              <a:tr h="551524">
                <a:tc>
                  <a:txBody>
                    <a:bodyPr/>
                    <a:lstStyle/>
                    <a:p>
                      <a:pPr marL="0" marR="0" indent="0" algn="l" fontAlgn="t">
                        <a:buNone/>
                      </a:pPr>
                      <a:r>
                        <a:rPr lang="en-US" sz="1400">
                          <a:effectLst/>
                        </a:rPr>
                        <a:t>Code generation</a:t>
                      </a:r>
                      <a:endParaRPr lang="en-US" sz="1400" b="0" i="0">
                        <a:effectLst/>
                        <a:latin typeface="Source Sans Pro" panose="020B0503030403020204" pitchFamily="34" charset="0"/>
                      </a:endParaRPr>
                    </a:p>
                  </a:txBody>
                  <a:tcPr marL="48695" marR="48695" marT="48695" marB="48695"/>
                </a:tc>
                <a:tc>
                  <a:txBody>
                    <a:bodyPr/>
                    <a:lstStyle/>
                    <a:p>
                      <a:pPr marL="0" marR="0" indent="0" algn="l" fontAlgn="t">
                        <a:buNone/>
                      </a:pPr>
                      <a:r>
                        <a:rPr lang="en-US" sz="1400">
                          <a:effectLst/>
                        </a:rPr>
                        <a:t>Writing or completing code snippets</a:t>
                      </a:r>
                      <a:endParaRPr lang="en-US" sz="1400" b="0" i="0">
                        <a:effectLst/>
                        <a:latin typeface="Source Sans Pro" panose="020B0503030403020204" pitchFamily="34" charset="0"/>
                      </a:endParaRPr>
                    </a:p>
                  </a:txBody>
                  <a:tcPr marL="48695" marR="48695" marT="48695" marB="48695"/>
                </a:tc>
                <a:tc>
                  <a:txBody>
                    <a:bodyPr/>
                    <a:lstStyle/>
                    <a:p>
                      <a:pPr marL="0" marR="0" indent="0" algn="l" fontAlgn="t">
                        <a:buNone/>
                      </a:pPr>
                      <a:r>
                        <a:rPr lang="en-US" sz="1400">
                          <a:effectLst/>
                        </a:rPr>
                        <a:t>Creating a function based on a description</a:t>
                      </a:r>
                      <a:endParaRPr lang="en-US" sz="1400" b="0" i="0">
                        <a:effectLst/>
                        <a:latin typeface="Source Sans Pro" panose="020B0503030403020204" pitchFamily="34" charset="0"/>
                      </a:endParaRPr>
                    </a:p>
                  </a:txBody>
                  <a:tcPr marL="48695" marR="48695" marT="48695" marB="48695"/>
                </a:tc>
                <a:extLst>
                  <a:ext uri="{0D108BD9-81ED-4DB2-BD59-A6C34878D82A}">
                    <a16:rowId xmlns:a16="http://schemas.microsoft.com/office/drawing/2014/main" val="105777822"/>
                  </a:ext>
                </a:extLst>
              </a:tr>
              <a:tr h="551524">
                <a:tc>
                  <a:txBody>
                    <a:bodyPr/>
                    <a:lstStyle/>
                    <a:p>
                      <a:pPr marL="0" marR="0" indent="0" algn="l" fontAlgn="t">
                        <a:buNone/>
                      </a:pPr>
                      <a:r>
                        <a:rPr lang="en-US" sz="1400">
                          <a:effectLst/>
                        </a:rPr>
                        <a:t>Reasoning</a:t>
                      </a:r>
                      <a:endParaRPr lang="en-US" sz="1400" b="0" i="0">
                        <a:effectLst/>
                        <a:latin typeface="Source Sans Pro" panose="020B0503030403020204" pitchFamily="34" charset="0"/>
                      </a:endParaRPr>
                    </a:p>
                  </a:txBody>
                  <a:tcPr marL="48695" marR="48695" marT="48695" marB="48695"/>
                </a:tc>
                <a:tc>
                  <a:txBody>
                    <a:bodyPr/>
                    <a:lstStyle/>
                    <a:p>
                      <a:pPr marL="0" marR="0" indent="0" algn="l" fontAlgn="t">
                        <a:buNone/>
                      </a:pPr>
                      <a:r>
                        <a:rPr lang="en-US" sz="1400">
                          <a:effectLst/>
                        </a:rPr>
                        <a:t>Working through problems step by step</a:t>
                      </a:r>
                      <a:endParaRPr lang="en-US" sz="1400" b="0" i="0">
                        <a:effectLst/>
                        <a:latin typeface="Source Sans Pro" panose="020B0503030403020204" pitchFamily="34" charset="0"/>
                      </a:endParaRPr>
                    </a:p>
                  </a:txBody>
                  <a:tcPr marL="48695" marR="48695" marT="48695" marB="48695"/>
                </a:tc>
                <a:tc>
                  <a:txBody>
                    <a:bodyPr/>
                    <a:lstStyle/>
                    <a:p>
                      <a:pPr marL="0" marR="0" indent="0" algn="l" fontAlgn="t">
                        <a:buNone/>
                      </a:pPr>
                      <a:r>
                        <a:rPr lang="en-US" sz="1400">
                          <a:effectLst/>
                        </a:rPr>
                        <a:t>Solving math problems or logical puzzles</a:t>
                      </a:r>
                      <a:endParaRPr lang="en-US" sz="1400" b="0" i="0">
                        <a:effectLst/>
                        <a:latin typeface="Source Sans Pro" panose="020B0503030403020204" pitchFamily="34" charset="0"/>
                      </a:endParaRPr>
                    </a:p>
                  </a:txBody>
                  <a:tcPr marL="48695" marR="48695" marT="48695" marB="48695"/>
                </a:tc>
                <a:extLst>
                  <a:ext uri="{0D108BD9-81ED-4DB2-BD59-A6C34878D82A}">
                    <a16:rowId xmlns:a16="http://schemas.microsoft.com/office/drawing/2014/main" val="3744374907"/>
                  </a:ext>
                </a:extLst>
              </a:tr>
              <a:tr h="551524">
                <a:tc>
                  <a:txBody>
                    <a:bodyPr/>
                    <a:lstStyle/>
                    <a:p>
                      <a:pPr marL="0" marR="0" indent="0" algn="l" fontAlgn="t">
                        <a:buNone/>
                      </a:pPr>
                      <a:r>
                        <a:rPr lang="en-US" sz="1400">
                          <a:effectLst/>
                        </a:rPr>
                        <a:t>Few-shot learning</a:t>
                      </a:r>
                      <a:endParaRPr lang="en-US" sz="1400" b="0" i="0">
                        <a:effectLst/>
                        <a:latin typeface="Source Sans Pro" panose="020B0503030403020204" pitchFamily="34" charset="0"/>
                      </a:endParaRPr>
                    </a:p>
                  </a:txBody>
                  <a:tcPr marL="48695" marR="48695" marT="48695" marB="48695"/>
                </a:tc>
                <a:tc>
                  <a:txBody>
                    <a:bodyPr/>
                    <a:lstStyle/>
                    <a:p>
                      <a:pPr marL="0" marR="0" indent="0" algn="l" fontAlgn="t">
                        <a:buNone/>
                      </a:pPr>
                      <a:r>
                        <a:rPr lang="en-US" sz="1400">
                          <a:effectLst/>
                        </a:rPr>
                        <a:t>Learning from a few examples in the prompt</a:t>
                      </a:r>
                      <a:endParaRPr lang="en-US" sz="1400" b="0" i="0">
                        <a:effectLst/>
                        <a:latin typeface="Source Sans Pro" panose="020B0503030403020204" pitchFamily="34" charset="0"/>
                      </a:endParaRPr>
                    </a:p>
                  </a:txBody>
                  <a:tcPr marL="48695" marR="48695" marT="48695" marB="48695"/>
                </a:tc>
                <a:tc>
                  <a:txBody>
                    <a:bodyPr/>
                    <a:lstStyle/>
                    <a:p>
                      <a:pPr marL="0" marR="0" indent="0" algn="l" fontAlgn="t">
                        <a:buNone/>
                      </a:pPr>
                      <a:r>
                        <a:rPr lang="en-US" sz="1400" dirty="0">
                          <a:effectLst/>
                        </a:rPr>
                        <a:t>Classifying text after seeing just 2-3 examples</a:t>
                      </a:r>
                      <a:endParaRPr lang="en-US" sz="1400" b="0" i="0" dirty="0">
                        <a:effectLst/>
                        <a:latin typeface="Source Sans Pro" panose="020B0503030403020204" pitchFamily="34" charset="0"/>
                      </a:endParaRPr>
                    </a:p>
                  </a:txBody>
                  <a:tcPr marL="48695" marR="48695" marT="48695" marB="48695"/>
                </a:tc>
                <a:extLst>
                  <a:ext uri="{0D108BD9-81ED-4DB2-BD59-A6C34878D82A}">
                    <a16:rowId xmlns:a16="http://schemas.microsoft.com/office/drawing/2014/main" val="3258219617"/>
                  </a:ext>
                </a:extLst>
              </a:tr>
            </a:tbl>
          </a:graphicData>
        </a:graphic>
      </p:graphicFrame>
    </p:spTree>
    <p:extLst>
      <p:ext uri="{BB962C8B-B14F-4D97-AF65-F5344CB8AC3E}">
        <p14:creationId xmlns:p14="http://schemas.microsoft.com/office/powerpoint/2010/main" val="17773527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3CC444-EAFE-26BC-ADE1-65E5CB66FF4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9A320C9-9735-4D13-8279-C1C674841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7126"/>
            <a:ext cx="11167447" cy="2018806"/>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Rectangle 13">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6CECCF5-40AE-AAF1-08B8-EE869C9771A2}"/>
              </a:ext>
            </a:extLst>
          </p:cNvPr>
          <p:cNvSpPr>
            <a:spLocks noGrp="1"/>
          </p:cNvSpPr>
          <p:nvPr>
            <p:ph type="title"/>
          </p:nvPr>
        </p:nvSpPr>
        <p:spPr>
          <a:xfrm>
            <a:off x="1011936" y="998274"/>
            <a:ext cx="10168128" cy="1179576"/>
          </a:xfrm>
        </p:spPr>
        <p:txBody>
          <a:bodyPr>
            <a:noAutofit/>
          </a:bodyPr>
          <a:lstStyle/>
          <a:p>
            <a:r>
              <a:rPr lang="en-US" sz="3200" dirty="0">
                <a:solidFill>
                  <a:srgbClr val="FF0000"/>
                </a:solidFill>
              </a:rPr>
              <a:t>Encoder-Decoder (Seq2Seq</a:t>
            </a:r>
            <a:r>
              <a:rPr lang="en-US" sz="3200" dirty="0"/>
              <a:t>) models excel at tasks that require transforming one form of text into another while preserving meaning. Some practical applications include:</a:t>
            </a:r>
            <a:br>
              <a:rPr lang="en-US" sz="3200" dirty="0"/>
            </a:br>
            <a:endParaRPr lang="en-US" sz="3200" dirty="0"/>
          </a:p>
        </p:txBody>
      </p:sp>
      <p:sp>
        <p:nvSpPr>
          <p:cNvPr id="16" name="Rectangle 15">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4">
            <a:extLst>
              <a:ext uri="{FF2B5EF4-FFF2-40B4-BE49-F238E27FC236}">
                <a16:creationId xmlns:a16="http://schemas.microsoft.com/office/drawing/2014/main" id="{2BA76790-05D0-BBE6-03AB-BABBAC3D2799}"/>
              </a:ext>
            </a:extLst>
          </p:cNvPr>
          <p:cNvGraphicFramePr>
            <a:graphicFrameLocks noGrp="1"/>
          </p:cNvGraphicFramePr>
          <p:nvPr>
            <p:ph idx="1"/>
            <p:extLst>
              <p:ext uri="{D42A27DB-BD31-4B8C-83A1-F6EECF244321}">
                <p14:modId xmlns:p14="http://schemas.microsoft.com/office/powerpoint/2010/main" val="4201566318"/>
              </p:ext>
            </p:extLst>
          </p:nvPr>
        </p:nvGraphicFramePr>
        <p:xfrm>
          <a:off x="1115568" y="2358271"/>
          <a:ext cx="10168129" cy="3816830"/>
        </p:xfrm>
        <a:graphic>
          <a:graphicData uri="http://schemas.openxmlformats.org/drawingml/2006/table">
            <a:tbl>
              <a:tblPr firstRow="1" bandRow="1">
                <a:tableStyleId>{5C22544A-7EE6-4342-B048-85BDC9FD1C3A}</a:tableStyleId>
              </a:tblPr>
              <a:tblGrid>
                <a:gridCol w="3621578">
                  <a:extLst>
                    <a:ext uri="{9D8B030D-6E8A-4147-A177-3AD203B41FA5}">
                      <a16:colId xmlns:a16="http://schemas.microsoft.com/office/drawing/2014/main" val="4064256864"/>
                    </a:ext>
                  </a:extLst>
                </a:gridCol>
                <a:gridCol w="3621578">
                  <a:extLst>
                    <a:ext uri="{9D8B030D-6E8A-4147-A177-3AD203B41FA5}">
                      <a16:colId xmlns:a16="http://schemas.microsoft.com/office/drawing/2014/main" val="950181530"/>
                    </a:ext>
                  </a:extLst>
                </a:gridCol>
                <a:gridCol w="2924973">
                  <a:extLst>
                    <a:ext uri="{9D8B030D-6E8A-4147-A177-3AD203B41FA5}">
                      <a16:colId xmlns:a16="http://schemas.microsoft.com/office/drawing/2014/main" val="3779613987"/>
                    </a:ext>
                  </a:extLst>
                </a:gridCol>
              </a:tblGrid>
              <a:tr h="447187">
                <a:tc>
                  <a:txBody>
                    <a:bodyPr/>
                    <a:lstStyle/>
                    <a:p>
                      <a:pPr marL="0" marR="0" indent="0" algn="ctr" fontAlgn="ctr">
                        <a:buNone/>
                      </a:pPr>
                      <a:r>
                        <a:rPr lang="en-US" sz="1900">
                          <a:effectLst/>
                        </a:rPr>
                        <a:t>Application</a:t>
                      </a:r>
                      <a:endParaRPr lang="en-US" sz="1900" b="1" i="0">
                        <a:effectLst/>
                        <a:latin typeface="Source Sans Pro" panose="020B0503030403020204" pitchFamily="34" charset="0"/>
                      </a:endParaRPr>
                    </a:p>
                  </a:txBody>
                  <a:tcPr marL="62984" marR="62984" marT="62984" marB="62984" anchor="ctr"/>
                </a:tc>
                <a:tc>
                  <a:txBody>
                    <a:bodyPr/>
                    <a:lstStyle/>
                    <a:p>
                      <a:pPr marL="0" marR="0" indent="0" algn="ctr" fontAlgn="ctr">
                        <a:buNone/>
                      </a:pPr>
                      <a:r>
                        <a:rPr lang="en-US" sz="1900">
                          <a:effectLst/>
                        </a:rPr>
                        <a:t>Description</a:t>
                      </a:r>
                      <a:endParaRPr lang="en-US" sz="1900" b="1" i="0">
                        <a:effectLst/>
                        <a:latin typeface="Source Sans Pro" panose="020B0503030403020204" pitchFamily="34" charset="0"/>
                      </a:endParaRPr>
                    </a:p>
                  </a:txBody>
                  <a:tcPr marL="62984" marR="62984" marT="62984" marB="62984" anchor="ctr"/>
                </a:tc>
                <a:tc>
                  <a:txBody>
                    <a:bodyPr/>
                    <a:lstStyle/>
                    <a:p>
                      <a:pPr marL="0" marR="0" indent="0" algn="ctr" fontAlgn="ctr">
                        <a:buNone/>
                      </a:pPr>
                      <a:r>
                        <a:rPr lang="en-US" sz="1900">
                          <a:effectLst/>
                        </a:rPr>
                        <a:t>Example Model</a:t>
                      </a:r>
                      <a:endParaRPr lang="en-US" sz="1900" b="1" i="0">
                        <a:effectLst/>
                        <a:latin typeface="Source Sans Pro" panose="020B0503030403020204" pitchFamily="34" charset="0"/>
                      </a:endParaRPr>
                    </a:p>
                  </a:txBody>
                  <a:tcPr marL="62984" marR="62984" marT="62984" marB="62984" anchor="ctr"/>
                </a:tc>
                <a:extLst>
                  <a:ext uri="{0D108BD9-81ED-4DB2-BD59-A6C34878D82A}">
                    <a16:rowId xmlns:a16="http://schemas.microsoft.com/office/drawing/2014/main" val="1022436261"/>
                  </a:ext>
                </a:extLst>
              </a:tr>
              <a:tr h="730614">
                <a:tc>
                  <a:txBody>
                    <a:bodyPr/>
                    <a:lstStyle/>
                    <a:p>
                      <a:pPr marL="0" marR="0" indent="0" algn="l" fontAlgn="t">
                        <a:buNone/>
                      </a:pPr>
                      <a:r>
                        <a:rPr lang="en-US" sz="1900">
                          <a:effectLst/>
                        </a:rPr>
                        <a:t>Machine translation</a:t>
                      </a:r>
                      <a:endParaRPr lang="en-US" sz="1900" b="0" i="0">
                        <a:effectLst/>
                        <a:latin typeface="Source Sans Pro" panose="020B0503030403020204" pitchFamily="34" charset="0"/>
                      </a:endParaRPr>
                    </a:p>
                  </a:txBody>
                  <a:tcPr marL="62984" marR="62984" marT="62984" marB="62984"/>
                </a:tc>
                <a:tc>
                  <a:txBody>
                    <a:bodyPr/>
                    <a:lstStyle/>
                    <a:p>
                      <a:pPr marL="0" marR="0" indent="0" algn="l" fontAlgn="t">
                        <a:buNone/>
                      </a:pPr>
                      <a:r>
                        <a:rPr lang="en-US" sz="1900">
                          <a:effectLst/>
                        </a:rPr>
                        <a:t>Converting text between languages</a:t>
                      </a:r>
                      <a:endParaRPr lang="en-US" sz="1900" b="0" i="0">
                        <a:effectLst/>
                        <a:latin typeface="Source Sans Pro" panose="020B0503030403020204" pitchFamily="34" charset="0"/>
                      </a:endParaRPr>
                    </a:p>
                  </a:txBody>
                  <a:tcPr marL="62984" marR="62984" marT="62984" marB="62984"/>
                </a:tc>
                <a:tc>
                  <a:txBody>
                    <a:bodyPr/>
                    <a:lstStyle/>
                    <a:p>
                      <a:pPr marL="0" marR="0" indent="0" algn="l" fontAlgn="t">
                        <a:buNone/>
                      </a:pPr>
                      <a:r>
                        <a:rPr lang="en-US" sz="1900">
                          <a:effectLst/>
                        </a:rPr>
                        <a:t>Marian, T5</a:t>
                      </a:r>
                      <a:endParaRPr lang="en-US" sz="1900" b="0" i="0">
                        <a:effectLst/>
                        <a:latin typeface="Source Sans Pro" panose="020B0503030403020204" pitchFamily="34" charset="0"/>
                      </a:endParaRPr>
                    </a:p>
                  </a:txBody>
                  <a:tcPr marL="62984" marR="62984" marT="62984" marB="62984"/>
                </a:tc>
                <a:extLst>
                  <a:ext uri="{0D108BD9-81ED-4DB2-BD59-A6C34878D82A}">
                    <a16:rowId xmlns:a16="http://schemas.microsoft.com/office/drawing/2014/main" val="2336923258"/>
                  </a:ext>
                </a:extLst>
              </a:tr>
              <a:tr h="730614">
                <a:tc>
                  <a:txBody>
                    <a:bodyPr/>
                    <a:lstStyle/>
                    <a:p>
                      <a:pPr marL="0" marR="0" indent="0" algn="l" fontAlgn="t">
                        <a:buNone/>
                      </a:pPr>
                      <a:r>
                        <a:rPr lang="en-US" sz="1900">
                          <a:effectLst/>
                        </a:rPr>
                        <a:t>Text summarization</a:t>
                      </a:r>
                      <a:endParaRPr lang="en-US" sz="1900" b="0" i="0">
                        <a:effectLst/>
                        <a:latin typeface="Source Sans Pro" panose="020B0503030403020204" pitchFamily="34" charset="0"/>
                      </a:endParaRPr>
                    </a:p>
                  </a:txBody>
                  <a:tcPr marL="62984" marR="62984" marT="62984" marB="62984"/>
                </a:tc>
                <a:tc>
                  <a:txBody>
                    <a:bodyPr/>
                    <a:lstStyle/>
                    <a:p>
                      <a:pPr marL="0" marR="0" indent="0" algn="l" fontAlgn="t">
                        <a:buNone/>
                      </a:pPr>
                      <a:r>
                        <a:rPr lang="en-US" sz="1900">
                          <a:effectLst/>
                        </a:rPr>
                        <a:t>Creating concise summaries of longer texts</a:t>
                      </a:r>
                      <a:endParaRPr lang="en-US" sz="1900" b="0" i="0">
                        <a:effectLst/>
                        <a:latin typeface="Source Sans Pro" panose="020B0503030403020204" pitchFamily="34" charset="0"/>
                      </a:endParaRPr>
                    </a:p>
                  </a:txBody>
                  <a:tcPr marL="62984" marR="62984" marT="62984" marB="62984"/>
                </a:tc>
                <a:tc>
                  <a:txBody>
                    <a:bodyPr/>
                    <a:lstStyle/>
                    <a:p>
                      <a:pPr marL="0" marR="0" indent="0" algn="l" fontAlgn="t">
                        <a:buNone/>
                      </a:pPr>
                      <a:r>
                        <a:rPr lang="en-US" sz="1900">
                          <a:effectLst/>
                        </a:rPr>
                        <a:t>BART, T5</a:t>
                      </a:r>
                      <a:endParaRPr lang="en-US" sz="1900" b="0" i="0">
                        <a:effectLst/>
                        <a:latin typeface="Source Sans Pro" panose="020B0503030403020204" pitchFamily="34" charset="0"/>
                      </a:endParaRPr>
                    </a:p>
                  </a:txBody>
                  <a:tcPr marL="62984" marR="62984" marT="62984" marB="62984"/>
                </a:tc>
                <a:extLst>
                  <a:ext uri="{0D108BD9-81ED-4DB2-BD59-A6C34878D82A}">
                    <a16:rowId xmlns:a16="http://schemas.microsoft.com/office/drawing/2014/main" val="3369601940"/>
                  </a:ext>
                </a:extLst>
              </a:tr>
              <a:tr h="730614">
                <a:tc>
                  <a:txBody>
                    <a:bodyPr/>
                    <a:lstStyle/>
                    <a:p>
                      <a:pPr marL="0" marR="0" indent="0" algn="l" fontAlgn="t">
                        <a:buNone/>
                      </a:pPr>
                      <a:r>
                        <a:rPr lang="en-US" sz="1900">
                          <a:effectLst/>
                        </a:rPr>
                        <a:t>Data-to-text generation</a:t>
                      </a:r>
                      <a:endParaRPr lang="en-US" sz="1900" b="0" i="0">
                        <a:effectLst/>
                        <a:latin typeface="Source Sans Pro" panose="020B0503030403020204" pitchFamily="34" charset="0"/>
                      </a:endParaRPr>
                    </a:p>
                  </a:txBody>
                  <a:tcPr marL="62984" marR="62984" marT="62984" marB="62984"/>
                </a:tc>
                <a:tc>
                  <a:txBody>
                    <a:bodyPr/>
                    <a:lstStyle/>
                    <a:p>
                      <a:pPr marL="0" marR="0" indent="0" algn="l" fontAlgn="t">
                        <a:buNone/>
                      </a:pPr>
                      <a:r>
                        <a:rPr lang="en-US" sz="1900">
                          <a:effectLst/>
                        </a:rPr>
                        <a:t>Converting structured data into natural language</a:t>
                      </a:r>
                      <a:endParaRPr lang="en-US" sz="1900" b="0" i="0">
                        <a:effectLst/>
                        <a:latin typeface="Source Sans Pro" panose="020B0503030403020204" pitchFamily="34" charset="0"/>
                      </a:endParaRPr>
                    </a:p>
                  </a:txBody>
                  <a:tcPr marL="62984" marR="62984" marT="62984" marB="62984"/>
                </a:tc>
                <a:tc>
                  <a:txBody>
                    <a:bodyPr/>
                    <a:lstStyle/>
                    <a:p>
                      <a:pPr marL="0" marR="0" indent="0" algn="l" fontAlgn="t">
                        <a:buNone/>
                      </a:pPr>
                      <a:r>
                        <a:rPr lang="en-US" sz="1900">
                          <a:effectLst/>
                        </a:rPr>
                        <a:t>T5</a:t>
                      </a:r>
                      <a:endParaRPr lang="en-US" sz="1900" b="0" i="0">
                        <a:effectLst/>
                        <a:latin typeface="Source Sans Pro" panose="020B0503030403020204" pitchFamily="34" charset="0"/>
                      </a:endParaRPr>
                    </a:p>
                  </a:txBody>
                  <a:tcPr marL="62984" marR="62984" marT="62984" marB="62984"/>
                </a:tc>
                <a:extLst>
                  <a:ext uri="{0D108BD9-81ED-4DB2-BD59-A6C34878D82A}">
                    <a16:rowId xmlns:a16="http://schemas.microsoft.com/office/drawing/2014/main" val="1327519926"/>
                  </a:ext>
                </a:extLst>
              </a:tr>
              <a:tr h="447187">
                <a:tc>
                  <a:txBody>
                    <a:bodyPr/>
                    <a:lstStyle/>
                    <a:p>
                      <a:pPr marL="0" marR="0" indent="0" algn="l" fontAlgn="t">
                        <a:buNone/>
                      </a:pPr>
                      <a:r>
                        <a:rPr lang="en-US" sz="1900">
                          <a:effectLst/>
                        </a:rPr>
                        <a:t>Grammar correction</a:t>
                      </a:r>
                      <a:endParaRPr lang="en-US" sz="1900" b="0" i="0">
                        <a:effectLst/>
                        <a:latin typeface="Source Sans Pro" panose="020B0503030403020204" pitchFamily="34" charset="0"/>
                      </a:endParaRPr>
                    </a:p>
                  </a:txBody>
                  <a:tcPr marL="62984" marR="62984" marT="62984" marB="62984"/>
                </a:tc>
                <a:tc>
                  <a:txBody>
                    <a:bodyPr/>
                    <a:lstStyle/>
                    <a:p>
                      <a:pPr marL="0" marR="0" indent="0" algn="l" fontAlgn="t">
                        <a:buNone/>
                      </a:pPr>
                      <a:r>
                        <a:rPr lang="en-US" sz="1900">
                          <a:effectLst/>
                        </a:rPr>
                        <a:t>Fixing grammatical errors in text</a:t>
                      </a:r>
                      <a:endParaRPr lang="en-US" sz="1900" b="0" i="0">
                        <a:effectLst/>
                        <a:latin typeface="Source Sans Pro" panose="020B0503030403020204" pitchFamily="34" charset="0"/>
                      </a:endParaRPr>
                    </a:p>
                  </a:txBody>
                  <a:tcPr marL="62984" marR="62984" marT="62984" marB="62984"/>
                </a:tc>
                <a:tc>
                  <a:txBody>
                    <a:bodyPr/>
                    <a:lstStyle/>
                    <a:p>
                      <a:pPr marL="0" marR="0" indent="0" algn="l" fontAlgn="t">
                        <a:buNone/>
                      </a:pPr>
                      <a:r>
                        <a:rPr lang="en-US" sz="1900">
                          <a:effectLst/>
                        </a:rPr>
                        <a:t>T5</a:t>
                      </a:r>
                      <a:endParaRPr lang="en-US" sz="1900" b="0" i="0">
                        <a:effectLst/>
                        <a:latin typeface="Source Sans Pro" panose="020B0503030403020204" pitchFamily="34" charset="0"/>
                      </a:endParaRPr>
                    </a:p>
                  </a:txBody>
                  <a:tcPr marL="62984" marR="62984" marT="62984" marB="62984"/>
                </a:tc>
                <a:extLst>
                  <a:ext uri="{0D108BD9-81ED-4DB2-BD59-A6C34878D82A}">
                    <a16:rowId xmlns:a16="http://schemas.microsoft.com/office/drawing/2014/main" val="2646026428"/>
                  </a:ext>
                </a:extLst>
              </a:tr>
              <a:tr h="730614">
                <a:tc>
                  <a:txBody>
                    <a:bodyPr/>
                    <a:lstStyle/>
                    <a:p>
                      <a:pPr marL="0" marR="0" indent="0" algn="l" fontAlgn="t">
                        <a:buNone/>
                      </a:pPr>
                      <a:r>
                        <a:rPr lang="en-US" sz="1900">
                          <a:effectLst/>
                        </a:rPr>
                        <a:t>Question answering</a:t>
                      </a:r>
                      <a:endParaRPr lang="en-US" sz="1900" b="0" i="0">
                        <a:effectLst/>
                        <a:latin typeface="Source Sans Pro" panose="020B0503030403020204" pitchFamily="34" charset="0"/>
                      </a:endParaRPr>
                    </a:p>
                  </a:txBody>
                  <a:tcPr marL="62984" marR="62984" marT="62984" marB="62984"/>
                </a:tc>
                <a:tc>
                  <a:txBody>
                    <a:bodyPr/>
                    <a:lstStyle/>
                    <a:p>
                      <a:pPr marL="0" marR="0" indent="0" algn="l" fontAlgn="t">
                        <a:buNone/>
                      </a:pPr>
                      <a:r>
                        <a:rPr lang="en-US" sz="1900">
                          <a:effectLst/>
                        </a:rPr>
                        <a:t>Generating answers based on context</a:t>
                      </a:r>
                      <a:endParaRPr lang="en-US" sz="1900" b="0" i="0">
                        <a:effectLst/>
                        <a:latin typeface="Source Sans Pro" panose="020B0503030403020204" pitchFamily="34" charset="0"/>
                      </a:endParaRPr>
                    </a:p>
                  </a:txBody>
                  <a:tcPr marL="62984" marR="62984" marT="62984" marB="62984"/>
                </a:tc>
                <a:tc>
                  <a:txBody>
                    <a:bodyPr/>
                    <a:lstStyle/>
                    <a:p>
                      <a:pPr marL="0" marR="0" indent="0" algn="l" fontAlgn="t">
                        <a:buNone/>
                      </a:pPr>
                      <a:r>
                        <a:rPr lang="en-US" sz="1900" dirty="0">
                          <a:effectLst/>
                        </a:rPr>
                        <a:t>BART, T5</a:t>
                      </a:r>
                      <a:endParaRPr lang="en-US" sz="1900" b="0" i="0" dirty="0">
                        <a:effectLst/>
                        <a:latin typeface="Source Sans Pro" panose="020B0503030403020204" pitchFamily="34" charset="0"/>
                      </a:endParaRPr>
                    </a:p>
                  </a:txBody>
                  <a:tcPr marL="62984" marR="62984" marT="62984" marB="62984"/>
                </a:tc>
                <a:extLst>
                  <a:ext uri="{0D108BD9-81ED-4DB2-BD59-A6C34878D82A}">
                    <a16:rowId xmlns:a16="http://schemas.microsoft.com/office/drawing/2014/main" val="1119734726"/>
                  </a:ext>
                </a:extLst>
              </a:tr>
            </a:tbl>
          </a:graphicData>
        </a:graphic>
      </p:graphicFrame>
    </p:spTree>
    <p:extLst>
      <p:ext uri="{BB962C8B-B14F-4D97-AF65-F5344CB8AC3E}">
        <p14:creationId xmlns:p14="http://schemas.microsoft.com/office/powerpoint/2010/main" val="42029533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5B341F-E08F-E4CC-3416-1B439073DBC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9A320C9-9735-4D13-8279-C1C674841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7126"/>
            <a:ext cx="11167447" cy="2018806"/>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DD44BFD-AC49-6904-8965-0EAC15890C4D}"/>
              </a:ext>
            </a:extLst>
          </p:cNvPr>
          <p:cNvSpPr>
            <a:spLocks noGrp="1"/>
          </p:cNvSpPr>
          <p:nvPr>
            <p:ph type="title"/>
          </p:nvPr>
        </p:nvSpPr>
        <p:spPr>
          <a:xfrm>
            <a:off x="1115568" y="548640"/>
            <a:ext cx="10168128" cy="1179576"/>
          </a:xfrm>
        </p:spPr>
        <p:txBody>
          <a:bodyPr>
            <a:noAutofit/>
          </a:bodyPr>
          <a:lstStyle/>
          <a:p>
            <a:r>
              <a:rPr lang="en-US" sz="2800" b="1" dirty="0"/>
              <a:t>Choosing the right architecture</a:t>
            </a:r>
            <a:br>
              <a:rPr lang="en-US" sz="2800" b="1" dirty="0"/>
            </a:br>
            <a:r>
              <a:rPr lang="en-US" sz="2800" dirty="0"/>
              <a:t>When working on a specific NLP task, how do you decide which architecture to use? Here’s a quick guide:</a:t>
            </a:r>
            <a:br>
              <a:rPr lang="en-US" sz="2800" dirty="0"/>
            </a:br>
            <a:endParaRPr lang="en-US" sz="2800" dirty="0"/>
          </a:p>
        </p:txBody>
      </p:sp>
      <p:sp>
        <p:nvSpPr>
          <p:cNvPr id="15" name="Rectangle 14">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Content Placeholder 3">
            <a:extLst>
              <a:ext uri="{FF2B5EF4-FFF2-40B4-BE49-F238E27FC236}">
                <a16:creationId xmlns:a16="http://schemas.microsoft.com/office/drawing/2014/main" id="{F69F441D-6C4A-F6F7-3126-40F6B60E837D}"/>
              </a:ext>
            </a:extLst>
          </p:cNvPr>
          <p:cNvGraphicFramePr>
            <a:graphicFrameLocks noGrp="1"/>
          </p:cNvGraphicFramePr>
          <p:nvPr>
            <p:ph idx="1"/>
            <p:extLst>
              <p:ext uri="{D42A27DB-BD31-4B8C-83A1-F6EECF244321}">
                <p14:modId xmlns:p14="http://schemas.microsoft.com/office/powerpoint/2010/main" val="790196889"/>
              </p:ext>
            </p:extLst>
          </p:nvPr>
        </p:nvGraphicFramePr>
        <p:xfrm>
          <a:off x="1513907" y="2269730"/>
          <a:ext cx="9371450" cy="3993914"/>
        </p:xfrm>
        <a:graphic>
          <a:graphicData uri="http://schemas.openxmlformats.org/drawingml/2006/table">
            <a:tbl>
              <a:tblPr firstRow="1" bandRow="1">
                <a:tableStyleId>{5C22544A-7EE6-4342-B048-85BDC9FD1C3A}</a:tableStyleId>
              </a:tblPr>
              <a:tblGrid>
                <a:gridCol w="3357454">
                  <a:extLst>
                    <a:ext uri="{9D8B030D-6E8A-4147-A177-3AD203B41FA5}">
                      <a16:colId xmlns:a16="http://schemas.microsoft.com/office/drawing/2014/main" val="2588419071"/>
                    </a:ext>
                  </a:extLst>
                </a:gridCol>
                <a:gridCol w="3357454">
                  <a:extLst>
                    <a:ext uri="{9D8B030D-6E8A-4147-A177-3AD203B41FA5}">
                      <a16:colId xmlns:a16="http://schemas.microsoft.com/office/drawing/2014/main" val="2328409207"/>
                    </a:ext>
                  </a:extLst>
                </a:gridCol>
                <a:gridCol w="2656542">
                  <a:extLst>
                    <a:ext uri="{9D8B030D-6E8A-4147-A177-3AD203B41FA5}">
                      <a16:colId xmlns:a16="http://schemas.microsoft.com/office/drawing/2014/main" val="1116640969"/>
                    </a:ext>
                  </a:extLst>
                </a:gridCol>
              </a:tblGrid>
              <a:tr h="414573">
                <a:tc>
                  <a:txBody>
                    <a:bodyPr/>
                    <a:lstStyle/>
                    <a:p>
                      <a:pPr marL="0" marR="0" indent="0" algn="ctr" fontAlgn="ctr">
                        <a:buNone/>
                      </a:pPr>
                      <a:r>
                        <a:rPr lang="en-US" sz="1700">
                          <a:effectLst/>
                        </a:rPr>
                        <a:t>Task</a:t>
                      </a:r>
                      <a:endParaRPr lang="en-US" sz="1700" b="1" i="0">
                        <a:effectLst/>
                        <a:latin typeface="Source Sans Pro" panose="020B0503030403020204" pitchFamily="34" charset="0"/>
                      </a:endParaRPr>
                    </a:p>
                  </a:txBody>
                  <a:tcPr marL="58390" marR="58390" marT="58390" marB="58390" anchor="ctr"/>
                </a:tc>
                <a:tc>
                  <a:txBody>
                    <a:bodyPr/>
                    <a:lstStyle/>
                    <a:p>
                      <a:pPr marL="0" marR="0" indent="0" algn="ctr" fontAlgn="ctr">
                        <a:buNone/>
                      </a:pPr>
                      <a:r>
                        <a:rPr lang="en-US" sz="1700">
                          <a:effectLst/>
                        </a:rPr>
                        <a:t>Suggested Architecture</a:t>
                      </a:r>
                      <a:endParaRPr lang="en-US" sz="1700" b="1" i="0">
                        <a:effectLst/>
                        <a:latin typeface="Source Sans Pro" panose="020B0503030403020204" pitchFamily="34" charset="0"/>
                      </a:endParaRPr>
                    </a:p>
                  </a:txBody>
                  <a:tcPr marL="58390" marR="58390" marT="58390" marB="58390" anchor="ctr"/>
                </a:tc>
                <a:tc>
                  <a:txBody>
                    <a:bodyPr/>
                    <a:lstStyle/>
                    <a:p>
                      <a:pPr marL="0" marR="0" indent="0" algn="ctr" fontAlgn="ctr">
                        <a:buNone/>
                      </a:pPr>
                      <a:r>
                        <a:rPr lang="en-US" sz="1700">
                          <a:effectLst/>
                        </a:rPr>
                        <a:t>Examples</a:t>
                      </a:r>
                      <a:endParaRPr lang="en-US" sz="1700" b="1" i="0">
                        <a:effectLst/>
                        <a:latin typeface="Source Sans Pro" panose="020B0503030403020204" pitchFamily="34" charset="0"/>
                      </a:endParaRPr>
                    </a:p>
                  </a:txBody>
                  <a:tcPr marL="58390" marR="58390" marT="58390" marB="58390" anchor="ctr"/>
                </a:tc>
                <a:extLst>
                  <a:ext uri="{0D108BD9-81ED-4DB2-BD59-A6C34878D82A}">
                    <a16:rowId xmlns:a16="http://schemas.microsoft.com/office/drawing/2014/main" val="755363845"/>
                  </a:ext>
                </a:extLst>
              </a:tr>
              <a:tr h="677330">
                <a:tc>
                  <a:txBody>
                    <a:bodyPr/>
                    <a:lstStyle/>
                    <a:p>
                      <a:pPr marL="0" marR="0" indent="0" algn="l" fontAlgn="t">
                        <a:buNone/>
                      </a:pPr>
                      <a:r>
                        <a:rPr lang="en-US" sz="1700">
                          <a:effectLst/>
                        </a:rPr>
                        <a:t>Text classification (sentiment, topic)</a:t>
                      </a:r>
                      <a:endParaRPr lang="en-US" sz="1700" b="0" i="0">
                        <a:effectLst/>
                        <a:latin typeface="Source Sans Pro" panose="020B0503030403020204" pitchFamily="34" charset="0"/>
                      </a:endParaRPr>
                    </a:p>
                  </a:txBody>
                  <a:tcPr marL="58390" marR="58390" marT="58390" marB="58390"/>
                </a:tc>
                <a:tc>
                  <a:txBody>
                    <a:bodyPr/>
                    <a:lstStyle/>
                    <a:p>
                      <a:pPr marL="0" marR="0" indent="0" algn="l" fontAlgn="t">
                        <a:buNone/>
                      </a:pPr>
                      <a:r>
                        <a:rPr lang="en-US" sz="1700">
                          <a:effectLst/>
                        </a:rPr>
                        <a:t>Encoder</a:t>
                      </a:r>
                      <a:endParaRPr lang="en-US" sz="1700" b="0" i="0">
                        <a:effectLst/>
                        <a:latin typeface="Source Sans Pro" panose="020B0503030403020204" pitchFamily="34" charset="0"/>
                      </a:endParaRPr>
                    </a:p>
                  </a:txBody>
                  <a:tcPr marL="58390" marR="58390" marT="58390" marB="58390"/>
                </a:tc>
                <a:tc>
                  <a:txBody>
                    <a:bodyPr/>
                    <a:lstStyle/>
                    <a:p>
                      <a:pPr marL="0" marR="0" indent="0" algn="l" fontAlgn="t">
                        <a:buNone/>
                      </a:pPr>
                      <a:r>
                        <a:rPr lang="en-US" sz="1700">
                          <a:effectLst/>
                        </a:rPr>
                        <a:t>BERT, RoBERTa</a:t>
                      </a:r>
                      <a:endParaRPr lang="en-US" sz="1700" b="0" i="0">
                        <a:effectLst/>
                        <a:latin typeface="Source Sans Pro" panose="020B0503030403020204" pitchFamily="34" charset="0"/>
                      </a:endParaRPr>
                    </a:p>
                  </a:txBody>
                  <a:tcPr marL="58390" marR="58390" marT="58390" marB="58390"/>
                </a:tc>
                <a:extLst>
                  <a:ext uri="{0D108BD9-81ED-4DB2-BD59-A6C34878D82A}">
                    <a16:rowId xmlns:a16="http://schemas.microsoft.com/office/drawing/2014/main" val="2673168809"/>
                  </a:ext>
                </a:extLst>
              </a:tr>
              <a:tr h="414573">
                <a:tc>
                  <a:txBody>
                    <a:bodyPr/>
                    <a:lstStyle/>
                    <a:p>
                      <a:pPr marL="0" marR="0" indent="0" algn="l" fontAlgn="t">
                        <a:buNone/>
                      </a:pPr>
                      <a:r>
                        <a:rPr lang="en-US" sz="1700">
                          <a:effectLst/>
                        </a:rPr>
                        <a:t>Text generation (creative writing)</a:t>
                      </a:r>
                      <a:endParaRPr lang="en-US" sz="1700" b="0" i="0">
                        <a:effectLst/>
                        <a:latin typeface="Source Sans Pro" panose="020B0503030403020204" pitchFamily="34" charset="0"/>
                      </a:endParaRPr>
                    </a:p>
                  </a:txBody>
                  <a:tcPr marL="58390" marR="58390" marT="58390" marB="58390"/>
                </a:tc>
                <a:tc>
                  <a:txBody>
                    <a:bodyPr/>
                    <a:lstStyle/>
                    <a:p>
                      <a:pPr marL="0" marR="0" indent="0" algn="l" fontAlgn="t">
                        <a:buNone/>
                      </a:pPr>
                      <a:r>
                        <a:rPr lang="en-US" sz="1700">
                          <a:effectLst/>
                        </a:rPr>
                        <a:t>Decoder</a:t>
                      </a:r>
                      <a:endParaRPr lang="en-US" sz="1700" b="0" i="0">
                        <a:effectLst/>
                        <a:latin typeface="Source Sans Pro" panose="020B0503030403020204" pitchFamily="34" charset="0"/>
                      </a:endParaRPr>
                    </a:p>
                  </a:txBody>
                  <a:tcPr marL="58390" marR="58390" marT="58390" marB="58390"/>
                </a:tc>
                <a:tc>
                  <a:txBody>
                    <a:bodyPr/>
                    <a:lstStyle/>
                    <a:p>
                      <a:pPr marL="0" marR="0" indent="0" algn="l" fontAlgn="t">
                        <a:buNone/>
                      </a:pPr>
                      <a:r>
                        <a:rPr lang="en-US" sz="1700">
                          <a:effectLst/>
                        </a:rPr>
                        <a:t>GPT, LLaMA</a:t>
                      </a:r>
                      <a:endParaRPr lang="en-US" sz="1700" b="0" i="0">
                        <a:effectLst/>
                        <a:latin typeface="Source Sans Pro" panose="020B0503030403020204" pitchFamily="34" charset="0"/>
                      </a:endParaRPr>
                    </a:p>
                  </a:txBody>
                  <a:tcPr marL="58390" marR="58390" marT="58390" marB="58390"/>
                </a:tc>
                <a:extLst>
                  <a:ext uri="{0D108BD9-81ED-4DB2-BD59-A6C34878D82A}">
                    <a16:rowId xmlns:a16="http://schemas.microsoft.com/office/drawing/2014/main" val="1294496318"/>
                  </a:ext>
                </a:extLst>
              </a:tr>
              <a:tr h="414573">
                <a:tc>
                  <a:txBody>
                    <a:bodyPr/>
                    <a:lstStyle/>
                    <a:p>
                      <a:pPr marL="0" marR="0" indent="0" algn="l" fontAlgn="t">
                        <a:buNone/>
                      </a:pPr>
                      <a:r>
                        <a:rPr lang="en-US" sz="1700">
                          <a:effectLst/>
                        </a:rPr>
                        <a:t>Translation</a:t>
                      </a:r>
                      <a:endParaRPr lang="en-US" sz="1700" b="0" i="0">
                        <a:effectLst/>
                        <a:latin typeface="Source Sans Pro" panose="020B0503030403020204" pitchFamily="34" charset="0"/>
                      </a:endParaRPr>
                    </a:p>
                  </a:txBody>
                  <a:tcPr marL="58390" marR="58390" marT="58390" marB="58390"/>
                </a:tc>
                <a:tc>
                  <a:txBody>
                    <a:bodyPr/>
                    <a:lstStyle/>
                    <a:p>
                      <a:pPr marL="0" marR="0" indent="0" algn="l" fontAlgn="t">
                        <a:buNone/>
                      </a:pPr>
                      <a:r>
                        <a:rPr lang="en-US" sz="1700">
                          <a:effectLst/>
                        </a:rPr>
                        <a:t>Encoder-Decoder</a:t>
                      </a:r>
                      <a:endParaRPr lang="en-US" sz="1700" b="0" i="0">
                        <a:effectLst/>
                        <a:latin typeface="Source Sans Pro" panose="020B0503030403020204" pitchFamily="34" charset="0"/>
                      </a:endParaRPr>
                    </a:p>
                  </a:txBody>
                  <a:tcPr marL="58390" marR="58390" marT="58390" marB="58390"/>
                </a:tc>
                <a:tc>
                  <a:txBody>
                    <a:bodyPr/>
                    <a:lstStyle/>
                    <a:p>
                      <a:pPr marL="0" marR="0" indent="0" algn="l" fontAlgn="t">
                        <a:buNone/>
                      </a:pPr>
                      <a:r>
                        <a:rPr lang="en-US" sz="1700">
                          <a:effectLst/>
                        </a:rPr>
                        <a:t>T5, BART</a:t>
                      </a:r>
                      <a:endParaRPr lang="en-US" sz="1700" b="0" i="0">
                        <a:effectLst/>
                        <a:latin typeface="Source Sans Pro" panose="020B0503030403020204" pitchFamily="34" charset="0"/>
                      </a:endParaRPr>
                    </a:p>
                  </a:txBody>
                  <a:tcPr marL="58390" marR="58390" marT="58390" marB="58390"/>
                </a:tc>
                <a:extLst>
                  <a:ext uri="{0D108BD9-81ED-4DB2-BD59-A6C34878D82A}">
                    <a16:rowId xmlns:a16="http://schemas.microsoft.com/office/drawing/2014/main" val="511422255"/>
                  </a:ext>
                </a:extLst>
              </a:tr>
              <a:tr h="414573">
                <a:tc>
                  <a:txBody>
                    <a:bodyPr/>
                    <a:lstStyle/>
                    <a:p>
                      <a:pPr marL="0" marR="0" indent="0" algn="l" fontAlgn="t">
                        <a:buNone/>
                      </a:pPr>
                      <a:r>
                        <a:rPr lang="en-US" sz="1700">
                          <a:effectLst/>
                        </a:rPr>
                        <a:t>Summarization</a:t>
                      </a:r>
                      <a:endParaRPr lang="en-US" sz="1700" b="0" i="0">
                        <a:effectLst/>
                        <a:latin typeface="Source Sans Pro" panose="020B0503030403020204" pitchFamily="34" charset="0"/>
                      </a:endParaRPr>
                    </a:p>
                  </a:txBody>
                  <a:tcPr marL="58390" marR="58390" marT="58390" marB="58390"/>
                </a:tc>
                <a:tc>
                  <a:txBody>
                    <a:bodyPr/>
                    <a:lstStyle/>
                    <a:p>
                      <a:pPr marL="0" marR="0" indent="0" algn="l" fontAlgn="t">
                        <a:buNone/>
                      </a:pPr>
                      <a:r>
                        <a:rPr lang="en-US" sz="1700">
                          <a:effectLst/>
                        </a:rPr>
                        <a:t>Encoder-Decoder</a:t>
                      </a:r>
                      <a:endParaRPr lang="en-US" sz="1700" b="0" i="0">
                        <a:effectLst/>
                        <a:latin typeface="Source Sans Pro" panose="020B0503030403020204" pitchFamily="34" charset="0"/>
                      </a:endParaRPr>
                    </a:p>
                  </a:txBody>
                  <a:tcPr marL="58390" marR="58390" marT="58390" marB="58390"/>
                </a:tc>
                <a:tc>
                  <a:txBody>
                    <a:bodyPr/>
                    <a:lstStyle/>
                    <a:p>
                      <a:pPr marL="0" marR="0" indent="0" algn="l" fontAlgn="t">
                        <a:buNone/>
                      </a:pPr>
                      <a:r>
                        <a:rPr lang="en-US" sz="1700">
                          <a:effectLst/>
                        </a:rPr>
                        <a:t>BART, T5</a:t>
                      </a:r>
                      <a:endParaRPr lang="en-US" sz="1700" b="0" i="0">
                        <a:effectLst/>
                        <a:latin typeface="Source Sans Pro" panose="020B0503030403020204" pitchFamily="34" charset="0"/>
                      </a:endParaRPr>
                    </a:p>
                  </a:txBody>
                  <a:tcPr marL="58390" marR="58390" marT="58390" marB="58390"/>
                </a:tc>
                <a:extLst>
                  <a:ext uri="{0D108BD9-81ED-4DB2-BD59-A6C34878D82A}">
                    <a16:rowId xmlns:a16="http://schemas.microsoft.com/office/drawing/2014/main" val="3622310449"/>
                  </a:ext>
                </a:extLst>
              </a:tr>
              <a:tr h="414573">
                <a:tc>
                  <a:txBody>
                    <a:bodyPr/>
                    <a:lstStyle/>
                    <a:p>
                      <a:pPr marL="0" marR="0" indent="0" algn="l" fontAlgn="t">
                        <a:buNone/>
                      </a:pPr>
                      <a:r>
                        <a:rPr lang="en-US" sz="1700">
                          <a:effectLst/>
                        </a:rPr>
                        <a:t>Named entity recognition</a:t>
                      </a:r>
                      <a:endParaRPr lang="en-US" sz="1700" b="0" i="0">
                        <a:effectLst/>
                        <a:latin typeface="Source Sans Pro" panose="020B0503030403020204" pitchFamily="34" charset="0"/>
                      </a:endParaRPr>
                    </a:p>
                  </a:txBody>
                  <a:tcPr marL="58390" marR="58390" marT="58390" marB="58390"/>
                </a:tc>
                <a:tc>
                  <a:txBody>
                    <a:bodyPr/>
                    <a:lstStyle/>
                    <a:p>
                      <a:pPr marL="0" marR="0" indent="0" algn="l" fontAlgn="t">
                        <a:buNone/>
                      </a:pPr>
                      <a:r>
                        <a:rPr lang="en-US" sz="1700">
                          <a:effectLst/>
                        </a:rPr>
                        <a:t>Encoder</a:t>
                      </a:r>
                      <a:endParaRPr lang="en-US" sz="1700" b="0" i="0">
                        <a:effectLst/>
                        <a:latin typeface="Source Sans Pro" panose="020B0503030403020204" pitchFamily="34" charset="0"/>
                      </a:endParaRPr>
                    </a:p>
                  </a:txBody>
                  <a:tcPr marL="58390" marR="58390" marT="58390" marB="58390"/>
                </a:tc>
                <a:tc>
                  <a:txBody>
                    <a:bodyPr/>
                    <a:lstStyle/>
                    <a:p>
                      <a:pPr marL="0" marR="0" indent="0" algn="l" fontAlgn="t">
                        <a:buNone/>
                      </a:pPr>
                      <a:r>
                        <a:rPr lang="en-US" sz="1700">
                          <a:effectLst/>
                        </a:rPr>
                        <a:t>BERT, RoBERTa</a:t>
                      </a:r>
                      <a:endParaRPr lang="en-US" sz="1700" b="0" i="0">
                        <a:effectLst/>
                        <a:latin typeface="Source Sans Pro" panose="020B0503030403020204" pitchFamily="34" charset="0"/>
                      </a:endParaRPr>
                    </a:p>
                  </a:txBody>
                  <a:tcPr marL="58390" marR="58390" marT="58390" marB="58390"/>
                </a:tc>
                <a:extLst>
                  <a:ext uri="{0D108BD9-81ED-4DB2-BD59-A6C34878D82A}">
                    <a16:rowId xmlns:a16="http://schemas.microsoft.com/office/drawing/2014/main" val="2660164741"/>
                  </a:ext>
                </a:extLst>
              </a:tr>
              <a:tr h="414573">
                <a:tc>
                  <a:txBody>
                    <a:bodyPr/>
                    <a:lstStyle/>
                    <a:p>
                      <a:pPr marL="0" marR="0" indent="0" algn="l" fontAlgn="t">
                        <a:buNone/>
                      </a:pPr>
                      <a:r>
                        <a:rPr lang="en-US" sz="1700">
                          <a:effectLst/>
                        </a:rPr>
                        <a:t>Question answering (extractive)</a:t>
                      </a:r>
                      <a:endParaRPr lang="en-US" sz="1700" b="0" i="0">
                        <a:effectLst/>
                        <a:latin typeface="Source Sans Pro" panose="020B0503030403020204" pitchFamily="34" charset="0"/>
                      </a:endParaRPr>
                    </a:p>
                  </a:txBody>
                  <a:tcPr marL="58390" marR="58390" marT="58390" marB="58390"/>
                </a:tc>
                <a:tc>
                  <a:txBody>
                    <a:bodyPr/>
                    <a:lstStyle/>
                    <a:p>
                      <a:pPr marL="0" marR="0" indent="0" algn="l" fontAlgn="t">
                        <a:buNone/>
                      </a:pPr>
                      <a:r>
                        <a:rPr lang="en-US" sz="1700">
                          <a:effectLst/>
                        </a:rPr>
                        <a:t>Encoder</a:t>
                      </a:r>
                      <a:endParaRPr lang="en-US" sz="1700" b="0" i="0">
                        <a:effectLst/>
                        <a:latin typeface="Source Sans Pro" panose="020B0503030403020204" pitchFamily="34" charset="0"/>
                      </a:endParaRPr>
                    </a:p>
                  </a:txBody>
                  <a:tcPr marL="58390" marR="58390" marT="58390" marB="58390"/>
                </a:tc>
                <a:tc>
                  <a:txBody>
                    <a:bodyPr/>
                    <a:lstStyle/>
                    <a:p>
                      <a:pPr marL="0" marR="0" indent="0" algn="l" fontAlgn="t">
                        <a:buNone/>
                      </a:pPr>
                      <a:r>
                        <a:rPr lang="en-US" sz="1700">
                          <a:effectLst/>
                        </a:rPr>
                        <a:t>BERT, RoBERTa</a:t>
                      </a:r>
                      <a:endParaRPr lang="en-US" sz="1700" b="0" i="0">
                        <a:effectLst/>
                        <a:latin typeface="Source Sans Pro" panose="020B0503030403020204" pitchFamily="34" charset="0"/>
                      </a:endParaRPr>
                    </a:p>
                  </a:txBody>
                  <a:tcPr marL="58390" marR="58390" marT="58390" marB="58390"/>
                </a:tc>
                <a:extLst>
                  <a:ext uri="{0D108BD9-81ED-4DB2-BD59-A6C34878D82A}">
                    <a16:rowId xmlns:a16="http://schemas.microsoft.com/office/drawing/2014/main" val="3402208298"/>
                  </a:ext>
                </a:extLst>
              </a:tr>
              <a:tr h="414573">
                <a:tc>
                  <a:txBody>
                    <a:bodyPr/>
                    <a:lstStyle/>
                    <a:p>
                      <a:pPr marL="0" marR="0" indent="0" algn="l" fontAlgn="t">
                        <a:buNone/>
                      </a:pPr>
                      <a:r>
                        <a:rPr lang="en-US" sz="1700">
                          <a:effectLst/>
                        </a:rPr>
                        <a:t>Question answering (generative)</a:t>
                      </a:r>
                      <a:endParaRPr lang="en-US" sz="1700" b="0" i="0">
                        <a:effectLst/>
                        <a:latin typeface="Source Sans Pro" panose="020B0503030403020204" pitchFamily="34" charset="0"/>
                      </a:endParaRPr>
                    </a:p>
                  </a:txBody>
                  <a:tcPr marL="58390" marR="58390" marT="58390" marB="58390"/>
                </a:tc>
                <a:tc>
                  <a:txBody>
                    <a:bodyPr/>
                    <a:lstStyle/>
                    <a:p>
                      <a:pPr marL="0" marR="0" indent="0" algn="l" fontAlgn="t">
                        <a:buNone/>
                      </a:pPr>
                      <a:r>
                        <a:rPr lang="en-US" sz="1700">
                          <a:effectLst/>
                        </a:rPr>
                        <a:t>Encoder-Decoder or Decoder</a:t>
                      </a:r>
                      <a:endParaRPr lang="en-US" sz="1700" b="0" i="0">
                        <a:effectLst/>
                        <a:latin typeface="Source Sans Pro" panose="020B0503030403020204" pitchFamily="34" charset="0"/>
                      </a:endParaRPr>
                    </a:p>
                  </a:txBody>
                  <a:tcPr marL="58390" marR="58390" marT="58390" marB="58390"/>
                </a:tc>
                <a:tc>
                  <a:txBody>
                    <a:bodyPr/>
                    <a:lstStyle/>
                    <a:p>
                      <a:pPr marL="0" marR="0" indent="0" algn="l" fontAlgn="t">
                        <a:buNone/>
                      </a:pPr>
                      <a:r>
                        <a:rPr lang="en-US" sz="1700">
                          <a:effectLst/>
                        </a:rPr>
                        <a:t>T5, GPT</a:t>
                      </a:r>
                      <a:endParaRPr lang="en-US" sz="1700" b="0" i="0">
                        <a:effectLst/>
                        <a:latin typeface="Source Sans Pro" panose="020B0503030403020204" pitchFamily="34" charset="0"/>
                      </a:endParaRPr>
                    </a:p>
                  </a:txBody>
                  <a:tcPr marL="58390" marR="58390" marT="58390" marB="58390"/>
                </a:tc>
                <a:extLst>
                  <a:ext uri="{0D108BD9-81ED-4DB2-BD59-A6C34878D82A}">
                    <a16:rowId xmlns:a16="http://schemas.microsoft.com/office/drawing/2014/main" val="1482806662"/>
                  </a:ext>
                </a:extLst>
              </a:tr>
              <a:tr h="414573">
                <a:tc>
                  <a:txBody>
                    <a:bodyPr/>
                    <a:lstStyle/>
                    <a:p>
                      <a:pPr marL="0" marR="0" indent="0" algn="l" fontAlgn="t">
                        <a:buNone/>
                      </a:pPr>
                      <a:r>
                        <a:rPr lang="en-US" sz="1700">
                          <a:effectLst/>
                        </a:rPr>
                        <a:t>Conversational AI</a:t>
                      </a:r>
                      <a:endParaRPr lang="en-US" sz="1700" b="0" i="0">
                        <a:effectLst/>
                        <a:latin typeface="Source Sans Pro" panose="020B0503030403020204" pitchFamily="34" charset="0"/>
                      </a:endParaRPr>
                    </a:p>
                  </a:txBody>
                  <a:tcPr marL="58390" marR="58390" marT="58390" marB="58390"/>
                </a:tc>
                <a:tc>
                  <a:txBody>
                    <a:bodyPr/>
                    <a:lstStyle/>
                    <a:p>
                      <a:pPr marL="0" marR="0" indent="0" algn="l" fontAlgn="t">
                        <a:buNone/>
                      </a:pPr>
                      <a:r>
                        <a:rPr lang="en-US" sz="1700">
                          <a:effectLst/>
                        </a:rPr>
                        <a:t>Decoder</a:t>
                      </a:r>
                      <a:endParaRPr lang="en-US" sz="1700" b="0" i="0">
                        <a:effectLst/>
                        <a:latin typeface="Source Sans Pro" panose="020B0503030403020204" pitchFamily="34" charset="0"/>
                      </a:endParaRPr>
                    </a:p>
                  </a:txBody>
                  <a:tcPr marL="58390" marR="58390" marT="58390" marB="58390"/>
                </a:tc>
                <a:tc>
                  <a:txBody>
                    <a:bodyPr/>
                    <a:lstStyle/>
                    <a:p>
                      <a:pPr marL="0" marR="0" indent="0" algn="l" fontAlgn="t">
                        <a:buNone/>
                      </a:pPr>
                      <a:r>
                        <a:rPr lang="en-US" sz="1700">
                          <a:effectLst/>
                        </a:rPr>
                        <a:t>GPT, </a:t>
                      </a:r>
                      <a:r>
                        <a:rPr lang="en-US" sz="1700" err="1">
                          <a:effectLst/>
                        </a:rPr>
                        <a:t>LLaMA</a:t>
                      </a:r>
                      <a:endParaRPr lang="en-US" sz="1700" b="0" i="0">
                        <a:effectLst/>
                        <a:latin typeface="Source Sans Pro" panose="020B0503030403020204" pitchFamily="34" charset="0"/>
                      </a:endParaRPr>
                    </a:p>
                  </a:txBody>
                  <a:tcPr marL="58390" marR="58390" marT="58390" marB="58390"/>
                </a:tc>
                <a:extLst>
                  <a:ext uri="{0D108BD9-81ED-4DB2-BD59-A6C34878D82A}">
                    <a16:rowId xmlns:a16="http://schemas.microsoft.com/office/drawing/2014/main" val="3230345688"/>
                  </a:ext>
                </a:extLst>
              </a:tr>
            </a:tbl>
          </a:graphicData>
        </a:graphic>
      </p:graphicFrame>
    </p:spTree>
    <p:extLst>
      <p:ext uri="{BB962C8B-B14F-4D97-AF65-F5344CB8AC3E}">
        <p14:creationId xmlns:p14="http://schemas.microsoft.com/office/powerpoint/2010/main" val="2920551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BCEE5E-CB8D-E2FC-64E6-E2A8F358E8D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4B6F727B-EF9D-ADFE-EEAB-3662E9D4CA3F}"/>
              </a:ext>
            </a:extLst>
          </p:cNvPr>
          <p:cNvSpPr>
            <a:spLocks noGrp="1"/>
          </p:cNvSpPr>
          <p:nvPr>
            <p:ph type="title"/>
          </p:nvPr>
        </p:nvSpPr>
        <p:spPr>
          <a:xfrm>
            <a:off x="1188069" y="381935"/>
            <a:ext cx="4008583" cy="5974414"/>
          </a:xfrm>
        </p:spPr>
        <p:txBody>
          <a:bodyPr anchor="ctr">
            <a:normAutofit/>
          </a:bodyPr>
          <a:lstStyle/>
          <a:p>
            <a:r>
              <a:rPr lang="en-US" sz="5600" dirty="0">
                <a:solidFill>
                  <a:srgbClr val="FFFFFF"/>
                </a:solidFill>
              </a:rPr>
              <a:t>When in doubt about which model to use, consider:</a:t>
            </a:r>
            <a:br>
              <a:rPr lang="en-US" sz="5600" dirty="0">
                <a:solidFill>
                  <a:srgbClr val="FFFFFF"/>
                </a:solidFill>
              </a:rPr>
            </a:br>
            <a:endParaRPr lang="en-US" sz="5600" dirty="0">
              <a:solidFill>
                <a:srgbClr val="FFFFFF"/>
              </a:solidFill>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2600FF0F-9814-E8CE-A2D5-0B2E2F708FA3}"/>
              </a:ext>
            </a:extLst>
          </p:cNvPr>
          <p:cNvSpPr>
            <a:spLocks noGrp="1"/>
          </p:cNvSpPr>
          <p:nvPr>
            <p:ph idx="1"/>
          </p:nvPr>
        </p:nvSpPr>
        <p:spPr>
          <a:xfrm>
            <a:off x="6297233" y="518400"/>
            <a:ext cx="4771607" cy="5837949"/>
          </a:xfrm>
        </p:spPr>
        <p:txBody>
          <a:bodyPr anchor="ctr">
            <a:normAutofit lnSpcReduction="10000"/>
          </a:bodyPr>
          <a:lstStyle/>
          <a:p>
            <a:r>
              <a:rPr lang="en-US" dirty="0">
                <a:solidFill>
                  <a:schemeClr val="tx1">
                    <a:alpha val="80000"/>
                  </a:schemeClr>
                </a:solidFill>
              </a:rPr>
              <a:t>What kind of understanding does your task need? (Bidirectional or unidirectional)</a:t>
            </a:r>
          </a:p>
          <a:p>
            <a:r>
              <a:rPr lang="en-US" dirty="0">
                <a:solidFill>
                  <a:schemeClr val="tx1">
                    <a:alpha val="80000"/>
                  </a:schemeClr>
                </a:solidFill>
              </a:rPr>
              <a:t>Are you generating new text or analyzing existing text?</a:t>
            </a:r>
          </a:p>
          <a:p>
            <a:r>
              <a:rPr lang="en-US" dirty="0">
                <a:solidFill>
                  <a:schemeClr val="tx1">
                    <a:alpha val="80000"/>
                  </a:schemeClr>
                </a:solidFill>
              </a:rPr>
              <a:t>Do you need to transform one sequence into another?</a:t>
            </a:r>
            <a:br>
              <a:rPr lang="en-US" dirty="0">
                <a:solidFill>
                  <a:schemeClr val="tx1">
                    <a:alpha val="80000"/>
                  </a:schemeClr>
                </a:solidFill>
              </a:rPr>
            </a:br>
            <a:endParaRPr lang="en-US" dirty="0">
              <a:solidFill>
                <a:schemeClr val="tx1">
                  <a:alpha val="80000"/>
                </a:schemeClr>
              </a:solidFill>
            </a:endParaRPr>
          </a:p>
          <a:p>
            <a:r>
              <a:rPr lang="en-US" dirty="0">
                <a:solidFill>
                  <a:schemeClr val="tx1">
                    <a:alpha val="80000"/>
                  </a:schemeClr>
                </a:solidFill>
              </a:rPr>
              <a:t>The answers to these questions will guide you toward the right architecture.</a:t>
            </a:r>
            <a:br>
              <a:rPr lang="en-US" dirty="0">
                <a:solidFill>
                  <a:schemeClr val="tx1">
                    <a:alpha val="80000"/>
                  </a:schemeClr>
                </a:solidFill>
              </a:rPr>
            </a:br>
            <a:endParaRPr lang="en-US" dirty="0">
              <a:solidFill>
                <a:schemeClr val="tx1">
                  <a:alpha val="80000"/>
                </a:schemeClr>
              </a:solidFill>
            </a:endParaRP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14737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1583D-0A40-C9E0-873F-FD1EDF6A36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3E1899-8B64-B543-8487-C46105C8907B}"/>
              </a:ext>
            </a:extLst>
          </p:cNvPr>
          <p:cNvSpPr>
            <a:spLocks noGrp="1"/>
          </p:cNvSpPr>
          <p:nvPr>
            <p:ph type="title"/>
          </p:nvPr>
        </p:nvSpPr>
        <p:spPr/>
        <p:txBody>
          <a:bodyPr/>
          <a:lstStyle/>
          <a:p>
            <a:pPr algn="ctr"/>
            <a:r>
              <a:rPr lang="en-US" dirty="0"/>
              <a:t>Behind pipeline()</a:t>
            </a:r>
          </a:p>
        </p:txBody>
      </p:sp>
      <p:pic>
        <p:nvPicPr>
          <p:cNvPr id="5" name="Content Placeholder 4">
            <a:extLst>
              <a:ext uri="{FF2B5EF4-FFF2-40B4-BE49-F238E27FC236}">
                <a16:creationId xmlns:a16="http://schemas.microsoft.com/office/drawing/2014/main" id="{BE86A13C-ECC9-3740-1635-58C2ADFDA112}"/>
              </a:ext>
            </a:extLst>
          </p:cNvPr>
          <p:cNvPicPr>
            <a:picLocks noGrp="1" noChangeAspect="1"/>
          </p:cNvPicPr>
          <p:nvPr>
            <p:ph idx="1"/>
          </p:nvPr>
        </p:nvPicPr>
        <p:blipFill>
          <a:blip r:embed="rId2"/>
          <a:stretch>
            <a:fillRect/>
          </a:stretch>
        </p:blipFill>
        <p:spPr>
          <a:xfrm>
            <a:off x="838200" y="2111459"/>
            <a:ext cx="10515600" cy="3779669"/>
          </a:xfrm>
          <a:prstGeom prst="rect">
            <a:avLst/>
          </a:prstGeom>
        </p:spPr>
      </p:pic>
    </p:spTree>
    <p:extLst>
      <p:ext uri="{BB962C8B-B14F-4D97-AF65-F5344CB8AC3E}">
        <p14:creationId xmlns:p14="http://schemas.microsoft.com/office/powerpoint/2010/main" val="26954876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FB81D-968E-4C64-EF3F-9B85F83375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663526-E172-29EA-F021-F969F39A3C3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B8B90E0-68B2-6BAE-A4E1-D48F7BD61A33}"/>
              </a:ext>
            </a:extLst>
          </p:cNvPr>
          <p:cNvPicPr>
            <a:picLocks noGrp="1" noChangeAspect="1"/>
          </p:cNvPicPr>
          <p:nvPr>
            <p:ph idx="1"/>
          </p:nvPr>
        </p:nvPicPr>
        <p:blipFill>
          <a:blip r:embed="rId2"/>
          <a:stretch>
            <a:fillRect/>
          </a:stretch>
        </p:blipFill>
        <p:spPr>
          <a:xfrm>
            <a:off x="838200" y="1862722"/>
            <a:ext cx="10515600" cy="4277144"/>
          </a:xfrm>
          <a:prstGeom prst="rect">
            <a:avLst/>
          </a:prstGeom>
        </p:spPr>
      </p:pic>
    </p:spTree>
    <p:extLst>
      <p:ext uri="{BB962C8B-B14F-4D97-AF65-F5344CB8AC3E}">
        <p14:creationId xmlns:p14="http://schemas.microsoft.com/office/powerpoint/2010/main" val="40688594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F553D-F933-3747-922E-06F1B2CB5142}"/>
              </a:ext>
            </a:extLst>
          </p:cNvPr>
          <p:cNvSpPr>
            <a:spLocks noGrp="1"/>
          </p:cNvSpPr>
          <p:nvPr>
            <p:ph type="title"/>
          </p:nvPr>
        </p:nvSpPr>
        <p:spPr/>
        <p:txBody>
          <a:bodyPr/>
          <a:lstStyle/>
          <a:p>
            <a:pPr algn="ctr"/>
            <a:r>
              <a:rPr lang="en-US" dirty="0"/>
              <a:t>Model</a:t>
            </a:r>
          </a:p>
        </p:txBody>
      </p:sp>
      <p:sp>
        <p:nvSpPr>
          <p:cNvPr id="3" name="Content Placeholder 2">
            <a:extLst>
              <a:ext uri="{FF2B5EF4-FFF2-40B4-BE49-F238E27FC236}">
                <a16:creationId xmlns:a16="http://schemas.microsoft.com/office/drawing/2014/main" id="{66D8CA44-8FC2-91CD-139D-006718040E0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300334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4EBFC-0015-D96F-BAAF-D66AD7A9DF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17063D-F457-C5F8-C550-8C60907B9498}"/>
              </a:ext>
            </a:extLst>
          </p:cNvPr>
          <p:cNvSpPr>
            <a:spLocks noGrp="1"/>
          </p:cNvSpPr>
          <p:nvPr>
            <p:ph type="title"/>
          </p:nvPr>
        </p:nvSpPr>
        <p:spPr/>
        <p:txBody>
          <a:bodyPr/>
          <a:lstStyle/>
          <a:p>
            <a:pPr algn="ctr"/>
            <a:r>
              <a:rPr lang="en-US" dirty="0"/>
              <a:t>Model parameters(Weights) vs                            Model Hyperparameters</a:t>
            </a:r>
          </a:p>
        </p:txBody>
      </p:sp>
      <p:pic>
        <p:nvPicPr>
          <p:cNvPr id="5" name="Content Placeholder 4">
            <a:extLst>
              <a:ext uri="{FF2B5EF4-FFF2-40B4-BE49-F238E27FC236}">
                <a16:creationId xmlns:a16="http://schemas.microsoft.com/office/drawing/2014/main" id="{BADAC137-BA13-04DD-4FDB-203AD26CDA57}"/>
              </a:ext>
            </a:extLst>
          </p:cNvPr>
          <p:cNvPicPr>
            <a:picLocks noGrp="1" noChangeAspect="1"/>
          </p:cNvPicPr>
          <p:nvPr>
            <p:ph idx="1"/>
          </p:nvPr>
        </p:nvPicPr>
        <p:blipFill>
          <a:blip r:embed="rId2"/>
          <a:stretch>
            <a:fillRect/>
          </a:stretch>
        </p:blipFill>
        <p:spPr>
          <a:xfrm>
            <a:off x="2110517" y="1825625"/>
            <a:ext cx="7970966" cy="4351338"/>
          </a:xfrm>
          <a:prstGeom prst="rect">
            <a:avLst/>
          </a:prstGeom>
        </p:spPr>
      </p:pic>
    </p:spTree>
    <p:extLst>
      <p:ext uri="{BB962C8B-B14F-4D97-AF65-F5344CB8AC3E}">
        <p14:creationId xmlns:p14="http://schemas.microsoft.com/office/powerpoint/2010/main" val="30695989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75F4C-FC21-01CF-ECFB-D306F2907314}"/>
              </a:ext>
            </a:extLst>
          </p:cNvPr>
          <p:cNvSpPr>
            <a:spLocks noGrp="1"/>
          </p:cNvSpPr>
          <p:nvPr>
            <p:ph type="title"/>
          </p:nvPr>
        </p:nvSpPr>
        <p:spPr/>
        <p:txBody>
          <a:bodyPr/>
          <a:lstStyle/>
          <a:p>
            <a:pPr algn="ctr"/>
            <a:r>
              <a:rPr lang="en-US" dirty="0"/>
              <a:t>Keywords </a:t>
            </a:r>
          </a:p>
        </p:txBody>
      </p:sp>
      <p:graphicFrame>
        <p:nvGraphicFramePr>
          <p:cNvPr id="4" name="Content Placeholder 3">
            <a:extLst>
              <a:ext uri="{FF2B5EF4-FFF2-40B4-BE49-F238E27FC236}">
                <a16:creationId xmlns:a16="http://schemas.microsoft.com/office/drawing/2014/main" id="{62A5E475-A6A9-5157-4E28-6F8634F41982}"/>
              </a:ext>
            </a:extLst>
          </p:cNvPr>
          <p:cNvGraphicFramePr>
            <a:graphicFrameLocks noGrp="1"/>
          </p:cNvGraphicFramePr>
          <p:nvPr>
            <p:ph idx="1"/>
            <p:extLst>
              <p:ext uri="{D42A27DB-BD31-4B8C-83A1-F6EECF244321}">
                <p14:modId xmlns:p14="http://schemas.microsoft.com/office/powerpoint/2010/main" val="2410464048"/>
              </p:ext>
            </p:extLst>
          </p:nvPr>
        </p:nvGraphicFramePr>
        <p:xfrm>
          <a:off x="4979027" y="1883661"/>
          <a:ext cx="2233946" cy="4766880"/>
        </p:xfrm>
        <a:graphic>
          <a:graphicData uri="http://schemas.openxmlformats.org/drawingml/2006/table">
            <a:tbl>
              <a:tblPr>
                <a:tableStyleId>{5C22544A-7EE6-4342-B048-85BDC9FD1C3A}</a:tableStyleId>
              </a:tblPr>
              <a:tblGrid>
                <a:gridCol w="1116973">
                  <a:extLst>
                    <a:ext uri="{9D8B030D-6E8A-4147-A177-3AD203B41FA5}">
                      <a16:colId xmlns:a16="http://schemas.microsoft.com/office/drawing/2014/main" val="3224870530"/>
                    </a:ext>
                  </a:extLst>
                </a:gridCol>
                <a:gridCol w="1116973">
                  <a:extLst>
                    <a:ext uri="{9D8B030D-6E8A-4147-A177-3AD203B41FA5}">
                      <a16:colId xmlns:a16="http://schemas.microsoft.com/office/drawing/2014/main" val="2811986167"/>
                    </a:ext>
                  </a:extLst>
                </a:gridCol>
              </a:tblGrid>
              <a:tr h="84178">
                <a:tc>
                  <a:txBody>
                    <a:bodyPr/>
                    <a:lstStyle/>
                    <a:p>
                      <a:pPr marL="0" marR="0">
                        <a:spcAft>
                          <a:spcPts val="2400"/>
                        </a:spcAft>
                        <a:buNone/>
                      </a:pPr>
                      <a:r>
                        <a:rPr lang="en-US" sz="400" dirty="0">
                          <a:effectLst/>
                        </a:rPr>
                        <a:t>Keyword</a:t>
                      </a:r>
                      <a:endParaRPr lang="en-US" sz="400" dirty="0">
                        <a:effectLst/>
                        <a:latin typeface="Google Sans Text"/>
                      </a:endParaRPr>
                    </a:p>
                  </a:txBody>
                  <a:tcPr marL="19426" marR="19426" marT="12950" marB="12950" anchor="ctr"/>
                </a:tc>
                <a:tc>
                  <a:txBody>
                    <a:bodyPr/>
                    <a:lstStyle/>
                    <a:p>
                      <a:pPr marL="0" marR="0">
                        <a:spcAft>
                          <a:spcPts val="2400"/>
                        </a:spcAft>
                        <a:buNone/>
                      </a:pPr>
                      <a:r>
                        <a:rPr lang="en-US" sz="400">
                          <a:effectLst/>
                        </a:rPr>
                        <a:t>Simple Definition</a:t>
                      </a:r>
                      <a:endParaRPr lang="en-US" sz="400">
                        <a:effectLst/>
                        <a:latin typeface="Google Sans Text"/>
                      </a:endParaRPr>
                    </a:p>
                  </a:txBody>
                  <a:tcPr marL="19426" marR="19426" marT="12950" marB="12950" anchor="ctr"/>
                </a:tc>
                <a:extLst>
                  <a:ext uri="{0D108BD9-81ED-4DB2-BD59-A6C34878D82A}">
                    <a16:rowId xmlns:a16="http://schemas.microsoft.com/office/drawing/2014/main" val="3216331901"/>
                  </a:ext>
                </a:extLst>
              </a:tr>
              <a:tr h="142455">
                <a:tc>
                  <a:txBody>
                    <a:bodyPr/>
                    <a:lstStyle/>
                    <a:p>
                      <a:pPr marL="0" marR="0">
                        <a:spcAft>
                          <a:spcPts val="2400"/>
                        </a:spcAft>
                        <a:buNone/>
                      </a:pPr>
                      <a:r>
                        <a:rPr lang="en-US" sz="400">
                          <a:effectLst/>
                        </a:rPr>
                        <a:t>Epoch</a:t>
                      </a:r>
                      <a:endParaRPr lang="en-US" sz="400">
                        <a:effectLst/>
                        <a:latin typeface="Google Sans Text"/>
                      </a:endParaRPr>
                    </a:p>
                  </a:txBody>
                  <a:tcPr marL="19426" marR="19426" marT="12950" marB="12950" anchor="ctr"/>
                </a:tc>
                <a:tc>
                  <a:txBody>
                    <a:bodyPr/>
                    <a:lstStyle/>
                    <a:p>
                      <a:pPr marL="0" marR="0">
                        <a:spcAft>
                          <a:spcPts val="2400"/>
                        </a:spcAft>
                        <a:buNone/>
                      </a:pPr>
                      <a:r>
                        <a:rPr lang="en-US" sz="400">
                          <a:effectLst/>
                        </a:rPr>
                        <a:t>One complete pass where the AI reads through the entire training dataset from start to finish.</a:t>
                      </a:r>
                      <a:endParaRPr lang="en-US" sz="400">
                        <a:effectLst/>
                        <a:latin typeface="Google Sans Text"/>
                      </a:endParaRPr>
                    </a:p>
                  </a:txBody>
                  <a:tcPr marL="19426" marR="19426" marT="12950" marB="12950" anchor="ctr"/>
                </a:tc>
                <a:extLst>
                  <a:ext uri="{0D108BD9-81ED-4DB2-BD59-A6C34878D82A}">
                    <a16:rowId xmlns:a16="http://schemas.microsoft.com/office/drawing/2014/main" val="3580154069"/>
                  </a:ext>
                </a:extLst>
              </a:tr>
              <a:tr h="200731">
                <a:tc>
                  <a:txBody>
                    <a:bodyPr/>
                    <a:lstStyle/>
                    <a:p>
                      <a:pPr marL="0" marR="0">
                        <a:spcAft>
                          <a:spcPts val="2400"/>
                        </a:spcAft>
                        <a:buNone/>
                      </a:pPr>
                      <a:r>
                        <a:rPr lang="en-US" sz="400">
                          <a:effectLst/>
                        </a:rPr>
                        <a:t>Training</a:t>
                      </a:r>
                      <a:endParaRPr lang="en-US" sz="400">
                        <a:effectLst/>
                        <a:latin typeface="Google Sans Text"/>
                      </a:endParaRPr>
                    </a:p>
                  </a:txBody>
                  <a:tcPr marL="19426" marR="19426" marT="12950" marB="12950" anchor="ctr"/>
                </a:tc>
                <a:tc>
                  <a:txBody>
                    <a:bodyPr/>
                    <a:lstStyle/>
                    <a:p>
                      <a:pPr marL="0" marR="0">
                        <a:spcAft>
                          <a:spcPts val="2400"/>
                        </a:spcAft>
                        <a:buNone/>
                      </a:pPr>
                      <a:r>
                        <a:rPr lang="en-US" sz="400">
                          <a:effectLst/>
                        </a:rPr>
                        <a:t>The process of teaching a model by letting it process data, make mistakes, and adjust its internal math to get better over time.</a:t>
                      </a:r>
                      <a:endParaRPr lang="en-US" sz="400">
                        <a:effectLst/>
                        <a:latin typeface="Google Sans Text"/>
                      </a:endParaRPr>
                    </a:p>
                  </a:txBody>
                  <a:tcPr marL="19426" marR="19426" marT="12950" marB="12950" anchor="ctr"/>
                </a:tc>
                <a:extLst>
                  <a:ext uri="{0D108BD9-81ED-4DB2-BD59-A6C34878D82A}">
                    <a16:rowId xmlns:a16="http://schemas.microsoft.com/office/drawing/2014/main" val="2764336250"/>
                  </a:ext>
                </a:extLst>
              </a:tr>
              <a:tr h="142455">
                <a:tc>
                  <a:txBody>
                    <a:bodyPr/>
                    <a:lstStyle/>
                    <a:p>
                      <a:pPr marL="0" marR="0">
                        <a:spcAft>
                          <a:spcPts val="2400"/>
                        </a:spcAft>
                        <a:buNone/>
                      </a:pPr>
                      <a:r>
                        <a:rPr lang="en-US" sz="400">
                          <a:effectLst/>
                        </a:rPr>
                        <a:t>Inference</a:t>
                      </a:r>
                      <a:endParaRPr lang="en-US" sz="400">
                        <a:effectLst/>
                        <a:latin typeface="Google Sans Text"/>
                      </a:endParaRPr>
                    </a:p>
                  </a:txBody>
                  <a:tcPr marL="19426" marR="19426" marT="12950" marB="12950" anchor="ctr"/>
                </a:tc>
                <a:tc>
                  <a:txBody>
                    <a:bodyPr/>
                    <a:lstStyle/>
                    <a:p>
                      <a:pPr marL="0" marR="0">
                        <a:spcAft>
                          <a:spcPts val="2400"/>
                        </a:spcAft>
                        <a:buNone/>
                      </a:pPr>
                      <a:r>
                        <a:rPr lang="en-US" sz="400" dirty="0">
                          <a:effectLst/>
                        </a:rPr>
                        <a:t>The phase when a fully trained model is put to work making actual predictions on brand new, unseen data.</a:t>
                      </a:r>
                      <a:endParaRPr lang="en-US" sz="400" dirty="0">
                        <a:effectLst/>
                        <a:latin typeface="Google Sans Text"/>
                      </a:endParaRPr>
                    </a:p>
                  </a:txBody>
                  <a:tcPr marL="19426" marR="19426" marT="12950" marB="12950" anchor="ctr"/>
                </a:tc>
                <a:extLst>
                  <a:ext uri="{0D108BD9-81ED-4DB2-BD59-A6C34878D82A}">
                    <a16:rowId xmlns:a16="http://schemas.microsoft.com/office/drawing/2014/main" val="764788076"/>
                  </a:ext>
                </a:extLst>
              </a:tr>
              <a:tr h="200731">
                <a:tc>
                  <a:txBody>
                    <a:bodyPr/>
                    <a:lstStyle/>
                    <a:p>
                      <a:pPr marL="0" marR="0">
                        <a:spcAft>
                          <a:spcPts val="2400"/>
                        </a:spcAft>
                        <a:buNone/>
                      </a:pPr>
                      <a:r>
                        <a:rPr lang="en-US" sz="400">
                          <a:effectLst/>
                        </a:rPr>
                        <a:t>Checkpoint</a:t>
                      </a:r>
                      <a:endParaRPr lang="en-US" sz="400">
                        <a:effectLst/>
                        <a:latin typeface="Google Sans Text"/>
                      </a:endParaRPr>
                    </a:p>
                  </a:txBody>
                  <a:tcPr marL="19426" marR="19426" marT="12950" marB="12950" anchor="ctr"/>
                </a:tc>
                <a:tc>
                  <a:txBody>
                    <a:bodyPr/>
                    <a:lstStyle/>
                    <a:p>
                      <a:pPr marL="0" marR="0">
                        <a:spcAft>
                          <a:spcPts val="2400"/>
                        </a:spcAft>
                        <a:buNone/>
                      </a:pPr>
                      <a:r>
                        <a:rPr lang="en-US" sz="400">
                          <a:effectLst/>
                        </a:rPr>
                        <a:t>A saved snapshot of a model's weights and configuration at a specific point during or after training.</a:t>
                      </a:r>
                      <a:endParaRPr lang="en-US" sz="400">
                        <a:effectLst/>
                        <a:latin typeface="Google Sans Text"/>
                      </a:endParaRPr>
                    </a:p>
                  </a:txBody>
                  <a:tcPr marL="19426" marR="19426" marT="12950" marB="12950" anchor="ctr"/>
                </a:tc>
                <a:extLst>
                  <a:ext uri="{0D108BD9-81ED-4DB2-BD59-A6C34878D82A}">
                    <a16:rowId xmlns:a16="http://schemas.microsoft.com/office/drawing/2014/main" val="3093697494"/>
                  </a:ext>
                </a:extLst>
              </a:tr>
              <a:tr h="200731">
                <a:tc>
                  <a:txBody>
                    <a:bodyPr/>
                    <a:lstStyle/>
                    <a:p>
                      <a:pPr marL="0" marR="0">
                        <a:spcAft>
                          <a:spcPts val="2400"/>
                        </a:spcAft>
                        <a:buNone/>
                      </a:pPr>
                      <a:r>
                        <a:rPr lang="en-US" sz="400" dirty="0">
                          <a:effectLst/>
                        </a:rPr>
                        <a:t>Weights / Parameters</a:t>
                      </a:r>
                      <a:endParaRPr lang="en-US" sz="400" dirty="0">
                        <a:effectLst/>
                        <a:latin typeface="Google Sans Text"/>
                      </a:endParaRPr>
                    </a:p>
                  </a:txBody>
                  <a:tcPr marL="19426" marR="19426" marT="12950" marB="12950" anchor="ctr"/>
                </a:tc>
                <a:tc>
                  <a:txBody>
                    <a:bodyPr/>
                    <a:lstStyle/>
                    <a:p>
                      <a:pPr marL="0" marR="0">
                        <a:spcAft>
                          <a:spcPts val="2400"/>
                        </a:spcAft>
                        <a:buNone/>
                      </a:pPr>
                      <a:r>
                        <a:rPr lang="en-US" sz="400">
                          <a:effectLst/>
                        </a:rPr>
                        <a:t>The internal numbers (the model's "brain wiring") that are adjusted during training to determine how the model turns inputs into outputs.</a:t>
                      </a:r>
                      <a:endParaRPr lang="en-US" sz="400">
                        <a:effectLst/>
                        <a:latin typeface="Google Sans Text"/>
                      </a:endParaRPr>
                    </a:p>
                  </a:txBody>
                  <a:tcPr marL="19426" marR="19426" marT="12950" marB="12950" anchor="ctr"/>
                </a:tc>
                <a:extLst>
                  <a:ext uri="{0D108BD9-81ED-4DB2-BD59-A6C34878D82A}">
                    <a16:rowId xmlns:a16="http://schemas.microsoft.com/office/drawing/2014/main" val="3194025025"/>
                  </a:ext>
                </a:extLst>
              </a:tr>
              <a:tr h="200731">
                <a:tc>
                  <a:txBody>
                    <a:bodyPr/>
                    <a:lstStyle/>
                    <a:p>
                      <a:pPr marL="0" marR="0">
                        <a:spcAft>
                          <a:spcPts val="2400"/>
                        </a:spcAft>
                        <a:buNone/>
                      </a:pPr>
                      <a:r>
                        <a:rPr lang="en-US" sz="400">
                          <a:effectLst/>
                        </a:rPr>
                        <a:t>Hyperparameters</a:t>
                      </a:r>
                      <a:endParaRPr lang="en-US" sz="400">
                        <a:effectLst/>
                        <a:latin typeface="Google Sans Text"/>
                      </a:endParaRPr>
                    </a:p>
                  </a:txBody>
                  <a:tcPr marL="19426" marR="19426" marT="12950" marB="12950" anchor="ctr"/>
                </a:tc>
                <a:tc>
                  <a:txBody>
                    <a:bodyPr/>
                    <a:lstStyle/>
                    <a:p>
                      <a:pPr marL="0" marR="0">
                        <a:spcAft>
                          <a:spcPts val="2400"/>
                        </a:spcAft>
                        <a:buNone/>
                      </a:pPr>
                      <a:r>
                        <a:rPr lang="en-US" sz="400">
                          <a:effectLst/>
                        </a:rPr>
                        <a:t>Settings configured before training starts (e.g., learning rate, batch size) that control how the model learns.</a:t>
                      </a:r>
                      <a:endParaRPr lang="en-US" sz="400">
                        <a:effectLst/>
                        <a:latin typeface="Google Sans Text"/>
                      </a:endParaRPr>
                    </a:p>
                  </a:txBody>
                  <a:tcPr marL="19426" marR="19426" marT="12950" marB="12950" anchor="ctr"/>
                </a:tc>
                <a:extLst>
                  <a:ext uri="{0D108BD9-81ED-4DB2-BD59-A6C34878D82A}">
                    <a16:rowId xmlns:a16="http://schemas.microsoft.com/office/drawing/2014/main" val="638112172"/>
                  </a:ext>
                </a:extLst>
              </a:tr>
              <a:tr h="142455">
                <a:tc>
                  <a:txBody>
                    <a:bodyPr/>
                    <a:lstStyle/>
                    <a:p>
                      <a:pPr marL="0" marR="0">
                        <a:spcAft>
                          <a:spcPts val="2400"/>
                        </a:spcAft>
                        <a:buNone/>
                      </a:pPr>
                      <a:r>
                        <a:rPr lang="en-US" sz="400">
                          <a:effectLst/>
                        </a:rPr>
                        <a:t>Tokenizer</a:t>
                      </a:r>
                      <a:endParaRPr lang="en-US" sz="400">
                        <a:effectLst/>
                        <a:latin typeface="Google Sans Text"/>
                      </a:endParaRPr>
                    </a:p>
                  </a:txBody>
                  <a:tcPr marL="19426" marR="19426" marT="12950" marB="12950" anchor="ctr"/>
                </a:tc>
                <a:tc>
                  <a:txBody>
                    <a:bodyPr/>
                    <a:lstStyle/>
                    <a:p>
                      <a:pPr marL="0" marR="0">
                        <a:spcAft>
                          <a:spcPts val="2400"/>
                        </a:spcAft>
                        <a:buNone/>
                      </a:pPr>
                      <a:r>
                        <a:rPr lang="en-US" sz="400">
                          <a:effectLst/>
                        </a:rPr>
                        <a:t>A tool that converts raw text into numbers (and vice versa) so the mathematical model can process it.</a:t>
                      </a:r>
                      <a:endParaRPr lang="en-US" sz="400">
                        <a:effectLst/>
                        <a:latin typeface="Google Sans Text"/>
                      </a:endParaRPr>
                    </a:p>
                  </a:txBody>
                  <a:tcPr marL="19426" marR="19426" marT="12950" marB="12950" anchor="ctr"/>
                </a:tc>
                <a:extLst>
                  <a:ext uri="{0D108BD9-81ED-4DB2-BD59-A6C34878D82A}">
                    <a16:rowId xmlns:a16="http://schemas.microsoft.com/office/drawing/2014/main" val="2680345028"/>
                  </a:ext>
                </a:extLst>
              </a:tr>
              <a:tr h="142455">
                <a:tc>
                  <a:txBody>
                    <a:bodyPr/>
                    <a:lstStyle/>
                    <a:p>
                      <a:pPr marL="0" marR="0">
                        <a:spcAft>
                          <a:spcPts val="2400"/>
                        </a:spcAft>
                        <a:buNone/>
                      </a:pPr>
                      <a:r>
                        <a:rPr lang="en-US" sz="400">
                          <a:effectLst/>
                        </a:rPr>
                        <a:t>Tokens</a:t>
                      </a:r>
                      <a:endParaRPr lang="en-US" sz="400">
                        <a:effectLst/>
                        <a:latin typeface="Google Sans Text"/>
                      </a:endParaRPr>
                    </a:p>
                  </a:txBody>
                  <a:tcPr marL="19426" marR="19426" marT="12950" marB="12950" anchor="ctr"/>
                </a:tc>
                <a:tc>
                  <a:txBody>
                    <a:bodyPr/>
                    <a:lstStyle/>
                    <a:p>
                      <a:pPr marL="0" marR="0">
                        <a:spcAft>
                          <a:spcPts val="2400"/>
                        </a:spcAft>
                        <a:buNone/>
                      </a:pPr>
                      <a:r>
                        <a:rPr lang="en-US" sz="400">
                          <a:effectLst/>
                        </a:rPr>
                        <a:t>The smaller pieces (words, subwords, or punctuation) that a tokenizer breaks text into before processing.</a:t>
                      </a:r>
                      <a:endParaRPr lang="en-US" sz="400">
                        <a:effectLst/>
                        <a:latin typeface="Google Sans Text"/>
                      </a:endParaRPr>
                    </a:p>
                  </a:txBody>
                  <a:tcPr marL="19426" marR="19426" marT="12950" marB="12950" anchor="ctr"/>
                </a:tc>
                <a:extLst>
                  <a:ext uri="{0D108BD9-81ED-4DB2-BD59-A6C34878D82A}">
                    <a16:rowId xmlns:a16="http://schemas.microsoft.com/office/drawing/2014/main" val="1032262752"/>
                  </a:ext>
                </a:extLst>
              </a:tr>
              <a:tr h="200731">
                <a:tc>
                  <a:txBody>
                    <a:bodyPr/>
                    <a:lstStyle/>
                    <a:p>
                      <a:pPr marL="0" marR="0">
                        <a:spcAft>
                          <a:spcPts val="2400"/>
                        </a:spcAft>
                        <a:buNone/>
                      </a:pPr>
                      <a:r>
                        <a:rPr lang="en-US" sz="400">
                          <a:effectLst/>
                        </a:rPr>
                        <a:t>Logits</a:t>
                      </a:r>
                      <a:endParaRPr lang="en-US" sz="400">
                        <a:effectLst/>
                        <a:latin typeface="Google Sans Text"/>
                      </a:endParaRPr>
                    </a:p>
                  </a:txBody>
                  <a:tcPr marL="19426" marR="19426" marT="12950" marB="12950" anchor="ctr"/>
                </a:tc>
                <a:tc>
                  <a:txBody>
                    <a:bodyPr/>
                    <a:lstStyle/>
                    <a:p>
                      <a:pPr marL="0" marR="0">
                        <a:spcAft>
                          <a:spcPts val="2400"/>
                        </a:spcAft>
                        <a:buNone/>
                      </a:pPr>
                      <a:r>
                        <a:rPr lang="en-US" sz="400">
                          <a:effectLst/>
                        </a:rPr>
                        <a:t>The raw, unnormalized numerical scores output by a model's final layer before they are converted into percentage probabilities.</a:t>
                      </a:r>
                      <a:endParaRPr lang="en-US" sz="400">
                        <a:effectLst/>
                        <a:latin typeface="Google Sans Text"/>
                      </a:endParaRPr>
                    </a:p>
                  </a:txBody>
                  <a:tcPr marL="19426" marR="19426" marT="12950" marB="12950" anchor="ctr"/>
                </a:tc>
                <a:extLst>
                  <a:ext uri="{0D108BD9-81ED-4DB2-BD59-A6C34878D82A}">
                    <a16:rowId xmlns:a16="http://schemas.microsoft.com/office/drawing/2014/main" val="548956670"/>
                  </a:ext>
                </a:extLst>
              </a:tr>
              <a:tr h="200731">
                <a:tc>
                  <a:txBody>
                    <a:bodyPr/>
                    <a:lstStyle/>
                    <a:p>
                      <a:pPr marL="0" marR="0">
                        <a:spcAft>
                          <a:spcPts val="2400"/>
                        </a:spcAft>
                        <a:buNone/>
                      </a:pPr>
                      <a:r>
                        <a:rPr lang="en-US" sz="400">
                          <a:effectLst/>
                        </a:rPr>
                        <a:t>Padding</a:t>
                      </a:r>
                      <a:endParaRPr lang="en-US" sz="400">
                        <a:effectLst/>
                        <a:latin typeface="Google Sans Text"/>
                      </a:endParaRPr>
                    </a:p>
                  </a:txBody>
                  <a:tcPr marL="19426" marR="19426" marT="12950" marB="12950" anchor="ctr"/>
                </a:tc>
                <a:tc>
                  <a:txBody>
                    <a:bodyPr/>
                    <a:lstStyle/>
                    <a:p>
                      <a:pPr marL="0" marR="0">
                        <a:spcAft>
                          <a:spcPts val="2400"/>
                        </a:spcAft>
                        <a:buNone/>
                      </a:pPr>
                      <a:r>
                        <a:rPr lang="en-US" sz="400">
                          <a:effectLst/>
                        </a:rPr>
                        <a:t>Adding dummy filler tokens (like zeros) to shorter text inputs so all sequences in a batch are the exact same length.</a:t>
                      </a:r>
                      <a:endParaRPr lang="en-US" sz="400">
                        <a:effectLst/>
                        <a:latin typeface="Google Sans Text"/>
                      </a:endParaRPr>
                    </a:p>
                  </a:txBody>
                  <a:tcPr marL="19426" marR="19426" marT="12950" marB="12950" anchor="ctr"/>
                </a:tc>
                <a:extLst>
                  <a:ext uri="{0D108BD9-81ED-4DB2-BD59-A6C34878D82A}">
                    <a16:rowId xmlns:a16="http://schemas.microsoft.com/office/drawing/2014/main" val="2001823157"/>
                  </a:ext>
                </a:extLst>
              </a:tr>
              <a:tr h="142455">
                <a:tc>
                  <a:txBody>
                    <a:bodyPr/>
                    <a:lstStyle/>
                    <a:p>
                      <a:pPr marL="0" marR="0">
                        <a:spcAft>
                          <a:spcPts val="2400"/>
                        </a:spcAft>
                        <a:buNone/>
                      </a:pPr>
                      <a:r>
                        <a:rPr lang="en-US" sz="400">
                          <a:effectLst/>
                        </a:rPr>
                        <a:t>Truncation</a:t>
                      </a:r>
                      <a:endParaRPr lang="en-US" sz="400">
                        <a:effectLst/>
                        <a:latin typeface="Google Sans Text"/>
                      </a:endParaRPr>
                    </a:p>
                  </a:txBody>
                  <a:tcPr marL="19426" marR="19426" marT="12950" marB="12950" anchor="ctr"/>
                </a:tc>
                <a:tc>
                  <a:txBody>
                    <a:bodyPr/>
                    <a:lstStyle/>
                    <a:p>
                      <a:pPr marL="0" marR="0">
                        <a:spcAft>
                          <a:spcPts val="2400"/>
                        </a:spcAft>
                        <a:buNone/>
                      </a:pPr>
                      <a:r>
                        <a:rPr lang="en-US" sz="400">
                          <a:effectLst/>
                        </a:rPr>
                        <a:t>Cutting off long text sequences so they fit within the model's maximum allowed context window.</a:t>
                      </a:r>
                      <a:endParaRPr lang="en-US" sz="400">
                        <a:effectLst/>
                        <a:latin typeface="Google Sans Text"/>
                      </a:endParaRPr>
                    </a:p>
                  </a:txBody>
                  <a:tcPr marL="19426" marR="19426" marT="12950" marB="12950" anchor="ctr"/>
                </a:tc>
                <a:extLst>
                  <a:ext uri="{0D108BD9-81ED-4DB2-BD59-A6C34878D82A}">
                    <a16:rowId xmlns:a16="http://schemas.microsoft.com/office/drawing/2014/main" val="2789970419"/>
                  </a:ext>
                </a:extLst>
              </a:tr>
              <a:tr h="200731">
                <a:tc>
                  <a:txBody>
                    <a:bodyPr/>
                    <a:lstStyle/>
                    <a:p>
                      <a:pPr marL="0" marR="0">
                        <a:spcAft>
                          <a:spcPts val="2400"/>
                        </a:spcAft>
                        <a:buNone/>
                      </a:pPr>
                      <a:r>
                        <a:rPr lang="en-US" sz="400">
                          <a:effectLst/>
                        </a:rPr>
                        <a:t>Attention Mask</a:t>
                      </a:r>
                      <a:endParaRPr lang="en-US" sz="400">
                        <a:effectLst/>
                        <a:latin typeface="Google Sans Text"/>
                      </a:endParaRPr>
                    </a:p>
                  </a:txBody>
                  <a:tcPr marL="19426" marR="19426" marT="12950" marB="12950" anchor="ctr"/>
                </a:tc>
                <a:tc>
                  <a:txBody>
                    <a:bodyPr/>
                    <a:lstStyle/>
                    <a:p>
                      <a:pPr marL="0" marR="0">
                        <a:spcAft>
                          <a:spcPts val="2400"/>
                        </a:spcAft>
                        <a:buNone/>
                      </a:pPr>
                      <a:r>
                        <a:rPr lang="en-US" sz="400">
                          <a:effectLst/>
                        </a:rPr>
                        <a:t>A list of 1s and 0s that tells the model which tokens are real text (1) and which are filler padding (0) to ignore.</a:t>
                      </a:r>
                      <a:endParaRPr lang="en-US" sz="400">
                        <a:effectLst/>
                        <a:latin typeface="Google Sans Text"/>
                      </a:endParaRPr>
                    </a:p>
                  </a:txBody>
                  <a:tcPr marL="19426" marR="19426" marT="12950" marB="12950" anchor="ctr"/>
                </a:tc>
                <a:extLst>
                  <a:ext uri="{0D108BD9-81ED-4DB2-BD59-A6C34878D82A}">
                    <a16:rowId xmlns:a16="http://schemas.microsoft.com/office/drawing/2014/main" val="3918562860"/>
                  </a:ext>
                </a:extLst>
              </a:tr>
              <a:tr h="200731">
                <a:tc>
                  <a:txBody>
                    <a:bodyPr/>
                    <a:lstStyle/>
                    <a:p>
                      <a:pPr marL="0" marR="0">
                        <a:spcAft>
                          <a:spcPts val="2400"/>
                        </a:spcAft>
                        <a:buNone/>
                      </a:pPr>
                      <a:r>
                        <a:rPr lang="en-US" sz="400">
                          <a:effectLst/>
                        </a:rPr>
                        <a:t>Encoder</a:t>
                      </a:r>
                      <a:endParaRPr lang="en-US" sz="400">
                        <a:effectLst/>
                        <a:latin typeface="Google Sans Text"/>
                      </a:endParaRPr>
                    </a:p>
                  </a:txBody>
                  <a:tcPr marL="19426" marR="19426" marT="12950" marB="12950" anchor="ctr"/>
                </a:tc>
                <a:tc>
                  <a:txBody>
                    <a:bodyPr/>
                    <a:lstStyle/>
                    <a:p>
                      <a:pPr marL="0" marR="0">
                        <a:spcAft>
                          <a:spcPts val="2400"/>
                        </a:spcAft>
                        <a:buNone/>
                      </a:pPr>
                      <a:r>
                        <a:rPr lang="en-US" sz="400">
                          <a:effectLst/>
                        </a:rPr>
                        <a:t>The part of a Transformer that reads the full input text in both directions to build a rich contextual understanding.</a:t>
                      </a:r>
                      <a:endParaRPr lang="en-US" sz="400">
                        <a:effectLst/>
                        <a:latin typeface="Google Sans Text"/>
                      </a:endParaRPr>
                    </a:p>
                  </a:txBody>
                  <a:tcPr marL="19426" marR="19426" marT="12950" marB="12950" anchor="ctr"/>
                </a:tc>
                <a:extLst>
                  <a:ext uri="{0D108BD9-81ED-4DB2-BD59-A6C34878D82A}">
                    <a16:rowId xmlns:a16="http://schemas.microsoft.com/office/drawing/2014/main" val="3599759847"/>
                  </a:ext>
                </a:extLst>
              </a:tr>
              <a:tr h="200731">
                <a:tc>
                  <a:txBody>
                    <a:bodyPr/>
                    <a:lstStyle/>
                    <a:p>
                      <a:pPr marL="0" marR="0">
                        <a:spcAft>
                          <a:spcPts val="2400"/>
                        </a:spcAft>
                        <a:buNone/>
                      </a:pPr>
                      <a:r>
                        <a:rPr lang="en-US" sz="400">
                          <a:effectLst/>
                        </a:rPr>
                        <a:t>Decoder</a:t>
                      </a:r>
                      <a:endParaRPr lang="en-US" sz="400">
                        <a:effectLst/>
                        <a:latin typeface="Google Sans Text"/>
                      </a:endParaRPr>
                    </a:p>
                  </a:txBody>
                  <a:tcPr marL="19426" marR="19426" marT="12950" marB="12950" anchor="ctr"/>
                </a:tc>
                <a:tc>
                  <a:txBody>
                    <a:bodyPr/>
                    <a:lstStyle/>
                    <a:p>
                      <a:pPr marL="0" marR="0">
                        <a:spcAft>
                          <a:spcPts val="2400"/>
                        </a:spcAft>
                        <a:buNone/>
                      </a:pPr>
                      <a:r>
                        <a:rPr lang="en-US" sz="400">
                          <a:effectLst/>
                        </a:rPr>
                        <a:t>The part of a Transformer that generates output text word-by-word sequentially using causal masking to prevent looking ahead.</a:t>
                      </a:r>
                      <a:endParaRPr lang="en-US" sz="400">
                        <a:effectLst/>
                        <a:latin typeface="Google Sans Text"/>
                      </a:endParaRPr>
                    </a:p>
                  </a:txBody>
                  <a:tcPr marL="19426" marR="19426" marT="12950" marB="12950" anchor="ctr"/>
                </a:tc>
                <a:extLst>
                  <a:ext uri="{0D108BD9-81ED-4DB2-BD59-A6C34878D82A}">
                    <a16:rowId xmlns:a16="http://schemas.microsoft.com/office/drawing/2014/main" val="4147562646"/>
                  </a:ext>
                </a:extLst>
              </a:tr>
              <a:tr h="142455">
                <a:tc>
                  <a:txBody>
                    <a:bodyPr/>
                    <a:lstStyle/>
                    <a:p>
                      <a:pPr marL="0" marR="0">
                        <a:spcAft>
                          <a:spcPts val="2400"/>
                        </a:spcAft>
                        <a:buNone/>
                      </a:pPr>
                      <a:r>
                        <a:rPr lang="en-US" sz="400">
                          <a:effectLst/>
                        </a:rPr>
                        <a:t>Distillation</a:t>
                      </a:r>
                      <a:endParaRPr lang="en-US" sz="400">
                        <a:effectLst/>
                        <a:latin typeface="Google Sans Text"/>
                      </a:endParaRPr>
                    </a:p>
                  </a:txBody>
                  <a:tcPr marL="19426" marR="19426" marT="12950" marB="12950" anchor="ctr"/>
                </a:tc>
                <a:tc>
                  <a:txBody>
                    <a:bodyPr/>
                    <a:lstStyle/>
                    <a:p>
                      <a:pPr marL="0" marR="0">
                        <a:spcAft>
                          <a:spcPts val="2400"/>
                        </a:spcAft>
                        <a:buNone/>
                      </a:pPr>
                      <a:r>
                        <a:rPr lang="en-US" sz="400">
                          <a:effectLst/>
                        </a:rPr>
                        <a:t>Training a smaller, faster "student" model to mimic the outputs and performance of a larger "teacher" model.</a:t>
                      </a:r>
                      <a:endParaRPr lang="en-US" sz="400">
                        <a:effectLst/>
                        <a:latin typeface="Google Sans Text"/>
                      </a:endParaRPr>
                    </a:p>
                  </a:txBody>
                  <a:tcPr marL="19426" marR="19426" marT="12950" marB="12950" anchor="ctr"/>
                </a:tc>
                <a:extLst>
                  <a:ext uri="{0D108BD9-81ED-4DB2-BD59-A6C34878D82A}">
                    <a16:rowId xmlns:a16="http://schemas.microsoft.com/office/drawing/2014/main" val="1680305070"/>
                  </a:ext>
                </a:extLst>
              </a:tr>
              <a:tr h="200731">
                <a:tc>
                  <a:txBody>
                    <a:bodyPr/>
                    <a:lstStyle/>
                    <a:p>
                      <a:pPr marL="0" marR="0">
                        <a:spcAft>
                          <a:spcPts val="2400"/>
                        </a:spcAft>
                        <a:buNone/>
                      </a:pPr>
                      <a:r>
                        <a:rPr lang="en-US" sz="400">
                          <a:effectLst/>
                        </a:rPr>
                        <a:t>Zero-Shot Learning</a:t>
                      </a:r>
                      <a:endParaRPr lang="en-US" sz="400">
                        <a:effectLst/>
                        <a:latin typeface="Google Sans Text"/>
                      </a:endParaRPr>
                    </a:p>
                  </a:txBody>
                  <a:tcPr marL="19426" marR="19426" marT="12950" marB="12950" anchor="ctr"/>
                </a:tc>
                <a:tc>
                  <a:txBody>
                    <a:bodyPr/>
                    <a:lstStyle/>
                    <a:p>
                      <a:pPr marL="0" marR="0">
                        <a:spcAft>
                          <a:spcPts val="2400"/>
                        </a:spcAft>
                        <a:buNone/>
                      </a:pPr>
                      <a:r>
                        <a:rPr lang="en-US" sz="400">
                          <a:effectLst/>
                        </a:rPr>
                        <a:t>Getting a model to perform a task correctly without giving it any specific training examples for that exact task beforehand.</a:t>
                      </a:r>
                      <a:endParaRPr lang="en-US" sz="400">
                        <a:effectLst/>
                        <a:latin typeface="Google Sans Text"/>
                      </a:endParaRPr>
                    </a:p>
                  </a:txBody>
                  <a:tcPr marL="19426" marR="19426" marT="12950" marB="12950" anchor="ctr"/>
                </a:tc>
                <a:extLst>
                  <a:ext uri="{0D108BD9-81ED-4DB2-BD59-A6C34878D82A}">
                    <a16:rowId xmlns:a16="http://schemas.microsoft.com/office/drawing/2014/main" val="482375564"/>
                  </a:ext>
                </a:extLst>
              </a:tr>
              <a:tr h="200731">
                <a:tc>
                  <a:txBody>
                    <a:bodyPr/>
                    <a:lstStyle/>
                    <a:p>
                      <a:pPr marL="0" marR="0">
                        <a:spcAft>
                          <a:spcPts val="2400"/>
                        </a:spcAft>
                        <a:buNone/>
                      </a:pPr>
                      <a:r>
                        <a:rPr lang="en-US" sz="400">
                          <a:effectLst/>
                        </a:rPr>
                        <a:t>Few-Shot Learning</a:t>
                      </a:r>
                      <a:endParaRPr lang="en-US" sz="400">
                        <a:effectLst/>
                        <a:latin typeface="Google Sans Text"/>
                      </a:endParaRPr>
                    </a:p>
                  </a:txBody>
                  <a:tcPr marL="19426" marR="19426" marT="12950" marB="12950" anchor="ctr"/>
                </a:tc>
                <a:tc>
                  <a:txBody>
                    <a:bodyPr/>
                    <a:lstStyle/>
                    <a:p>
                      <a:pPr marL="0" marR="0">
                        <a:spcAft>
                          <a:spcPts val="2400"/>
                        </a:spcAft>
                        <a:buNone/>
                      </a:pPr>
                      <a:r>
                        <a:rPr lang="en-US" sz="400">
                          <a:effectLst/>
                        </a:rPr>
                        <a:t>Giving a model a few examples inside the prompt to guide its understanding before asking for a new prediction.</a:t>
                      </a:r>
                      <a:endParaRPr lang="en-US" sz="400">
                        <a:effectLst/>
                        <a:latin typeface="Google Sans Text"/>
                      </a:endParaRPr>
                    </a:p>
                  </a:txBody>
                  <a:tcPr marL="19426" marR="19426" marT="12950" marB="12950" anchor="ctr"/>
                </a:tc>
                <a:extLst>
                  <a:ext uri="{0D108BD9-81ED-4DB2-BD59-A6C34878D82A}">
                    <a16:rowId xmlns:a16="http://schemas.microsoft.com/office/drawing/2014/main" val="3314015434"/>
                  </a:ext>
                </a:extLst>
              </a:tr>
              <a:tr h="200731">
                <a:tc>
                  <a:txBody>
                    <a:bodyPr/>
                    <a:lstStyle/>
                    <a:p>
                      <a:pPr marL="0" marR="0">
                        <a:spcAft>
                          <a:spcPts val="2400"/>
                        </a:spcAft>
                        <a:buNone/>
                      </a:pPr>
                      <a:r>
                        <a:rPr lang="en-US" sz="400">
                          <a:effectLst/>
                        </a:rPr>
                        <a:t>Fine-Tuning</a:t>
                      </a:r>
                      <a:endParaRPr lang="en-US" sz="400">
                        <a:effectLst/>
                        <a:latin typeface="Google Sans Text"/>
                      </a:endParaRPr>
                    </a:p>
                  </a:txBody>
                  <a:tcPr marL="19426" marR="19426" marT="12950" marB="12950" anchor="ctr"/>
                </a:tc>
                <a:tc>
                  <a:txBody>
                    <a:bodyPr/>
                    <a:lstStyle/>
                    <a:p>
                      <a:pPr marL="0" marR="0">
                        <a:spcAft>
                          <a:spcPts val="2400"/>
                        </a:spcAft>
                        <a:buNone/>
                      </a:pPr>
                      <a:r>
                        <a:rPr lang="en-US" sz="400">
                          <a:effectLst/>
                        </a:rPr>
                        <a:t>Taking a pre-trained model that already understands general language and training it further on a specific dataset for a custom task.</a:t>
                      </a:r>
                      <a:endParaRPr lang="en-US" sz="400">
                        <a:effectLst/>
                        <a:latin typeface="Google Sans Text"/>
                      </a:endParaRPr>
                    </a:p>
                  </a:txBody>
                  <a:tcPr marL="19426" marR="19426" marT="12950" marB="12950" anchor="ctr"/>
                </a:tc>
                <a:extLst>
                  <a:ext uri="{0D108BD9-81ED-4DB2-BD59-A6C34878D82A}">
                    <a16:rowId xmlns:a16="http://schemas.microsoft.com/office/drawing/2014/main" val="812613938"/>
                  </a:ext>
                </a:extLst>
              </a:tr>
              <a:tr h="200731">
                <a:tc>
                  <a:txBody>
                    <a:bodyPr/>
                    <a:lstStyle/>
                    <a:p>
                      <a:pPr marL="0" marR="0">
                        <a:spcAft>
                          <a:spcPts val="2400"/>
                        </a:spcAft>
                        <a:buNone/>
                      </a:pPr>
                      <a:r>
                        <a:rPr lang="en-US" sz="400">
                          <a:effectLst/>
                        </a:rPr>
                        <a:t>Pipeline</a:t>
                      </a:r>
                      <a:endParaRPr lang="en-US" sz="400">
                        <a:effectLst/>
                        <a:latin typeface="Google Sans Text"/>
                      </a:endParaRPr>
                    </a:p>
                  </a:txBody>
                  <a:tcPr marL="19426" marR="19426" marT="12950" marB="12950" anchor="ctr"/>
                </a:tc>
                <a:tc>
                  <a:txBody>
                    <a:bodyPr/>
                    <a:lstStyle/>
                    <a:p>
                      <a:pPr marL="0" marR="0">
                        <a:spcAft>
                          <a:spcPts val="2400"/>
                        </a:spcAft>
                        <a:buNone/>
                      </a:pPr>
                      <a:r>
                        <a:rPr lang="en-US" sz="400">
                          <a:effectLst/>
                        </a:rPr>
                        <a:t>A high-level, easy-to-use Hugging Face wrapper that handles tokenization, model execution, and post-processing in a single line of code.</a:t>
                      </a:r>
                      <a:endParaRPr lang="en-US" sz="400">
                        <a:effectLst/>
                        <a:latin typeface="Google Sans Text"/>
                      </a:endParaRPr>
                    </a:p>
                  </a:txBody>
                  <a:tcPr marL="19426" marR="19426" marT="12950" marB="12950" anchor="ctr"/>
                </a:tc>
                <a:extLst>
                  <a:ext uri="{0D108BD9-81ED-4DB2-BD59-A6C34878D82A}">
                    <a16:rowId xmlns:a16="http://schemas.microsoft.com/office/drawing/2014/main" val="1120081573"/>
                  </a:ext>
                </a:extLst>
              </a:tr>
              <a:tr h="200731">
                <a:tc>
                  <a:txBody>
                    <a:bodyPr/>
                    <a:lstStyle/>
                    <a:p>
                      <a:pPr marL="0" marR="0">
                        <a:spcAft>
                          <a:spcPts val="2400"/>
                        </a:spcAft>
                        <a:buNone/>
                      </a:pPr>
                      <a:r>
                        <a:rPr lang="en-US" sz="400">
                          <a:effectLst/>
                        </a:rPr>
                        <a:t>Backbone</a:t>
                      </a:r>
                      <a:endParaRPr lang="en-US" sz="400">
                        <a:effectLst/>
                        <a:latin typeface="Google Sans Text"/>
                      </a:endParaRPr>
                    </a:p>
                  </a:txBody>
                  <a:tcPr marL="19426" marR="19426" marT="12950" marB="12950" anchor="ctr"/>
                </a:tc>
                <a:tc>
                  <a:txBody>
                    <a:bodyPr/>
                    <a:lstStyle/>
                    <a:p>
                      <a:pPr marL="0" marR="0">
                        <a:spcAft>
                          <a:spcPts val="2400"/>
                        </a:spcAft>
                        <a:buNone/>
                      </a:pPr>
                      <a:r>
                        <a:rPr lang="en-US" sz="400">
                          <a:effectLst/>
                        </a:rPr>
                        <a:t>The primary core layers of a Transformer that extract patterns and meanings from raw text, without making a final task prediction.</a:t>
                      </a:r>
                      <a:endParaRPr lang="en-US" sz="400">
                        <a:effectLst/>
                        <a:latin typeface="Google Sans Text"/>
                      </a:endParaRPr>
                    </a:p>
                  </a:txBody>
                  <a:tcPr marL="19426" marR="19426" marT="12950" marB="12950" anchor="ctr"/>
                </a:tc>
                <a:extLst>
                  <a:ext uri="{0D108BD9-81ED-4DB2-BD59-A6C34878D82A}">
                    <a16:rowId xmlns:a16="http://schemas.microsoft.com/office/drawing/2014/main" val="673771035"/>
                  </a:ext>
                </a:extLst>
              </a:tr>
              <a:tr h="200731">
                <a:tc>
                  <a:txBody>
                    <a:bodyPr/>
                    <a:lstStyle/>
                    <a:p>
                      <a:pPr marL="0" marR="0">
                        <a:spcAft>
                          <a:spcPts val="2400"/>
                        </a:spcAft>
                        <a:buNone/>
                      </a:pPr>
                      <a:r>
                        <a:rPr lang="en-US" sz="400">
                          <a:effectLst/>
                        </a:rPr>
                        <a:t>Head</a:t>
                      </a:r>
                      <a:endParaRPr lang="en-US" sz="400">
                        <a:effectLst/>
                        <a:latin typeface="Google Sans Text"/>
                      </a:endParaRPr>
                    </a:p>
                  </a:txBody>
                  <a:tcPr marL="19426" marR="19426" marT="12950" marB="12950" anchor="ctr"/>
                </a:tc>
                <a:tc>
                  <a:txBody>
                    <a:bodyPr/>
                    <a:lstStyle/>
                    <a:p>
                      <a:pPr marL="0" marR="0">
                        <a:spcAft>
                          <a:spcPts val="2400"/>
                        </a:spcAft>
                        <a:buNone/>
                      </a:pPr>
                      <a:r>
                        <a:rPr lang="en-US" sz="400">
                          <a:effectLst/>
                        </a:rPr>
                        <a:t>An extra layer added to the top of a backbone model designed for a specific task (e.g., a classification head or text generation head).</a:t>
                      </a:r>
                      <a:endParaRPr lang="en-US" sz="400">
                        <a:effectLst/>
                        <a:latin typeface="Google Sans Text"/>
                      </a:endParaRPr>
                    </a:p>
                  </a:txBody>
                  <a:tcPr marL="19426" marR="19426" marT="12950" marB="12950" anchor="ctr"/>
                </a:tc>
                <a:extLst>
                  <a:ext uri="{0D108BD9-81ED-4DB2-BD59-A6C34878D82A}">
                    <a16:rowId xmlns:a16="http://schemas.microsoft.com/office/drawing/2014/main" val="2455746600"/>
                  </a:ext>
                </a:extLst>
              </a:tr>
              <a:tr h="200731">
                <a:tc>
                  <a:txBody>
                    <a:bodyPr/>
                    <a:lstStyle/>
                    <a:p>
                      <a:pPr marL="0" marR="0">
                        <a:spcAft>
                          <a:spcPts val="2400"/>
                        </a:spcAft>
                        <a:buNone/>
                      </a:pPr>
                      <a:r>
                        <a:rPr lang="en-US" sz="400">
                          <a:effectLst/>
                        </a:rPr>
                        <a:t>KV Caching</a:t>
                      </a:r>
                      <a:endParaRPr lang="en-US" sz="400">
                        <a:effectLst/>
                        <a:latin typeface="Google Sans Text"/>
                      </a:endParaRPr>
                    </a:p>
                  </a:txBody>
                  <a:tcPr marL="19426" marR="19426" marT="12950" marB="12950" anchor="ctr"/>
                </a:tc>
                <a:tc>
                  <a:txBody>
                    <a:bodyPr/>
                    <a:lstStyle/>
                    <a:p>
                      <a:pPr marL="0" marR="0">
                        <a:spcAft>
                          <a:spcPts val="2400"/>
                        </a:spcAft>
                        <a:buNone/>
                      </a:pPr>
                      <a:r>
                        <a:rPr lang="en-US" sz="400">
                          <a:effectLst/>
                        </a:rPr>
                        <a:t>Storing past Key and Value matrices in RAM/VRAM during generation so the model doesn't recompute earlier tokens at every step.</a:t>
                      </a:r>
                      <a:endParaRPr lang="en-US" sz="400">
                        <a:effectLst/>
                        <a:latin typeface="Google Sans Text"/>
                      </a:endParaRPr>
                    </a:p>
                  </a:txBody>
                  <a:tcPr marL="19426" marR="19426" marT="12950" marB="12950" anchor="ctr"/>
                </a:tc>
                <a:extLst>
                  <a:ext uri="{0D108BD9-81ED-4DB2-BD59-A6C34878D82A}">
                    <a16:rowId xmlns:a16="http://schemas.microsoft.com/office/drawing/2014/main" val="1576236400"/>
                  </a:ext>
                </a:extLst>
              </a:tr>
              <a:tr h="200731">
                <a:tc>
                  <a:txBody>
                    <a:bodyPr/>
                    <a:lstStyle/>
                    <a:p>
                      <a:pPr marL="0" marR="0">
                        <a:spcAft>
                          <a:spcPts val="2400"/>
                        </a:spcAft>
                        <a:buNone/>
                      </a:pPr>
                      <a:r>
                        <a:rPr lang="en-US" sz="400">
                          <a:effectLst/>
                        </a:rPr>
                        <a:t>Loss</a:t>
                      </a:r>
                      <a:endParaRPr lang="en-US" sz="400">
                        <a:effectLst/>
                        <a:latin typeface="Google Sans Text"/>
                      </a:endParaRPr>
                    </a:p>
                  </a:txBody>
                  <a:tcPr marL="19426" marR="19426" marT="12950" marB="12950" anchor="ctr"/>
                </a:tc>
                <a:tc>
                  <a:txBody>
                    <a:bodyPr/>
                    <a:lstStyle/>
                    <a:p>
                      <a:pPr marL="0" marR="0">
                        <a:spcAft>
                          <a:spcPts val="2400"/>
                        </a:spcAft>
                        <a:buNone/>
                      </a:pPr>
                      <a:r>
                        <a:rPr lang="en-US" sz="400" dirty="0">
                          <a:effectLst/>
                        </a:rPr>
                        <a:t>A single number measuring how wrong the model's predictions are compared to the true labels (lower loss means better performance).</a:t>
                      </a:r>
                      <a:endParaRPr lang="en-US" sz="400" dirty="0">
                        <a:effectLst/>
                        <a:latin typeface="Google Sans Text"/>
                      </a:endParaRPr>
                    </a:p>
                  </a:txBody>
                  <a:tcPr marL="19426" marR="19426" marT="12950" marB="12950" anchor="ctr"/>
                </a:tc>
                <a:extLst>
                  <a:ext uri="{0D108BD9-81ED-4DB2-BD59-A6C34878D82A}">
                    <a16:rowId xmlns:a16="http://schemas.microsoft.com/office/drawing/2014/main" val="2966657573"/>
                  </a:ext>
                </a:extLst>
              </a:tr>
            </a:tbl>
          </a:graphicData>
        </a:graphic>
      </p:graphicFrame>
    </p:spTree>
    <p:extLst>
      <p:ext uri="{BB962C8B-B14F-4D97-AF65-F5344CB8AC3E}">
        <p14:creationId xmlns:p14="http://schemas.microsoft.com/office/powerpoint/2010/main" val="14416028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ED30C-1FB5-B07D-EDE1-C22226B9E4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1BB51A-7E25-09E5-EDEE-46488535C0D7}"/>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07FDF81C-4F5A-238B-2186-455EBDB4E463}"/>
              </a:ext>
            </a:extLst>
          </p:cNvPr>
          <p:cNvSpPr>
            <a:spLocks noGrp="1"/>
          </p:cNvSpPr>
          <p:nvPr>
            <p:ph idx="1"/>
          </p:nvPr>
        </p:nvSpPr>
        <p:spPr/>
        <p:txBody>
          <a:bodyPr/>
          <a:lstStyle/>
          <a:p>
            <a:r>
              <a:rPr lang="en-US" dirty="0"/>
              <a:t>Mainly LLM HF Course (Adapted).</a:t>
            </a:r>
          </a:p>
          <a:p>
            <a:r>
              <a:rPr lang="en-US" dirty="0">
                <a:solidFill>
                  <a:schemeClr val="accent1"/>
                </a:solidFill>
                <a:hlinkClick r:id="rId2">
                  <a:extLst>
                    <a:ext uri="{A12FA001-AC4F-418D-AE19-62706E023703}">
                      <ahyp:hlinkClr xmlns:ahyp="http://schemas.microsoft.com/office/drawing/2018/hyperlinkcolor" val="tx"/>
                    </a:ext>
                  </a:extLst>
                </a:hlinkClick>
              </a:rPr>
              <a:t>Repository of this course</a:t>
            </a:r>
            <a:endParaRPr lang="en-US" dirty="0">
              <a:solidFill>
                <a:schemeClr val="accent1"/>
              </a:solidFill>
            </a:endParaRPr>
          </a:p>
        </p:txBody>
      </p:sp>
    </p:spTree>
    <p:extLst>
      <p:ext uri="{BB962C8B-B14F-4D97-AF65-F5344CB8AC3E}">
        <p14:creationId xmlns:p14="http://schemas.microsoft.com/office/powerpoint/2010/main" val="29932829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CE398-52C4-BB55-D958-E2D6ED7D0A96}"/>
              </a:ext>
            </a:extLst>
          </p:cNvPr>
          <p:cNvSpPr>
            <a:spLocks noGrp="1"/>
          </p:cNvSpPr>
          <p:nvPr>
            <p:ph type="title"/>
          </p:nvPr>
        </p:nvSpPr>
        <p:spPr/>
        <p:txBody>
          <a:bodyPr/>
          <a:lstStyle/>
          <a:p>
            <a:r>
              <a:rPr lang="en-US" dirty="0"/>
              <a:t>Further Readings: </a:t>
            </a:r>
          </a:p>
        </p:txBody>
      </p:sp>
      <p:sp>
        <p:nvSpPr>
          <p:cNvPr id="3" name="Content Placeholder 2">
            <a:extLst>
              <a:ext uri="{FF2B5EF4-FFF2-40B4-BE49-F238E27FC236}">
                <a16:creationId xmlns:a16="http://schemas.microsoft.com/office/drawing/2014/main" id="{8BA4931E-2587-9EF6-0E02-7F120132361F}"/>
              </a:ext>
            </a:extLst>
          </p:cNvPr>
          <p:cNvSpPr>
            <a:spLocks noGrp="1"/>
          </p:cNvSpPr>
          <p:nvPr>
            <p:ph idx="1"/>
          </p:nvPr>
        </p:nvSpPr>
        <p:spPr/>
        <p:txBody>
          <a:bodyPr>
            <a:normAutofit lnSpcReduction="10000"/>
          </a:bodyPr>
          <a:lstStyle/>
          <a:p>
            <a:pPr marL="0" indent="0">
              <a:buNone/>
            </a:pPr>
            <a:r>
              <a:rPr lang="en-US" dirty="0" err="1"/>
              <a:t>Pytorch</a:t>
            </a:r>
            <a:r>
              <a:rPr lang="en-US" dirty="0"/>
              <a:t> : </a:t>
            </a:r>
          </a:p>
          <a:p>
            <a:pPr marL="0" indent="0">
              <a:buNone/>
            </a:pPr>
            <a:r>
              <a:rPr lang="en-US" dirty="0"/>
              <a:t>1- https://sebastianraschka.com/teaching/pytorch-1h/</a:t>
            </a:r>
          </a:p>
          <a:p>
            <a:pPr marL="0" indent="0">
              <a:buNone/>
            </a:pPr>
            <a:r>
              <a:rPr lang="en-US" dirty="0"/>
              <a:t>2- https://www.youtube.com/watch?v=I9_gp4tErHY</a:t>
            </a:r>
          </a:p>
          <a:p>
            <a:pPr marL="0" indent="0">
              <a:buNone/>
            </a:pPr>
            <a:endParaRPr lang="en-US" dirty="0"/>
          </a:p>
          <a:p>
            <a:pPr marL="0" indent="0">
              <a:buNone/>
            </a:pPr>
            <a:r>
              <a:rPr lang="en-US" dirty="0"/>
              <a:t>python : </a:t>
            </a:r>
          </a:p>
          <a:p>
            <a:pPr marL="0" indent="0">
              <a:buNone/>
            </a:pPr>
            <a:r>
              <a:rPr lang="en-US" dirty="0" err="1">
                <a:hlinkClick r:id="rId2"/>
              </a:rPr>
              <a:t>pythonRev_important_Libs</a:t>
            </a:r>
            <a:endParaRPr lang="en-US" dirty="0"/>
          </a:p>
          <a:p>
            <a:pPr marL="0" indent="0">
              <a:buNone/>
            </a:pPr>
            <a:r>
              <a:rPr lang="en-US" dirty="0">
                <a:hlinkClick r:id="rId3"/>
              </a:rPr>
              <a:t>python </a:t>
            </a:r>
            <a:r>
              <a:rPr lang="en-US" dirty="0" err="1">
                <a:hlinkClick r:id="rId3"/>
              </a:rPr>
              <a:t>cheatsheet</a:t>
            </a:r>
            <a:r>
              <a:rPr lang="en-US" dirty="0">
                <a:hlinkClick r:id="rId3"/>
              </a:rPr>
              <a:t> </a:t>
            </a:r>
            <a:endParaRPr lang="en-US" dirty="0"/>
          </a:p>
          <a:p>
            <a:pPr marL="0" indent="0">
              <a:buNone/>
            </a:pPr>
            <a:r>
              <a:rPr lang="en-US" dirty="0"/>
              <a:t>Book : python for programmers ,Dietel </a:t>
            </a:r>
          </a:p>
          <a:p>
            <a:pPr marL="0" indent="0">
              <a:buNone/>
            </a:pPr>
            <a:r>
              <a:rPr lang="en-US" dirty="0"/>
              <a:t> </a:t>
            </a:r>
          </a:p>
        </p:txBody>
      </p:sp>
    </p:spTree>
    <p:extLst>
      <p:ext uri="{BB962C8B-B14F-4D97-AF65-F5344CB8AC3E}">
        <p14:creationId xmlns:p14="http://schemas.microsoft.com/office/powerpoint/2010/main" val="20430879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5584</TotalTime>
  <Words>2865</Words>
  <Application>Microsoft Office PowerPoint</Application>
  <PresentationFormat>Widescreen</PresentationFormat>
  <Paragraphs>278</Paragraphs>
  <Slides>48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Aptos</vt:lpstr>
      <vt:lpstr>Aptos Display</vt:lpstr>
      <vt:lpstr>Arial</vt:lpstr>
      <vt:lpstr>Calibri</vt:lpstr>
      <vt:lpstr>Google Sans Text</vt:lpstr>
      <vt:lpstr>Source Sans Pro</vt:lpstr>
      <vt:lpstr>Office Theme</vt:lpstr>
      <vt:lpstr>Transformers </vt:lpstr>
      <vt:lpstr>Eng : Mohammed S. Hemed </vt:lpstr>
      <vt:lpstr>Who I am ? </vt:lpstr>
      <vt:lpstr>Course Objectives  </vt:lpstr>
      <vt:lpstr>Prerequisites </vt:lpstr>
      <vt:lpstr>What is Hugging Face look like ? </vt:lpstr>
      <vt:lpstr>Hugging Face turn Transformers into LEGO !! </vt:lpstr>
      <vt:lpstr>This is The AI Arduino platform ! </vt:lpstr>
      <vt:lpstr>What is Hugging Face ? </vt:lpstr>
      <vt:lpstr>What is Hugging Face HUB  </vt:lpstr>
      <vt:lpstr>Chess AI Model !! </vt:lpstr>
      <vt:lpstr>Chess AI Model !! </vt:lpstr>
      <vt:lpstr>What is Hugging Face HUB  </vt:lpstr>
      <vt:lpstr>Setup </vt:lpstr>
      <vt:lpstr>Transformers, what can they do? </vt:lpstr>
      <vt:lpstr>The most basic object in the 🤗 Transformers library is the pipeline() function. It connects a model with its necessary preprocessing and postprocessing steps, allowing us to directly input any text and get an intelligible answer:</vt:lpstr>
      <vt:lpstr>Steps when pass a text to a pipeline </vt:lpstr>
      <vt:lpstr>Available pipelines for different modalities </vt:lpstr>
      <vt:lpstr>PowerPoint Presentation</vt:lpstr>
      <vt:lpstr>Zero-shot classification</vt:lpstr>
      <vt:lpstr>PowerPoint Presentation</vt:lpstr>
      <vt:lpstr>Text generation </vt:lpstr>
      <vt:lpstr>Transformer models for language </vt:lpstr>
      <vt:lpstr>Transformers are language models </vt:lpstr>
      <vt:lpstr>Ways of training Transformers </vt:lpstr>
      <vt:lpstr>Ways of training Transformers </vt:lpstr>
      <vt:lpstr>Wait — why not simply train the model for your final use case from the start (scratch)? </vt:lpstr>
      <vt:lpstr>How language models work </vt:lpstr>
      <vt:lpstr>How language models work</vt:lpstr>
      <vt:lpstr>How language models work</vt:lpstr>
      <vt:lpstr>Environmental Effect </vt:lpstr>
      <vt:lpstr>Types of language models </vt:lpstr>
      <vt:lpstr>PowerPoint Presentation</vt:lpstr>
      <vt:lpstr>Choosing the right model </vt:lpstr>
      <vt:lpstr>Transformer Archeticture </vt:lpstr>
      <vt:lpstr>Transformer Archeticture </vt:lpstr>
      <vt:lpstr>Modern Large Language Models (LLMs) </vt:lpstr>
      <vt:lpstr> Modern decoder-based LLMs have demonstrated impressive capabilities: </vt:lpstr>
      <vt:lpstr>Encoder-Decoder (Seq2Seq) models excel at tasks that require transforming one form of text into another while preserving meaning. Some practical applications include: </vt:lpstr>
      <vt:lpstr>Choosing the right architecture When working on a specific NLP task, how do you decide which architecture to use? Here’s a quick guide: </vt:lpstr>
      <vt:lpstr>When in doubt about which model to use, consider: </vt:lpstr>
      <vt:lpstr>Behind pipeline()</vt:lpstr>
      <vt:lpstr>PowerPoint Presentation</vt:lpstr>
      <vt:lpstr>Model</vt:lpstr>
      <vt:lpstr>Model parameters(Weights) vs                            Model Hyperparameters</vt:lpstr>
      <vt:lpstr>Keywords </vt:lpstr>
      <vt:lpstr>References</vt:lpstr>
      <vt:lpstr>Further Readings: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mohammed sayed hemed</dc:creator>
  <cp:lastModifiedBy>mohammed sayed hemed</cp:lastModifiedBy>
  <cp:revision>15</cp:revision>
  <dcterms:created xsi:type="dcterms:W3CDTF">2026-09-19T20:51:36Z</dcterms:created>
  <dcterms:modified xsi:type="dcterms:W3CDTF">2026-09-26T12:43:17Z</dcterms:modified>
</cp:coreProperties>
</file>